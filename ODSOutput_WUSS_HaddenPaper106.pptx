
<file path=[Content_Types].xml><?xml version="1.0" encoding="utf-8"?>
<Types xmlns="http://schemas.openxmlformats.org/package/2006/content-types">
  <Default Extension="fntdata" ContentType="application/x-fontdata"/>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16" r:id="rId4"/>
    <p:sldMasterId id="2147483852" r:id="rId5"/>
  </p:sldMasterIdLst>
  <p:notesMasterIdLst>
    <p:notesMasterId r:id="rId69"/>
  </p:notesMasterIdLst>
  <p:handoutMasterIdLst>
    <p:handoutMasterId r:id="rId70"/>
  </p:handoutMasterIdLst>
  <p:sldIdLst>
    <p:sldId id="2147477431" r:id="rId6"/>
    <p:sldId id="257" r:id="rId7"/>
    <p:sldId id="2147477432" r:id="rId8"/>
    <p:sldId id="2147477433" r:id="rId9"/>
    <p:sldId id="269" r:id="rId10"/>
    <p:sldId id="261" r:id="rId11"/>
    <p:sldId id="263" r:id="rId12"/>
    <p:sldId id="264" r:id="rId13"/>
    <p:sldId id="265" r:id="rId14"/>
    <p:sldId id="267" r:id="rId15"/>
    <p:sldId id="266" r:id="rId16"/>
    <p:sldId id="270" r:id="rId17"/>
    <p:sldId id="260" r:id="rId18"/>
    <p:sldId id="276" r:id="rId19"/>
    <p:sldId id="281" r:id="rId20"/>
    <p:sldId id="277" r:id="rId21"/>
    <p:sldId id="2147477440" r:id="rId22"/>
    <p:sldId id="2147477442" r:id="rId23"/>
    <p:sldId id="2147477441" r:id="rId24"/>
    <p:sldId id="283" r:id="rId25"/>
    <p:sldId id="284" r:id="rId26"/>
    <p:sldId id="2147477443" r:id="rId27"/>
    <p:sldId id="2147477444" r:id="rId28"/>
    <p:sldId id="2147477445" r:id="rId29"/>
    <p:sldId id="285" r:id="rId30"/>
    <p:sldId id="286" r:id="rId31"/>
    <p:sldId id="287" r:id="rId32"/>
    <p:sldId id="288" r:id="rId33"/>
    <p:sldId id="290" r:id="rId34"/>
    <p:sldId id="289" r:id="rId35"/>
    <p:sldId id="315" r:id="rId36"/>
    <p:sldId id="2147477449" r:id="rId37"/>
    <p:sldId id="271" r:id="rId38"/>
    <p:sldId id="278" r:id="rId39"/>
    <p:sldId id="291" r:id="rId40"/>
    <p:sldId id="303" r:id="rId41"/>
    <p:sldId id="292" r:id="rId42"/>
    <p:sldId id="302" r:id="rId43"/>
    <p:sldId id="274" r:id="rId44"/>
    <p:sldId id="313" r:id="rId45"/>
    <p:sldId id="312" r:id="rId46"/>
    <p:sldId id="314" r:id="rId47"/>
    <p:sldId id="301" r:id="rId48"/>
    <p:sldId id="294" r:id="rId49"/>
    <p:sldId id="2147477446" r:id="rId50"/>
    <p:sldId id="2147477447" r:id="rId51"/>
    <p:sldId id="295" r:id="rId52"/>
    <p:sldId id="305" r:id="rId53"/>
    <p:sldId id="304" r:id="rId54"/>
    <p:sldId id="2147477434" r:id="rId55"/>
    <p:sldId id="2147477435" r:id="rId56"/>
    <p:sldId id="2147477436" r:id="rId57"/>
    <p:sldId id="306" r:id="rId58"/>
    <p:sldId id="2147477437" r:id="rId59"/>
    <p:sldId id="2147477438" r:id="rId60"/>
    <p:sldId id="307" r:id="rId61"/>
    <p:sldId id="308" r:id="rId62"/>
    <p:sldId id="309" r:id="rId63"/>
    <p:sldId id="310" r:id="rId64"/>
    <p:sldId id="2147477448" r:id="rId65"/>
    <p:sldId id="2147477439" r:id="rId66"/>
    <p:sldId id="268" r:id="rId67"/>
    <p:sldId id="2147477450" r:id="rId68"/>
  </p:sldIdLst>
  <p:sldSz cx="18288000" cy="10287000"/>
  <p:notesSz cx="6858000" cy="9144000"/>
  <p:embeddedFontLst>
    <p:embeddedFont>
      <p:font typeface="Anova Bold" panose="020B0604020202020204" charset="0"/>
      <p:bold r:id="rId71"/>
      <p:italic r:id="rId72"/>
      <p:boldItalic r:id="rId73"/>
    </p:embeddedFont>
    <p:embeddedFont>
      <p:font typeface="Anova Light" panose="020B0604020202020204" charset="0"/>
      <p:regular r:id="rId74"/>
      <p:italic r:id="rId75"/>
    </p:embeddedFont>
    <p:embeddedFont>
      <p:font typeface="Special Elite" panose="02000506000000020004" pitchFamily="2" charset="0"/>
      <p:regular r:id="rId76"/>
    </p:embeddedFont>
  </p:embeddedFontLst>
  <p:custDataLst>
    <p:tags r:id="rId77"/>
  </p:custDataLst>
  <p:defaultTextStyle>
    <a:defPPr>
      <a:defRPr lang="en-US"/>
    </a:defPPr>
    <a:lvl1pPr marL="0" algn="l" defTabSz="914400" rtl="0" eaLnBrk="1" latinLnBrk="0" hangingPunct="1">
      <a:defRPr sz="3600" kern="1200">
        <a:solidFill>
          <a:schemeClr val="tx1"/>
        </a:solidFill>
        <a:latin typeface="+mn-lt"/>
        <a:ea typeface="+mn-ea"/>
        <a:cs typeface="+mn-cs"/>
      </a:defRPr>
    </a:lvl1pPr>
    <a:lvl2pPr marL="914400" algn="l" defTabSz="914400" rtl="0" eaLnBrk="1" latinLnBrk="0" hangingPunct="1">
      <a:defRPr sz="3600" kern="1200">
        <a:solidFill>
          <a:schemeClr val="tx1"/>
        </a:solidFill>
        <a:latin typeface="+mn-lt"/>
        <a:ea typeface="+mn-ea"/>
        <a:cs typeface="+mn-cs"/>
      </a:defRPr>
    </a:lvl2pPr>
    <a:lvl3pPr marL="1828800" algn="l" defTabSz="914400" rtl="0" eaLnBrk="1" latinLnBrk="0" hangingPunct="1">
      <a:defRPr sz="3600" kern="1200">
        <a:solidFill>
          <a:schemeClr val="tx1"/>
        </a:solidFill>
        <a:latin typeface="+mn-lt"/>
        <a:ea typeface="+mn-ea"/>
        <a:cs typeface="+mn-cs"/>
      </a:defRPr>
    </a:lvl3pPr>
    <a:lvl4pPr marL="2743200" algn="l" defTabSz="914400" rtl="0" eaLnBrk="1" latinLnBrk="0" hangingPunct="1">
      <a:defRPr sz="3600" kern="1200">
        <a:solidFill>
          <a:schemeClr val="tx1"/>
        </a:solidFill>
        <a:latin typeface="+mn-lt"/>
        <a:ea typeface="+mn-ea"/>
        <a:cs typeface="+mn-cs"/>
      </a:defRPr>
    </a:lvl4pPr>
    <a:lvl5pPr marL="3657600" algn="l" defTabSz="914400" rtl="0" eaLnBrk="1" latinLnBrk="0" hangingPunct="1">
      <a:defRPr sz="3600" kern="1200">
        <a:solidFill>
          <a:schemeClr val="tx1"/>
        </a:solidFill>
        <a:latin typeface="+mn-lt"/>
        <a:ea typeface="+mn-ea"/>
        <a:cs typeface="+mn-cs"/>
      </a:defRPr>
    </a:lvl5pPr>
    <a:lvl6pPr marL="4572000" algn="l" defTabSz="914400" rtl="0" eaLnBrk="1" latinLnBrk="0" hangingPunct="1">
      <a:defRPr sz="3600" kern="1200">
        <a:solidFill>
          <a:schemeClr val="tx1"/>
        </a:solidFill>
        <a:latin typeface="+mn-lt"/>
        <a:ea typeface="+mn-ea"/>
        <a:cs typeface="+mn-cs"/>
      </a:defRPr>
    </a:lvl6pPr>
    <a:lvl7pPr marL="5486400" algn="l" defTabSz="914400" rtl="0" eaLnBrk="1" latinLnBrk="0" hangingPunct="1">
      <a:defRPr sz="3600" kern="1200">
        <a:solidFill>
          <a:schemeClr val="tx1"/>
        </a:solidFill>
        <a:latin typeface="+mn-lt"/>
        <a:ea typeface="+mn-ea"/>
        <a:cs typeface="+mn-cs"/>
      </a:defRPr>
    </a:lvl7pPr>
    <a:lvl8pPr marL="6400800" algn="l" defTabSz="914400" rtl="0" eaLnBrk="1" latinLnBrk="0" hangingPunct="1">
      <a:defRPr sz="3600" kern="1200">
        <a:solidFill>
          <a:schemeClr val="tx1"/>
        </a:solidFill>
        <a:latin typeface="+mn-lt"/>
        <a:ea typeface="+mn-ea"/>
        <a:cs typeface="+mn-cs"/>
      </a:defRPr>
    </a:lvl8pPr>
    <a:lvl9pPr marL="7315200" algn="l" defTabSz="914400"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9C3829F-2C56-4915-AA34-5F93EE359221}">
          <p14:sldIdLst>
            <p14:sldId id="2147477431"/>
          </p14:sldIdLst>
        </p14:section>
        <p14:section name="Author Biography" id="{F52D5AF2-4D72-438D-8070-40AAF5E7B808}">
          <p14:sldIdLst>
            <p14:sldId id="257"/>
          </p14:sldIdLst>
        </p14:section>
        <p14:section name="Introduction" id="{AFF2EEAF-454F-43B9-8621-A8F876BA523E}">
          <p14:sldIdLst>
            <p14:sldId id="2147477432"/>
          </p14:sldIdLst>
        </p14:section>
        <p14:section name="Abstract" id="{2EEDF40A-6187-4ED4-9566-397DFC21EEA5}">
          <p14:sldIdLst>
            <p14:sldId id="2147477433"/>
          </p14:sldIdLst>
        </p14:section>
        <p14:section name="Creating a Test Data Set" id="{D9FD0A6B-A701-4801-9002-1DCAD190C47D}">
          <p14:sldIdLst>
            <p14:sldId id="269"/>
            <p14:sldId id="261"/>
            <p14:sldId id="263"/>
            <p14:sldId id="264"/>
            <p14:sldId id="265"/>
            <p14:sldId id="267"/>
            <p14:sldId id="266"/>
          </p14:sldIdLst>
        </p14:section>
        <p14:section name="Identifying ODS Output Objects: ODS TRACE" id="{0AF2382D-B6AA-4FE7-839F-D42CB2437F1A}">
          <p14:sldIdLst>
            <p14:sldId id="270"/>
            <p14:sldId id="260"/>
            <p14:sldId id="276"/>
            <p14:sldId id="281"/>
            <p14:sldId id="277"/>
            <p14:sldId id="2147477440"/>
            <p14:sldId id="2147477442"/>
            <p14:sldId id="2147477441"/>
            <p14:sldId id="283"/>
            <p14:sldId id="284"/>
            <p14:sldId id="2147477443"/>
            <p14:sldId id="2147477444"/>
            <p14:sldId id="2147477445"/>
            <p14:sldId id="285"/>
            <p14:sldId id="286"/>
            <p14:sldId id="287"/>
            <p14:sldId id="288"/>
            <p14:sldId id="290"/>
          </p14:sldIdLst>
        </p14:section>
        <p14:section name="ODS SHOW, SELECT, EXCLUDE" id="{CE1A236C-4DBC-4A74-8CE7-DCCFE7B37C54}">
          <p14:sldIdLst>
            <p14:sldId id="289"/>
            <p14:sldId id="315"/>
            <p14:sldId id="2147477449"/>
          </p14:sldIdLst>
        </p14:section>
        <p14:section name="Harvesting your ODS Output Objects" id="{89C499B6-AA76-4ED2-A406-92D52F92DB2E}">
          <p14:sldIdLst>
            <p14:sldId id="271"/>
            <p14:sldId id="278"/>
            <p14:sldId id="291"/>
            <p14:sldId id="303"/>
            <p14:sldId id="292"/>
            <p14:sldId id="302"/>
          </p14:sldIdLst>
        </p14:section>
        <p14:section name="ODS Graphics and PROC Univariate" id="{43573C4B-78F5-4961-B807-C7FA69F33CE2}">
          <p14:sldIdLst>
            <p14:sldId id="274"/>
            <p14:sldId id="313"/>
            <p14:sldId id="312"/>
            <p14:sldId id="314"/>
          </p14:sldIdLst>
        </p14:section>
        <p14:section name="PROC SURVEYFREQ" id="{777D818D-B8AF-4328-B3C8-3EFC658FECD4}">
          <p14:sldIdLst>
            <p14:sldId id="301"/>
            <p14:sldId id="294"/>
            <p14:sldId id="2147477446"/>
            <p14:sldId id="2147477447"/>
            <p14:sldId id="295"/>
            <p14:sldId id="305"/>
            <p14:sldId id="304"/>
            <p14:sldId id="2147477434"/>
            <p14:sldId id="2147477435"/>
            <p14:sldId id="2147477436"/>
            <p14:sldId id="306"/>
            <p14:sldId id="2147477437"/>
            <p14:sldId id="2147477438"/>
            <p14:sldId id="307"/>
            <p14:sldId id="308"/>
            <p14:sldId id="309"/>
            <p14:sldId id="310"/>
            <p14:sldId id="2147477448"/>
            <p14:sldId id="2147477439"/>
          </p14:sldIdLst>
        </p14:section>
        <p14:section name="Conclusion" id="{62B678D9-8FAC-43DD-8FB3-6EA9DC0B5698}">
          <p14:sldIdLst>
            <p14:sldId id="268"/>
          </p14:sldIdLst>
        </p14:section>
        <p14:section name="Contact Information" id="{B7DEA1DF-8A95-44B9-B7A0-F2A702C8BD89}">
          <p14:sldIdLst>
            <p14:sldId id="214747745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708D14-BD54-920F-18BB-8395E60AE589}" name="Alice McClure" initials="AM" userId="S::alice.mcclure@sas.com::6210c489-566a-4639-8da1-84bcfd842f43" providerId="AD"/>
  <p188:author id="{6DFEA739-C4EE-3CDE-94E6-A95954A908DE}" name="Tine Haaber" initials="TH" userId="S::Tine.Haaber@SAS.COM::b28dffea-6139-4081-9090-e82e8f8437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931" autoAdjust="0"/>
    <p:restoredTop sz="78861" autoAdjust="0"/>
  </p:normalViewPr>
  <p:slideViewPr>
    <p:cSldViewPr snapToGrid="0">
      <p:cViewPr varScale="1">
        <p:scale>
          <a:sx n="37" d="100"/>
          <a:sy n="37" d="100"/>
        </p:scale>
        <p:origin x="594" y="3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17" d="100"/>
          <a:sy n="117" d="100"/>
        </p:scale>
        <p:origin x="5160" y="17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font" Target="fonts/font4.fntdata"/><Relationship Id="rId79"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6.xml"/><Relationship Id="rId82" Type="http://schemas.microsoft.com/office/2016/11/relationships/changesInfo" Target="changesInfos/changesInfo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notesMaster" Target="notesMasters/notesMaster1.xml"/><Relationship Id="rId77" Type="http://schemas.openxmlformats.org/officeDocument/2006/relationships/tags" Target="tags/tag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font" Target="fonts/font2.fntdata"/><Relationship Id="rId80"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handoutMaster" Target="handoutMasters/handoutMaster1.xml"/><Relationship Id="rId75" Type="http://schemas.openxmlformats.org/officeDocument/2006/relationships/font" Target="fonts/font5.fntdata"/><Relationship Id="rId83"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font" Target="fonts/font3.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font" Target="fonts/font6.fntdata"/><Relationship Id="rId7" Type="http://schemas.openxmlformats.org/officeDocument/2006/relationships/slide" Target="slides/slide2.xml"/><Relationship Id="rId71" Type="http://schemas.openxmlformats.org/officeDocument/2006/relationships/font" Target="fonts/font1.fntdata"/><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uise Hadden" userId="158a5f1b1d89b271" providerId="LiveId" clId="{BE765655-2636-4D90-B767-43ED1DFBABAC}"/>
    <pc:docChg chg="undo custSel addSld delSld modSld modMainMaster modSection">
      <pc:chgData name="Louise Hadden" userId="158a5f1b1d89b271" providerId="LiveId" clId="{BE765655-2636-4D90-B767-43ED1DFBABAC}" dt="2026-08-29T17:29:10.423" v="187" actId="47"/>
      <pc:docMkLst>
        <pc:docMk/>
      </pc:docMkLst>
      <pc:sldChg chg="modSp del mod setBg">
        <pc:chgData name="Louise Hadden" userId="158a5f1b1d89b271" providerId="LiveId" clId="{BE765655-2636-4D90-B767-43ED1DFBABAC}" dt="2026-08-29T17:29:10.423" v="187" actId="47"/>
        <pc:sldMkLst>
          <pc:docMk/>
          <pc:sldMk cId="3817865375" sldId="2147477427"/>
        </pc:sldMkLst>
        <pc:spChg chg="mod">
          <ac:chgData name="Louise Hadden" userId="158a5f1b1d89b271" providerId="LiveId" clId="{BE765655-2636-4D90-B767-43ED1DFBABAC}" dt="2026-08-29T17:24:04.218" v="59" actId="207"/>
          <ac:spMkLst>
            <pc:docMk/>
            <pc:sldMk cId="3817865375" sldId="2147477427"/>
            <ac:spMk id="6" creationId="{0DA7E7DD-46E4-40F8-9DC6-8C0CF96FE296}"/>
          </ac:spMkLst>
        </pc:spChg>
        <pc:spChg chg="mod">
          <ac:chgData name="Louise Hadden" userId="158a5f1b1d89b271" providerId="LiveId" clId="{BE765655-2636-4D90-B767-43ED1DFBABAC}" dt="2026-08-29T17:24:17.835" v="60" actId="207"/>
          <ac:spMkLst>
            <pc:docMk/>
            <pc:sldMk cId="3817865375" sldId="2147477427"/>
            <ac:spMk id="7" creationId="{DE2B04D2-C02F-2DCF-8CD1-6476889CD622}"/>
          </ac:spMkLst>
        </pc:spChg>
      </pc:sldChg>
      <pc:sldChg chg="modSp mod setBg">
        <pc:chgData name="Louise Hadden" userId="158a5f1b1d89b271" providerId="LiveId" clId="{BE765655-2636-4D90-B767-43ED1DFBABAC}" dt="2026-08-29T17:22:15.580" v="58"/>
        <pc:sldMkLst>
          <pc:docMk/>
          <pc:sldMk cId="399971474" sldId="2147477431"/>
        </pc:sldMkLst>
        <pc:spChg chg="mod">
          <ac:chgData name="Louise Hadden" userId="158a5f1b1d89b271" providerId="LiveId" clId="{BE765655-2636-4D90-B767-43ED1DFBABAC}" dt="2026-08-29T17:21:48.828" v="34" actId="207"/>
          <ac:spMkLst>
            <pc:docMk/>
            <pc:sldMk cId="399971474" sldId="2147477431"/>
            <ac:spMk id="2" creationId="{9B3E634D-DBF0-84F0-CBBC-16441986324F}"/>
          </ac:spMkLst>
        </pc:spChg>
        <pc:spChg chg="mod">
          <ac:chgData name="Louise Hadden" userId="158a5f1b1d89b271" providerId="LiveId" clId="{BE765655-2636-4D90-B767-43ED1DFBABAC}" dt="2026-08-29T17:21:55.142" v="35" actId="207"/>
          <ac:spMkLst>
            <pc:docMk/>
            <pc:sldMk cId="399971474" sldId="2147477431"/>
            <ac:spMk id="3" creationId="{D65146C1-7A34-1A32-8F3B-19AF901DF4F8}"/>
          </ac:spMkLst>
        </pc:spChg>
        <pc:spChg chg="mod">
          <ac:chgData name="Louise Hadden" userId="158a5f1b1d89b271" providerId="LiveId" clId="{BE765655-2636-4D90-B767-43ED1DFBABAC}" dt="2026-08-29T17:22:01.227" v="36" actId="207"/>
          <ac:spMkLst>
            <pc:docMk/>
            <pc:sldMk cId="399971474" sldId="2147477431"/>
            <ac:spMk id="4" creationId="{4C414BE3-0527-C20E-1F4D-0583A5F41016}"/>
          </ac:spMkLst>
        </pc:spChg>
      </pc:sldChg>
      <pc:sldChg chg="addSp delSp modSp new mod setBg modClrScheme chgLayout">
        <pc:chgData name="Louise Hadden" userId="158a5f1b1d89b271" providerId="LiveId" clId="{BE765655-2636-4D90-B767-43ED1DFBABAC}" dt="2026-08-29T17:29:05.990" v="186" actId="20577"/>
        <pc:sldMkLst>
          <pc:docMk/>
          <pc:sldMk cId="3216291444" sldId="2147477450"/>
        </pc:sldMkLst>
        <pc:spChg chg="del">
          <ac:chgData name="Louise Hadden" userId="158a5f1b1d89b271" providerId="LiveId" clId="{BE765655-2636-4D90-B767-43ED1DFBABAC}" dt="2026-08-29T17:27:05.332" v="128" actId="478"/>
          <ac:spMkLst>
            <pc:docMk/>
            <pc:sldMk cId="3216291444" sldId="2147477450"/>
            <ac:spMk id="2" creationId="{84185D95-C428-03C1-962C-05A453AC2995}"/>
          </ac:spMkLst>
        </pc:spChg>
        <pc:spChg chg="del">
          <ac:chgData name="Louise Hadden" userId="158a5f1b1d89b271" providerId="LiveId" clId="{BE765655-2636-4D90-B767-43ED1DFBABAC}" dt="2026-08-29T17:27:07.237" v="129" actId="478"/>
          <ac:spMkLst>
            <pc:docMk/>
            <pc:sldMk cId="3216291444" sldId="2147477450"/>
            <ac:spMk id="3" creationId="{FFBB929C-0A34-A36C-93C5-CD84B8A09973}"/>
          </ac:spMkLst>
        </pc:spChg>
        <pc:spChg chg="add mod">
          <ac:chgData name="Louise Hadden" userId="158a5f1b1d89b271" providerId="LiveId" clId="{BE765655-2636-4D90-B767-43ED1DFBABAC}" dt="2026-08-29T17:29:05.990" v="186" actId="20577"/>
          <ac:spMkLst>
            <pc:docMk/>
            <pc:sldMk cId="3216291444" sldId="2147477450"/>
            <ac:spMk id="4" creationId="{3A76A5E8-9BE2-CCBB-3830-EA2B12D3B52C}"/>
          </ac:spMkLst>
        </pc:spChg>
        <pc:spChg chg="add mod">
          <ac:chgData name="Louise Hadden" userId="158a5f1b1d89b271" providerId="LiveId" clId="{BE765655-2636-4D90-B767-43ED1DFBABAC}" dt="2026-08-29T17:28:57.734" v="183" actId="1076"/>
          <ac:spMkLst>
            <pc:docMk/>
            <pc:sldMk cId="3216291444" sldId="2147477450"/>
            <ac:spMk id="5" creationId="{A6D3DA4B-FFEA-972A-D316-E4036E649456}"/>
          </ac:spMkLst>
        </pc:spChg>
      </pc:sldChg>
      <pc:sldMasterChg chg="delSp modSp mod modSldLayout">
        <pc:chgData name="Louise Hadden" userId="158a5f1b1d89b271" providerId="LiveId" clId="{BE765655-2636-4D90-B767-43ED1DFBABAC}" dt="2026-08-29T17:20:29.039" v="33"/>
        <pc:sldMasterMkLst>
          <pc:docMk/>
          <pc:sldMasterMk cId="519966091" sldId="2147483816"/>
        </pc:sldMasterMkLst>
        <pc:spChg chg="del">
          <ac:chgData name="Louise Hadden" userId="158a5f1b1d89b271" providerId="LiveId" clId="{BE765655-2636-4D90-B767-43ED1DFBABAC}" dt="2026-08-29T17:16:15.030" v="2" actId="478"/>
          <ac:spMkLst>
            <pc:docMk/>
            <pc:sldMasterMk cId="519966091" sldId="2147483816"/>
            <ac:spMk id="5" creationId="{5EE3044A-C9A6-E884-4C9A-23621BD0A939}"/>
          </ac:spMkLst>
        </pc:spChg>
        <pc:picChg chg="del mod">
          <ac:chgData name="Louise Hadden" userId="158a5f1b1d89b271" providerId="LiveId" clId="{BE765655-2636-4D90-B767-43ED1DFBABAC}" dt="2026-08-29T17:16:13.176" v="1" actId="478"/>
          <ac:picMkLst>
            <pc:docMk/>
            <pc:sldMasterMk cId="519966091" sldId="2147483816"/>
            <ac:picMk id="6" creationId="{3FF0AE2E-CCAC-E14C-863D-E379D44FC168}"/>
          </ac:picMkLst>
        </pc:picChg>
        <pc:sldLayoutChg chg="delSp mod setBg">
          <pc:chgData name="Louise Hadden" userId="158a5f1b1d89b271" providerId="LiveId" clId="{BE765655-2636-4D90-B767-43ED1DFBABAC}" dt="2026-08-29T17:20:29.039" v="33"/>
          <pc:sldLayoutMkLst>
            <pc:docMk/>
            <pc:sldMasterMk cId="519966091" sldId="2147483816"/>
            <pc:sldLayoutMk cId="3284189994" sldId="2147483836"/>
          </pc:sldLayoutMkLst>
          <pc:spChg chg="del">
            <ac:chgData name="Louise Hadden" userId="158a5f1b1d89b271" providerId="LiveId" clId="{BE765655-2636-4D90-B767-43ED1DFBABAC}" dt="2026-08-29T17:16:33.949" v="4" actId="478"/>
            <ac:spMkLst>
              <pc:docMk/>
              <pc:sldMasterMk cId="519966091" sldId="2147483816"/>
              <pc:sldLayoutMk cId="3284189994" sldId="2147483836"/>
              <ac:spMk id="3" creationId="{49C0257D-B61C-3687-FD6D-C3E4FA43E91F}"/>
            </ac:spMkLst>
          </pc:spChg>
          <pc:picChg chg="del">
            <ac:chgData name="Louise Hadden" userId="158a5f1b1d89b271" providerId="LiveId" clId="{BE765655-2636-4D90-B767-43ED1DFBABAC}" dt="2026-08-29T17:16:26.880" v="3" actId="478"/>
            <ac:picMkLst>
              <pc:docMk/>
              <pc:sldMasterMk cId="519966091" sldId="2147483816"/>
              <pc:sldLayoutMk cId="3284189994" sldId="2147483836"/>
              <ac:picMk id="2" creationId="{F6DD9450-4619-FAAD-8C22-42AB314E72B8}"/>
            </ac:picMkLst>
          </pc:pic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060AB2-6C2C-432C-ABDE-BB6302E579C6}" type="doc">
      <dgm:prSet loTypeId="urn:microsoft.com/office/officeart/2005/8/layout/vProcess5" loCatId="process" qsTypeId="urn:microsoft.com/office/officeart/2005/8/quickstyle/simple1#2" qsCatId="simple" csTypeId="urn:microsoft.com/office/officeart/2005/8/colors/accent1_2#2" csCatId="accent1" phldr="1"/>
      <dgm:spPr/>
      <dgm:t>
        <a:bodyPr/>
        <a:lstStyle/>
        <a:p>
          <a:endParaRPr lang="en-US"/>
        </a:p>
      </dgm:t>
    </dgm:pt>
    <dgm:pt modelId="{347F8C87-8EDB-4D4B-8FB9-52DE5732FB7D}">
      <dgm:prSet phldrT="[Text]"/>
      <dgm:spPr/>
      <dgm:t>
        <a:bodyPr/>
        <a:lstStyle/>
        <a:p>
          <a:r>
            <a:rPr lang="en-US" dirty="0"/>
            <a:t>Write a macro to run PROC SURVEYFREQ on LHS variables by BMI category, outputting OOOS</a:t>
          </a:r>
        </a:p>
      </dgm:t>
    </dgm:pt>
    <dgm:pt modelId="{0538C8A8-BDC4-48CF-B5B3-9643626E0E6D}" type="parTrans" cxnId="{0DE94D28-7309-4776-9419-A34BBB23F1AF}">
      <dgm:prSet/>
      <dgm:spPr/>
      <dgm:t>
        <a:bodyPr/>
        <a:lstStyle/>
        <a:p>
          <a:endParaRPr lang="en-US"/>
        </a:p>
      </dgm:t>
    </dgm:pt>
    <dgm:pt modelId="{6CB0F862-2F19-48AA-9C81-1710CFF19F84}" type="sibTrans" cxnId="{0DE94D28-7309-4776-9419-A34BBB23F1AF}">
      <dgm:prSet/>
      <dgm:spPr/>
      <dgm:t>
        <a:bodyPr/>
        <a:lstStyle/>
        <a:p>
          <a:endParaRPr lang="en-US" dirty="0"/>
        </a:p>
      </dgm:t>
    </dgm:pt>
    <dgm:pt modelId="{A61A9F98-6E4D-46CA-A8DE-1A798C9FFB4D}">
      <dgm:prSet phldrT="[Text]"/>
      <dgm:spPr/>
      <dgm:t>
        <a:bodyPr/>
        <a:lstStyle/>
        <a:p>
          <a:r>
            <a:rPr lang="en-US" dirty="0"/>
            <a:t>Create LHS data set for row headers; do some formatting; split into 5 files (4 BMI categories and Total)</a:t>
          </a:r>
        </a:p>
      </dgm:t>
    </dgm:pt>
    <dgm:pt modelId="{B003A926-60DD-4445-85E6-24C8EB96647F}" type="parTrans" cxnId="{0904EEBD-0876-4CFD-8E4E-824DCA037F38}">
      <dgm:prSet/>
      <dgm:spPr/>
      <dgm:t>
        <a:bodyPr/>
        <a:lstStyle/>
        <a:p>
          <a:endParaRPr lang="en-US"/>
        </a:p>
      </dgm:t>
    </dgm:pt>
    <dgm:pt modelId="{6805D54D-270C-4A8D-8E9A-2FC552F31383}" type="sibTrans" cxnId="{0904EEBD-0876-4CFD-8E4E-824DCA037F38}">
      <dgm:prSet/>
      <dgm:spPr/>
      <dgm:t>
        <a:bodyPr/>
        <a:lstStyle/>
        <a:p>
          <a:endParaRPr lang="en-US" dirty="0"/>
        </a:p>
      </dgm:t>
    </dgm:pt>
    <dgm:pt modelId="{7FB9CE7E-56B4-4B6C-83F1-DAF0CD0D4CCA}">
      <dgm:prSet phldrT="[Text]"/>
      <dgm:spPr/>
      <dgm:t>
        <a:bodyPr/>
        <a:lstStyle/>
        <a:p>
          <a:r>
            <a:rPr lang="en-US" dirty="0"/>
            <a:t>Second macro to format split files; merge 5 files to transpose bmi category and total column sets,  output to ODS Excel and format</a:t>
          </a:r>
        </a:p>
      </dgm:t>
    </dgm:pt>
    <dgm:pt modelId="{DB7473D5-E216-4050-8D03-96B63BC0A9E3}" type="parTrans" cxnId="{57E82837-BDC8-41C8-8A07-21D7E422792D}">
      <dgm:prSet/>
      <dgm:spPr/>
      <dgm:t>
        <a:bodyPr/>
        <a:lstStyle/>
        <a:p>
          <a:endParaRPr lang="en-US"/>
        </a:p>
      </dgm:t>
    </dgm:pt>
    <dgm:pt modelId="{B7F9B7E9-7235-4503-92FF-15C2DA5F9818}" type="sibTrans" cxnId="{57E82837-BDC8-41C8-8A07-21D7E422792D}">
      <dgm:prSet/>
      <dgm:spPr/>
      <dgm:t>
        <a:bodyPr/>
        <a:lstStyle/>
        <a:p>
          <a:endParaRPr lang="en-US"/>
        </a:p>
      </dgm:t>
    </dgm:pt>
    <dgm:pt modelId="{C825E56B-CA2C-4BFF-980C-8DB4233BCBB1}" type="pres">
      <dgm:prSet presAssocID="{68060AB2-6C2C-432C-ABDE-BB6302E579C6}" presName="outerComposite" presStyleCnt="0">
        <dgm:presLayoutVars>
          <dgm:chMax val="5"/>
          <dgm:dir/>
          <dgm:resizeHandles val="exact"/>
        </dgm:presLayoutVars>
      </dgm:prSet>
      <dgm:spPr/>
    </dgm:pt>
    <dgm:pt modelId="{86E991C0-B58F-4DDC-9D4E-5E266596873A}" type="pres">
      <dgm:prSet presAssocID="{68060AB2-6C2C-432C-ABDE-BB6302E579C6}" presName="dummyMaxCanvas" presStyleCnt="0">
        <dgm:presLayoutVars/>
      </dgm:prSet>
      <dgm:spPr/>
    </dgm:pt>
    <dgm:pt modelId="{998B6613-0A1C-4EB3-B8A8-75F748468DF4}" type="pres">
      <dgm:prSet presAssocID="{68060AB2-6C2C-432C-ABDE-BB6302E579C6}" presName="ThreeNodes_1" presStyleLbl="node1" presStyleIdx="0" presStyleCnt="3">
        <dgm:presLayoutVars>
          <dgm:bulletEnabled val="1"/>
        </dgm:presLayoutVars>
      </dgm:prSet>
      <dgm:spPr/>
    </dgm:pt>
    <dgm:pt modelId="{982D2DC6-1935-4821-B3B8-98001A791C4A}" type="pres">
      <dgm:prSet presAssocID="{68060AB2-6C2C-432C-ABDE-BB6302E579C6}" presName="ThreeNodes_2" presStyleLbl="node1" presStyleIdx="1" presStyleCnt="3">
        <dgm:presLayoutVars>
          <dgm:bulletEnabled val="1"/>
        </dgm:presLayoutVars>
      </dgm:prSet>
      <dgm:spPr/>
    </dgm:pt>
    <dgm:pt modelId="{83090C91-6057-4E1B-B6BC-E1CC5E4E223D}" type="pres">
      <dgm:prSet presAssocID="{68060AB2-6C2C-432C-ABDE-BB6302E579C6}" presName="ThreeNodes_3" presStyleLbl="node1" presStyleIdx="2" presStyleCnt="3">
        <dgm:presLayoutVars>
          <dgm:bulletEnabled val="1"/>
        </dgm:presLayoutVars>
      </dgm:prSet>
      <dgm:spPr/>
    </dgm:pt>
    <dgm:pt modelId="{ACDA9346-583A-4C9C-9918-600818A192E0}" type="pres">
      <dgm:prSet presAssocID="{68060AB2-6C2C-432C-ABDE-BB6302E579C6}" presName="ThreeConn_1-2" presStyleLbl="fgAccFollowNode1" presStyleIdx="0" presStyleCnt="2">
        <dgm:presLayoutVars>
          <dgm:bulletEnabled val="1"/>
        </dgm:presLayoutVars>
      </dgm:prSet>
      <dgm:spPr/>
    </dgm:pt>
    <dgm:pt modelId="{2BD613E0-2E4C-4ECF-8C1E-9873D4E59A71}" type="pres">
      <dgm:prSet presAssocID="{68060AB2-6C2C-432C-ABDE-BB6302E579C6}" presName="ThreeConn_2-3" presStyleLbl="fgAccFollowNode1" presStyleIdx="1" presStyleCnt="2">
        <dgm:presLayoutVars>
          <dgm:bulletEnabled val="1"/>
        </dgm:presLayoutVars>
      </dgm:prSet>
      <dgm:spPr/>
    </dgm:pt>
    <dgm:pt modelId="{707635FE-9726-4F6F-A467-D6433214225D}" type="pres">
      <dgm:prSet presAssocID="{68060AB2-6C2C-432C-ABDE-BB6302E579C6}" presName="ThreeNodes_1_text" presStyleLbl="node1" presStyleIdx="2" presStyleCnt="3">
        <dgm:presLayoutVars>
          <dgm:bulletEnabled val="1"/>
        </dgm:presLayoutVars>
      </dgm:prSet>
      <dgm:spPr/>
    </dgm:pt>
    <dgm:pt modelId="{9C109EEB-4182-4683-87B9-4A182B28A133}" type="pres">
      <dgm:prSet presAssocID="{68060AB2-6C2C-432C-ABDE-BB6302E579C6}" presName="ThreeNodes_2_text" presStyleLbl="node1" presStyleIdx="2" presStyleCnt="3">
        <dgm:presLayoutVars>
          <dgm:bulletEnabled val="1"/>
        </dgm:presLayoutVars>
      </dgm:prSet>
      <dgm:spPr/>
    </dgm:pt>
    <dgm:pt modelId="{42300845-A1BE-40D9-A036-C64A94DC92DA}" type="pres">
      <dgm:prSet presAssocID="{68060AB2-6C2C-432C-ABDE-BB6302E579C6}" presName="ThreeNodes_3_text" presStyleLbl="node1" presStyleIdx="2" presStyleCnt="3">
        <dgm:presLayoutVars>
          <dgm:bulletEnabled val="1"/>
        </dgm:presLayoutVars>
      </dgm:prSet>
      <dgm:spPr/>
    </dgm:pt>
  </dgm:ptLst>
  <dgm:cxnLst>
    <dgm:cxn modelId="{51BB170D-BCDB-431B-AEC8-EC45D66723FE}" type="presOf" srcId="{7FB9CE7E-56B4-4B6C-83F1-DAF0CD0D4CCA}" destId="{83090C91-6057-4E1B-B6BC-E1CC5E4E223D}" srcOrd="0" destOrd="0" presId="urn:microsoft.com/office/officeart/2005/8/layout/vProcess5"/>
    <dgm:cxn modelId="{0DE94D28-7309-4776-9419-A34BBB23F1AF}" srcId="{68060AB2-6C2C-432C-ABDE-BB6302E579C6}" destId="{347F8C87-8EDB-4D4B-8FB9-52DE5732FB7D}" srcOrd="0" destOrd="0" parTransId="{0538C8A8-BDC4-48CF-B5B3-9643626E0E6D}" sibTransId="{6CB0F862-2F19-48AA-9C81-1710CFF19F84}"/>
    <dgm:cxn modelId="{57E82837-BDC8-41C8-8A07-21D7E422792D}" srcId="{68060AB2-6C2C-432C-ABDE-BB6302E579C6}" destId="{7FB9CE7E-56B4-4B6C-83F1-DAF0CD0D4CCA}" srcOrd="2" destOrd="0" parTransId="{DB7473D5-E216-4050-8D03-96B63BC0A9E3}" sibTransId="{B7F9B7E9-7235-4503-92FF-15C2DA5F9818}"/>
    <dgm:cxn modelId="{8A029D37-1608-4131-993D-015DB64BB9AE}" type="presOf" srcId="{6CB0F862-2F19-48AA-9C81-1710CFF19F84}" destId="{ACDA9346-583A-4C9C-9918-600818A192E0}" srcOrd="0" destOrd="0" presId="urn:microsoft.com/office/officeart/2005/8/layout/vProcess5"/>
    <dgm:cxn modelId="{D525D64C-8595-46F7-B9BF-3E8A7CBE0D32}" type="presOf" srcId="{347F8C87-8EDB-4D4B-8FB9-52DE5732FB7D}" destId="{998B6613-0A1C-4EB3-B8A8-75F748468DF4}" srcOrd="0" destOrd="0" presId="urn:microsoft.com/office/officeart/2005/8/layout/vProcess5"/>
    <dgm:cxn modelId="{A5F61E6E-951D-419D-8FEC-2F35A7F3C543}" type="presOf" srcId="{A61A9F98-6E4D-46CA-A8DE-1A798C9FFB4D}" destId="{9C109EEB-4182-4683-87B9-4A182B28A133}" srcOrd="1" destOrd="0" presId="urn:microsoft.com/office/officeart/2005/8/layout/vProcess5"/>
    <dgm:cxn modelId="{136CF890-9BF6-434D-A0D8-CF7A0AE21B89}" type="presOf" srcId="{6805D54D-270C-4A8D-8E9A-2FC552F31383}" destId="{2BD613E0-2E4C-4ECF-8C1E-9873D4E59A71}" srcOrd="0" destOrd="0" presId="urn:microsoft.com/office/officeart/2005/8/layout/vProcess5"/>
    <dgm:cxn modelId="{0904EEBD-0876-4CFD-8E4E-824DCA037F38}" srcId="{68060AB2-6C2C-432C-ABDE-BB6302E579C6}" destId="{A61A9F98-6E4D-46CA-A8DE-1A798C9FFB4D}" srcOrd="1" destOrd="0" parTransId="{B003A926-60DD-4445-85E6-24C8EB96647F}" sibTransId="{6805D54D-270C-4A8D-8E9A-2FC552F31383}"/>
    <dgm:cxn modelId="{BBBA03C4-9FB4-43A0-A062-16B0A27D4FC8}" type="presOf" srcId="{7FB9CE7E-56B4-4B6C-83F1-DAF0CD0D4CCA}" destId="{42300845-A1BE-40D9-A036-C64A94DC92DA}" srcOrd="1" destOrd="0" presId="urn:microsoft.com/office/officeart/2005/8/layout/vProcess5"/>
    <dgm:cxn modelId="{2858D7CE-21D2-43E3-BB66-9E58F0F6BA95}" type="presOf" srcId="{A61A9F98-6E4D-46CA-A8DE-1A798C9FFB4D}" destId="{982D2DC6-1935-4821-B3B8-98001A791C4A}" srcOrd="0" destOrd="0" presId="urn:microsoft.com/office/officeart/2005/8/layout/vProcess5"/>
    <dgm:cxn modelId="{94C66AFC-9567-49D6-BDAD-ED55F50A6F3C}" type="presOf" srcId="{68060AB2-6C2C-432C-ABDE-BB6302E579C6}" destId="{C825E56B-CA2C-4BFF-980C-8DB4233BCBB1}" srcOrd="0" destOrd="0" presId="urn:microsoft.com/office/officeart/2005/8/layout/vProcess5"/>
    <dgm:cxn modelId="{822C81FC-C0ED-4321-8280-EB28E0DC044C}" type="presOf" srcId="{347F8C87-8EDB-4D4B-8FB9-52DE5732FB7D}" destId="{707635FE-9726-4F6F-A467-D6433214225D}" srcOrd="1" destOrd="0" presId="urn:microsoft.com/office/officeart/2005/8/layout/vProcess5"/>
    <dgm:cxn modelId="{A0AA1E74-34CE-475C-B958-07A444C2A086}" type="presParOf" srcId="{C825E56B-CA2C-4BFF-980C-8DB4233BCBB1}" destId="{86E991C0-B58F-4DDC-9D4E-5E266596873A}" srcOrd="0" destOrd="0" presId="urn:microsoft.com/office/officeart/2005/8/layout/vProcess5"/>
    <dgm:cxn modelId="{46E4C972-6624-4A62-BDC2-084AEA97DE43}" type="presParOf" srcId="{C825E56B-CA2C-4BFF-980C-8DB4233BCBB1}" destId="{998B6613-0A1C-4EB3-B8A8-75F748468DF4}" srcOrd="1" destOrd="0" presId="urn:microsoft.com/office/officeart/2005/8/layout/vProcess5"/>
    <dgm:cxn modelId="{B37CD5D5-164D-4F43-9CED-F6530DA33DDF}" type="presParOf" srcId="{C825E56B-CA2C-4BFF-980C-8DB4233BCBB1}" destId="{982D2DC6-1935-4821-B3B8-98001A791C4A}" srcOrd="2" destOrd="0" presId="urn:microsoft.com/office/officeart/2005/8/layout/vProcess5"/>
    <dgm:cxn modelId="{DD6BA505-6253-4B78-98CA-A4EF180D5ECA}" type="presParOf" srcId="{C825E56B-CA2C-4BFF-980C-8DB4233BCBB1}" destId="{83090C91-6057-4E1B-B6BC-E1CC5E4E223D}" srcOrd="3" destOrd="0" presId="urn:microsoft.com/office/officeart/2005/8/layout/vProcess5"/>
    <dgm:cxn modelId="{3753D03D-29DA-41C0-A705-A595795AD694}" type="presParOf" srcId="{C825E56B-CA2C-4BFF-980C-8DB4233BCBB1}" destId="{ACDA9346-583A-4C9C-9918-600818A192E0}" srcOrd="4" destOrd="0" presId="urn:microsoft.com/office/officeart/2005/8/layout/vProcess5"/>
    <dgm:cxn modelId="{4F11E1CB-50AC-4E9D-AB9D-E09AF425C7F3}" type="presParOf" srcId="{C825E56B-CA2C-4BFF-980C-8DB4233BCBB1}" destId="{2BD613E0-2E4C-4ECF-8C1E-9873D4E59A71}" srcOrd="5" destOrd="0" presId="urn:microsoft.com/office/officeart/2005/8/layout/vProcess5"/>
    <dgm:cxn modelId="{1B051946-743D-4318-A153-A2B2B445B512}" type="presParOf" srcId="{C825E56B-CA2C-4BFF-980C-8DB4233BCBB1}" destId="{707635FE-9726-4F6F-A467-D6433214225D}" srcOrd="6" destOrd="0" presId="urn:microsoft.com/office/officeart/2005/8/layout/vProcess5"/>
    <dgm:cxn modelId="{9B939C49-0108-48A9-8275-434561C47B04}" type="presParOf" srcId="{C825E56B-CA2C-4BFF-980C-8DB4233BCBB1}" destId="{9C109EEB-4182-4683-87B9-4A182B28A133}" srcOrd="7" destOrd="0" presId="urn:microsoft.com/office/officeart/2005/8/layout/vProcess5"/>
    <dgm:cxn modelId="{59FBC21D-E303-4002-9778-B2766B1E7DDF}" type="presParOf" srcId="{C825E56B-CA2C-4BFF-980C-8DB4233BCBB1}" destId="{42300845-A1BE-40D9-A036-C64A94DC92DA}"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8B6613-0A1C-4EB3-B8A8-75F748468DF4}">
      <dsp:nvSpPr>
        <dsp:cNvPr id="0" name=""/>
        <dsp:cNvSpPr/>
      </dsp:nvSpPr>
      <dsp:spPr>
        <a:xfrm>
          <a:off x="0" y="0"/>
          <a:ext cx="10253949" cy="18288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Write a macro to run PROC SURVEYFREQ on LHS variables by BMI category, outputting OOOS</a:t>
          </a:r>
        </a:p>
      </dsp:txBody>
      <dsp:txXfrm>
        <a:off x="53564" y="53564"/>
        <a:ext cx="8280531" cy="1721672"/>
      </dsp:txXfrm>
    </dsp:sp>
    <dsp:sp modelId="{982D2DC6-1935-4821-B3B8-98001A791C4A}">
      <dsp:nvSpPr>
        <dsp:cNvPr id="0" name=""/>
        <dsp:cNvSpPr/>
      </dsp:nvSpPr>
      <dsp:spPr>
        <a:xfrm>
          <a:off x="904760" y="2133600"/>
          <a:ext cx="10253949" cy="18288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Create LHS data set for row headers; do some formatting; split into 5 files (4 BMI categories and Total)</a:t>
          </a:r>
        </a:p>
      </dsp:txBody>
      <dsp:txXfrm>
        <a:off x="958324" y="2187164"/>
        <a:ext cx="8053341" cy="1721672"/>
      </dsp:txXfrm>
    </dsp:sp>
    <dsp:sp modelId="{83090C91-6057-4E1B-B6BC-E1CC5E4E223D}">
      <dsp:nvSpPr>
        <dsp:cNvPr id="0" name=""/>
        <dsp:cNvSpPr/>
      </dsp:nvSpPr>
      <dsp:spPr>
        <a:xfrm>
          <a:off x="1809520" y="4267200"/>
          <a:ext cx="10253949" cy="18288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Second macro to format split files; merge 5 files to transpose bmi category and total column sets,  output to ODS Excel and format</a:t>
          </a:r>
        </a:p>
      </dsp:txBody>
      <dsp:txXfrm>
        <a:off x="1863084" y="4320764"/>
        <a:ext cx="8053341" cy="1721672"/>
      </dsp:txXfrm>
    </dsp:sp>
    <dsp:sp modelId="{ACDA9346-583A-4C9C-9918-600818A192E0}">
      <dsp:nvSpPr>
        <dsp:cNvPr id="0" name=""/>
        <dsp:cNvSpPr/>
      </dsp:nvSpPr>
      <dsp:spPr>
        <a:xfrm>
          <a:off x="9065229" y="1386840"/>
          <a:ext cx="1188720" cy="1188720"/>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9332691" y="1386840"/>
        <a:ext cx="653796" cy="894512"/>
      </dsp:txXfrm>
    </dsp:sp>
    <dsp:sp modelId="{2BD613E0-2E4C-4ECF-8C1E-9873D4E59A71}">
      <dsp:nvSpPr>
        <dsp:cNvPr id="0" name=""/>
        <dsp:cNvSpPr/>
      </dsp:nvSpPr>
      <dsp:spPr>
        <a:xfrm>
          <a:off x="9969989" y="3508248"/>
          <a:ext cx="1188720" cy="1188720"/>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10237451" y="3508248"/>
        <a:ext cx="653796" cy="894512"/>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ags" Target="../tags/tag14.xml"/><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7A8A3785-BF0E-6C8B-8B7B-0521D7696A29}"/>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dirty="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6" name="TextBox 2">
            <a:extLst>
              <a:ext uri="{FF2B5EF4-FFF2-40B4-BE49-F238E27FC236}">
                <a16:creationId xmlns:a16="http://schemas.microsoft.com/office/drawing/2014/main" id="{FDEF6B2A-6211-F846-C47F-DC10CAA8C891}"/>
              </a:ext>
            </a:extLst>
          </p:cNvPr>
          <p:cNvSpPr txBox="1"/>
          <p:nvPr/>
        </p:nvSpPr>
        <p:spPr>
          <a:xfrm>
            <a:off x="2493335" y="8717132"/>
            <a:ext cx="1871330" cy="246221"/>
          </a:xfrm>
          <a:prstGeom prst="rect">
            <a:avLst/>
          </a:prstGeom>
          <a:noFill/>
        </p:spPr>
        <p:txBody>
          <a:bodyPr wrap="square" rtlCol="0" anchor="ctr">
            <a:spAutoFit/>
          </a:bodyPr>
          <a:lstStyle/>
          <a:p>
            <a:pPr algn="ctr" defTabSz="182880"/>
            <a:fld id="{C4EF46A2-9381-4C51-8277-3C7F2938E9F9}" type="slidenum">
              <a:rPr lang="en-US" sz="1000">
                <a:solidFill>
                  <a:schemeClr val="accent4"/>
                </a:solidFill>
                <a:latin typeface="+mj-lt"/>
              </a:rPr>
              <a:pPr/>
              <a:t>‹#›</a:t>
            </a:fld>
            <a:endParaRPr lang="en-US" sz="1000" b="1" dirty="0">
              <a:solidFill>
                <a:schemeClr val="accent4"/>
              </a:solidFill>
              <a:latin typeface="+mj-lt"/>
            </a:endParaRPr>
          </a:p>
        </p:txBody>
      </p:sp>
      <p:pic>
        <p:nvPicPr>
          <p:cNvPr id="7" name="Innovate Logo">
            <a:extLst>
              <a:ext uri="{FF2B5EF4-FFF2-40B4-BE49-F238E27FC236}">
                <a16:creationId xmlns:a16="http://schemas.microsoft.com/office/drawing/2014/main" id="{3B423C95-8827-65AD-D8E4-A9D17335A29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497627" y="8692401"/>
            <a:ext cx="1108805" cy="295681"/>
          </a:xfrm>
          <a:prstGeom prst="rect">
            <a:avLst/>
          </a:prstGeom>
        </p:spPr>
      </p:pic>
    </p:spTree>
    <p:custDataLst>
      <p:tags r:id="rId2"/>
    </p:custDataLst>
    <p:extLst>
      <p:ext uri="{BB962C8B-B14F-4D97-AF65-F5344CB8AC3E}">
        <p14:creationId xmlns:p14="http://schemas.microsoft.com/office/powerpoint/2010/main" val="262689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nnovate Logo">
            <a:extLst>
              <a:ext uri="{FF2B5EF4-FFF2-40B4-BE49-F238E27FC236}">
                <a16:creationId xmlns:a16="http://schemas.microsoft.com/office/drawing/2014/main" id="{48B6EF21-956E-EE01-719A-6EFD0353D14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497627" y="8692401"/>
            <a:ext cx="1108805" cy="295681"/>
          </a:xfrm>
          <a:prstGeom prst="rect">
            <a:avLst/>
          </a:prstGeom>
        </p:spPr>
      </p:pic>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Box 4">
            <a:extLst>
              <a:ext uri="{FF2B5EF4-FFF2-40B4-BE49-F238E27FC236}">
                <a16:creationId xmlns:a16="http://schemas.microsoft.com/office/drawing/2014/main" id="{CFAEC8D7-15A6-6F9F-E0B7-CB248431A52A}"/>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dirty="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6" name="TextBox 2">
            <a:extLst>
              <a:ext uri="{FF2B5EF4-FFF2-40B4-BE49-F238E27FC236}">
                <a16:creationId xmlns:a16="http://schemas.microsoft.com/office/drawing/2014/main" id="{F607DE50-086C-7432-5C71-ADF401D86D53}"/>
              </a:ext>
            </a:extLst>
          </p:cNvPr>
          <p:cNvSpPr txBox="1"/>
          <p:nvPr/>
        </p:nvSpPr>
        <p:spPr>
          <a:xfrm>
            <a:off x="2493335" y="8717132"/>
            <a:ext cx="1871330" cy="246221"/>
          </a:xfrm>
          <a:prstGeom prst="rect">
            <a:avLst/>
          </a:prstGeom>
          <a:noFill/>
        </p:spPr>
        <p:txBody>
          <a:bodyPr wrap="square" rtlCol="0" anchor="ctr">
            <a:spAutoFit/>
          </a:bodyPr>
          <a:lstStyle/>
          <a:p>
            <a:pPr algn="ctr" defTabSz="182880"/>
            <a:fld id="{C4EF46A2-9381-4C51-8277-3C7F2938E9F9}" type="slidenum">
              <a:rPr lang="en-US" sz="1000" smtClean="0">
                <a:solidFill>
                  <a:schemeClr val="tx2"/>
                </a:solidFill>
                <a:latin typeface="+mj-lt"/>
              </a:rPr>
              <a:pPr/>
              <a:t>‹#›</a:t>
            </a:fld>
            <a:endParaRPr lang="en-US" sz="1000" b="1" dirty="0">
              <a:solidFill>
                <a:schemeClr val="tx2"/>
              </a:solidFill>
              <a:latin typeface="+mj-lt"/>
            </a:endParaRPr>
          </a:p>
        </p:txBody>
      </p:sp>
    </p:spTree>
    <p:extLst>
      <p:ext uri="{BB962C8B-B14F-4D97-AF65-F5344CB8AC3E}">
        <p14:creationId xmlns:p14="http://schemas.microsoft.com/office/powerpoint/2010/main" val="3625376775"/>
      </p:ext>
    </p:extLst>
  </p:cSld>
  <p:clrMap bg1="lt1" tx1="dk1" bg2="lt2" tx2="dk2" accent1="accent1" accent2="accent2" accent3="accent3" accent4="accent4" accent5="accent5" accent6="accent6" hlink="hlink" folHlink="folHlink"/>
  <p:notesStyle>
    <a:lvl1pPr marL="3429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mn-lt"/>
        <a:ea typeface="+mn-ea"/>
        <a:cs typeface="+mn-cs"/>
      </a:defRPr>
    </a:lvl1pPr>
    <a:lvl2pPr marL="1257300" indent="-342900" algn="l" defTabSz="1828800" rtl="0" eaLnBrk="1" latinLnBrk="0" hangingPunct="1">
      <a:buClr>
        <a:schemeClr val="accent5"/>
      </a:buClr>
      <a:buFont typeface="Anova Light" panose="020B0403020203020204" pitchFamily="34" charset="0"/>
      <a:buChar char="–"/>
      <a:defRPr sz="2000" b="0" i="0" kern="1200">
        <a:solidFill>
          <a:schemeClr val="tx1"/>
        </a:solidFill>
        <a:latin typeface="+mn-lt"/>
        <a:ea typeface="+mn-ea"/>
        <a:cs typeface="+mn-cs"/>
      </a:defRPr>
    </a:lvl2pPr>
    <a:lvl3pPr marL="2171700" indent="-342900" algn="l" defTabSz="1828800" rtl="0" eaLnBrk="1" latinLnBrk="0" hangingPunct="1">
      <a:buClr>
        <a:schemeClr val="accent5"/>
      </a:buClr>
      <a:buFont typeface="Anova Light" panose="020B0403020203020204" pitchFamily="34" charset="0"/>
      <a:buChar char="•"/>
      <a:defRPr sz="1800" b="0" i="0" kern="1200">
        <a:solidFill>
          <a:schemeClr val="tx1"/>
        </a:solidFill>
        <a:latin typeface="+mn-lt"/>
        <a:ea typeface="+mn-ea"/>
        <a:cs typeface="+mn-cs"/>
      </a:defRPr>
    </a:lvl3pPr>
    <a:lvl4pPr marL="3086100" indent="-342900" algn="l" defTabSz="1828800" rtl="0" eaLnBrk="1" latinLnBrk="0" hangingPunct="1">
      <a:buClr>
        <a:schemeClr val="accent5"/>
      </a:buClr>
      <a:buFont typeface="Anova Light" panose="020B0403020203020204" pitchFamily="34" charset="0"/>
      <a:buChar char="–"/>
      <a:defRPr sz="1600" b="0" i="0" kern="1200">
        <a:solidFill>
          <a:schemeClr val="tx1"/>
        </a:solidFill>
        <a:latin typeface="+mn-lt"/>
        <a:ea typeface="+mn-ea"/>
        <a:cs typeface="+mn-cs"/>
      </a:defRPr>
    </a:lvl4pPr>
    <a:lvl5pPr marL="4000500" indent="-342900" algn="l" defTabSz="1828800" rtl="0" eaLnBrk="1" latinLnBrk="0" hangingPunct="1">
      <a:buClr>
        <a:schemeClr val="accent5"/>
      </a:buClr>
      <a:buFont typeface="Anova Light" panose="020B0403020203020204" pitchFamily="34" charset="0"/>
      <a:buChar char="•"/>
      <a:defRPr sz="1400" b="0" i="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799473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984429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76261-B9B2-A403-B40C-A2D69E7A22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9FEC5D-DDD2-451E-A5AA-BFEE54A2447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F96567B-4CF5-D562-67E0-7B111703C107}"/>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The Output Delivery System (ODS) delivers what used to be printed output in many convenient forms. What many of us don't realize is that "printed output" from procedures (whether the destination is PDF, RTF, or HTML) is the result of SAS® packaging a collection of items that come out of a procedure that most people want to see in a predefined order (aka template.) With tools such as ODS TRACE, ODS TRACE DOM, ODS OUTPUT, ODS SELECT, ODS EXCLUDE, ODS destinations, SAS metadata, SAS Graphics Editor, and reporting procedures, this presentation explores the many buried treasures of procedural output and ODS output objects and demonstrates how to use these objects to get exactly the information that is needed, in exactly the format wanted. In this presentation, we’ll cover ODS TRACE and ODS OUTPUT in detail.</a:t>
            </a:r>
          </a:p>
          <a:p>
            <a:endParaRPr lang="en-US" dirty="0"/>
          </a:p>
        </p:txBody>
      </p:sp>
      <p:sp>
        <p:nvSpPr>
          <p:cNvPr id="4" name="Slide Number Placeholder 3">
            <a:extLst>
              <a:ext uri="{FF2B5EF4-FFF2-40B4-BE49-F238E27FC236}">
                <a16:creationId xmlns:a16="http://schemas.microsoft.com/office/drawing/2014/main" id="{447D7253-8AE1-F2B0-DBBE-D067B15DA3E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16205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68F7D-07E8-0295-35EC-8DD0B402AE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DED903-8C20-C23D-4FE4-1A0753E79AB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EEB333C-23E5-43B4-BC46-54A7B336E2D8}"/>
              </a:ext>
            </a:extLst>
          </p:cNvPr>
          <p:cNvSpPr>
            <a:spLocks noGrp="1"/>
          </p:cNvSpPr>
          <p:nvPr>
            <p:ph type="body" idx="1"/>
          </p:nvPr>
        </p:nvSpPr>
        <p:spPr/>
        <p:txBody>
          <a:bodyPr/>
          <a:lstStyle/>
          <a:p>
            <a:r>
              <a:rPr lang="en-US" sz="2400" b="0" i="0" kern="1200" dirty="0">
                <a:solidFill>
                  <a:schemeClr val="tx1"/>
                </a:solidFill>
                <a:effectLst/>
                <a:latin typeface="+mn-lt"/>
                <a:ea typeface="+mn-ea"/>
                <a:cs typeface="+mn-cs"/>
              </a:rPr>
              <a:t>This session addresses the opportunity to harness the power of SAS's Output Delivery System (ODS) and ODS Output Objects to create highly customized reports and data sets tailored to specific needs, saving time and enhancing clarity. Attendees will learn how to trace, manipulate, and repurpose ODS output objects using tools like ODS TRACE, ODS OUTPUT, and SAS reporting procedures to extract precise information, coalesce data, and present it in visually appealing formats across multiple ODS destinations. In an era of data-driven decision-making, the ability to streamline and customize reporting is critical for efficiency and accuracy. This session offers a deep dive into some less known capabilities of ODS, providing attendees with a birds-eye view of how SAS transforms information, and tools and concepts to transform procedural output into designer-quality reports.</a:t>
            </a:r>
            <a:endParaRPr lang="en-US" dirty="0"/>
          </a:p>
        </p:txBody>
      </p:sp>
      <p:sp>
        <p:nvSpPr>
          <p:cNvPr id="4" name="Slide Number Placeholder 3">
            <a:extLst>
              <a:ext uri="{FF2B5EF4-FFF2-40B4-BE49-F238E27FC236}">
                <a16:creationId xmlns:a16="http://schemas.microsoft.com/office/drawing/2014/main" id="{74AE825A-C4DC-386E-8586-B9A6B70451E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189276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3DAC0-2904-CDDD-82F8-265E4EA304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EC6BD8-3CC1-7C1C-9056-4A6825487E6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001C184-F7C0-ACEE-3DA9-9A6975D7F7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0BD6D3-CF8F-A513-F9BB-844A60AEDB4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768558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8A976-971F-8E1F-D07C-C2437A2BE0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AFC926-AD34-CEC3-EA0D-ADBBB9D010D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C505C4C-CC7B-FAE8-6B3A-CE38A4EF12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SAS provides numerous data sets in the SASHELP folder that are available with 9.4 installations and elsewhere. The SASHELP.HEART data set, based on the Framingham Heart Study, started in 1948 in Framingham, MA, was selected to demonstrate the capabilities of ODS OUTPUT. The data set contains both demographic and medical data. Additional elements added include a group variable (HeartID), an ID variable (seqnum), Sample Weight, BMI, BMI Category, binaries for female and male, and Obesity Category. Missing variable labels were also added.</a:t>
            </a:r>
          </a:p>
          <a:p>
            <a:endParaRPr lang="en-US" dirty="0"/>
          </a:p>
        </p:txBody>
      </p:sp>
      <p:sp>
        <p:nvSpPr>
          <p:cNvPr id="4" name="Slide Number Placeholder 3">
            <a:extLst>
              <a:ext uri="{FF2B5EF4-FFF2-40B4-BE49-F238E27FC236}">
                <a16:creationId xmlns:a16="http://schemas.microsoft.com/office/drawing/2014/main" id="{CC035479-5C8E-C946-5226-752961C1C41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859705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14EB4-B6F2-7BC3-5161-F66239FAF8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C8CEB3-25D6-BB3B-A312-D4150A506E7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965B967-BF7B-72EA-C35F-5A3DC25BE67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Sample data sets are extremely valuable for demonstration purposes, and here, we use a readily available SASHELP.HEART data set as a starting point.</a:t>
            </a:r>
          </a:p>
          <a:p>
            <a:endParaRPr lang="en-US" dirty="0"/>
          </a:p>
        </p:txBody>
      </p:sp>
      <p:sp>
        <p:nvSpPr>
          <p:cNvPr id="4" name="Slide Number Placeholder 3">
            <a:extLst>
              <a:ext uri="{FF2B5EF4-FFF2-40B4-BE49-F238E27FC236}">
                <a16:creationId xmlns:a16="http://schemas.microsoft.com/office/drawing/2014/main" id="{68A49843-B6C0-AC9A-329D-B47E7D55A86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279281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774EE-F005-786C-85A3-431D8A72B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D477AD-65F6-3111-0F1A-54B7BA4C1AA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177A76E-350D-1BE8-2515-A53C00E6A22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Here we create a “group” variable, a faux id, and a faux weight for demonstration purposes.</a:t>
            </a:r>
          </a:p>
          <a:p>
            <a:endParaRPr lang="en-US" dirty="0"/>
          </a:p>
        </p:txBody>
      </p:sp>
      <p:sp>
        <p:nvSpPr>
          <p:cNvPr id="4" name="Slide Number Placeholder 3">
            <a:extLst>
              <a:ext uri="{FF2B5EF4-FFF2-40B4-BE49-F238E27FC236}">
                <a16:creationId xmlns:a16="http://schemas.microsoft.com/office/drawing/2014/main" id="{EB1811AA-BC2F-6425-9EB5-AF907D6B0B8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485991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4EBB4-AE20-27A9-98F5-DE668CBCEA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F303A9-BA11-F27C-86BB-844D41F6B7AE}"/>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72511E8-C94F-48D3-1187-95A6B2E846B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Create simple BMI from height and weight, variables, and then derive bmi and obesity category variables.</a:t>
            </a:r>
          </a:p>
          <a:p>
            <a:endParaRPr lang="en-US" dirty="0"/>
          </a:p>
        </p:txBody>
      </p:sp>
      <p:sp>
        <p:nvSpPr>
          <p:cNvPr id="4" name="Slide Number Placeholder 3">
            <a:extLst>
              <a:ext uri="{FF2B5EF4-FFF2-40B4-BE49-F238E27FC236}">
                <a16:creationId xmlns:a16="http://schemas.microsoft.com/office/drawing/2014/main" id="{237187B9-30C4-6A7A-0647-036C298EB56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79337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8E78B-D9C6-0305-737A-DBA612445A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670B42-D9AA-E369-A2F1-65DCFA6A009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CA5C67B-5A74-EF3C-8E96-18858F4B528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Create female and male binaries for regression purposes</a:t>
            </a:r>
          </a:p>
          <a:p>
            <a:endParaRPr lang="en-US" dirty="0"/>
          </a:p>
        </p:txBody>
      </p:sp>
      <p:sp>
        <p:nvSpPr>
          <p:cNvPr id="4" name="Slide Number Placeholder 3">
            <a:extLst>
              <a:ext uri="{FF2B5EF4-FFF2-40B4-BE49-F238E27FC236}">
                <a16:creationId xmlns:a16="http://schemas.microsoft.com/office/drawing/2014/main" id="{AA07E451-8697-83AD-0304-635F7258CD7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5449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A81ED-726C-9F03-B7D8-57B06292E0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2F7AFE-D427-7F24-B4B1-2614253578C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6C5F41C8-4DF6-26BB-D467-40D24C42BC7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And label variables</a:t>
            </a:r>
          </a:p>
          <a:p>
            <a:endParaRPr lang="en-US" dirty="0"/>
          </a:p>
        </p:txBody>
      </p:sp>
      <p:sp>
        <p:nvSpPr>
          <p:cNvPr id="4" name="Slide Number Placeholder 3">
            <a:extLst>
              <a:ext uri="{FF2B5EF4-FFF2-40B4-BE49-F238E27FC236}">
                <a16:creationId xmlns:a16="http://schemas.microsoft.com/office/drawing/2014/main" id="{913B446A-F475-D745-CF05-B2533B6DE48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39521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A8D3E-9365-DE0F-0A7B-7CA6C3401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F86E12-F561-244D-D28F-77443FF58F7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35F80C5-B217-8F5F-F69C-30AEC52F512D}"/>
              </a:ext>
            </a:extLst>
          </p:cNvPr>
          <p:cNvSpPr>
            <a:spLocks noGrp="1"/>
          </p:cNvSpPr>
          <p:nvPr>
            <p:ph type="body" idx="1"/>
          </p:nvPr>
        </p:nvSpPr>
        <p:spPr/>
        <p:txBody>
          <a:bodyPr/>
          <a:lstStyle/>
          <a:p>
            <a:r>
              <a:rPr lang="en-US" dirty="0"/>
              <a:t>Next up we will discuss the ODS TRACE statement aka the Apericium Spell, which forces SAS to reveal its deepest darkest secrets… well not really, but ODS TRACE is illuminating!</a:t>
            </a:r>
          </a:p>
        </p:txBody>
      </p:sp>
      <p:sp>
        <p:nvSpPr>
          <p:cNvPr id="4" name="Slide Number Placeholder 3">
            <a:extLst>
              <a:ext uri="{FF2B5EF4-FFF2-40B4-BE49-F238E27FC236}">
                <a16:creationId xmlns:a16="http://schemas.microsoft.com/office/drawing/2014/main" id="{5EEE58CB-3D77-D9BB-0118-1A343212826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27118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4E0CE-1E9F-CD9A-86C6-72A621A159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27346C-B289-A900-6855-7DD62752FFA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C46ED81-B4B9-7B4E-D643-AC6DF18AB15A}"/>
              </a:ext>
            </a:extLst>
          </p:cNvPr>
          <p:cNvSpPr>
            <a:spLocks noGrp="1"/>
          </p:cNvSpPr>
          <p:nvPr>
            <p:ph type="body" idx="1"/>
          </p:nvPr>
        </p:nvSpPr>
        <p:spPr/>
        <p:txBody>
          <a:bodyPr/>
          <a:lstStyle/>
          <a:p>
            <a:r>
              <a:rPr lang="en-US" sz="1200" dirty="0"/>
              <a:t>There are four basic concepts involved in re-tooling ODS output objects to produce custom reports:</a:t>
            </a:r>
          </a:p>
          <a:p>
            <a:r>
              <a:rPr lang="en-US" sz="1200" dirty="0"/>
              <a:t>1.  Identify / locate your ODS output object(s) using ODS TRACE or output data set(s) .</a:t>
            </a:r>
          </a:p>
          <a:p>
            <a:r>
              <a:rPr lang="en-US" sz="1200" dirty="0"/>
              <a:t>2. Analyze your ODS output object(s) or output data set(s) using basic SAS procedures and review.</a:t>
            </a:r>
          </a:p>
          <a:p>
            <a:r>
              <a:rPr lang="en-US" sz="1200" dirty="0"/>
              <a:t>3. Manipulate your ODS output object(s) or output data set(s) using SAS data steps, ODS options, and/or procedures.</a:t>
            </a:r>
          </a:p>
          <a:p>
            <a:r>
              <a:rPr lang="en-US" sz="1200" dirty="0"/>
              <a:t>4. Report on your final data set(s).</a:t>
            </a:r>
          </a:p>
          <a:p>
            <a:endParaRPr lang="en-US" dirty="0"/>
          </a:p>
        </p:txBody>
      </p:sp>
      <p:sp>
        <p:nvSpPr>
          <p:cNvPr id="4" name="Slide Number Placeholder 3">
            <a:extLst>
              <a:ext uri="{FF2B5EF4-FFF2-40B4-BE49-F238E27FC236}">
                <a16:creationId xmlns:a16="http://schemas.microsoft.com/office/drawing/2014/main" id="{B935E5D3-FF38-FA75-A5E6-B27BE4055F6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967938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38535-56AA-2C57-440B-D7DD56C51D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3CDE18-E4FF-B660-FD1F-652FBCD2BE1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70713BF-A8E7-8DC3-298F-7B21DD4F1200}"/>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The next step is to identify ODS OUTPUT objects created via SAS procedures. Most SAS procedures generate ODS objects behind the scenes. SAS uses these objects in conjunction with style templates that have custom “buckets” for certain types of output to produce the output we see in all destinations (including the SAS listing). </a:t>
            </a:r>
          </a:p>
          <a:p>
            <a:r>
              <a:rPr lang="en-US" sz="1200" kern="1200" dirty="0">
                <a:solidFill>
                  <a:schemeClr val="tx1"/>
                </a:solidFill>
                <a:effectLst/>
                <a:latin typeface="+mn-lt"/>
                <a:ea typeface="+mn-ea"/>
                <a:cs typeface="+mn-cs"/>
              </a:rPr>
              <a:t>Use the ODS TRACE command to identify ODS output objects. Note that objects can include graphs and plots as well as “print” data files. Choose the procedure that you are using, and “surround” the procedure (including any ODS GRAPHICS calls, ODS SELECT and ODS EXCLUDE statements, etc. you may be using) with ODS TRACE and ODS TRACE OFF commands. The optional “/ label” below includes the label path for the output object in the record. You can use a label path anywhere that you can use a path.</a:t>
            </a:r>
          </a:p>
          <a:p>
            <a:endParaRPr lang="en-US" dirty="0"/>
          </a:p>
        </p:txBody>
      </p:sp>
      <p:sp>
        <p:nvSpPr>
          <p:cNvPr id="4" name="Slide Number Placeholder 3">
            <a:extLst>
              <a:ext uri="{FF2B5EF4-FFF2-40B4-BE49-F238E27FC236}">
                <a16:creationId xmlns:a16="http://schemas.microsoft.com/office/drawing/2014/main" id="{61E0E22A-50F3-E1FF-424B-CCF121647E8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583078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D879C-AA2C-22F8-798D-F2E01FB615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D4A120-E143-905A-6250-43057540983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10DBF98-C5AE-5792-9EBA-E3B46C4327A9}"/>
              </a:ext>
            </a:extLst>
          </p:cNvPr>
          <p:cNvSpPr>
            <a:spLocks noGrp="1"/>
          </p:cNvSpPr>
          <p:nvPr>
            <p:ph type="body" idx="1"/>
          </p:nvPr>
        </p:nvSpPr>
        <p:spPr/>
        <p:txBody>
          <a:bodyPr/>
          <a:lstStyle/>
          <a:p>
            <a:r>
              <a:rPr lang="en-US" dirty="0"/>
              <a:t>Here we show how ODS TRACE shows us what ODS OUTPUT OBJECTS are created for the PROC CONTENTS procedure with the COLLATE option (this is the default contents, which shows variables in alphabetic order)</a:t>
            </a:r>
          </a:p>
          <a:p>
            <a:endParaRPr lang="en-US" dirty="0"/>
          </a:p>
        </p:txBody>
      </p:sp>
      <p:sp>
        <p:nvSpPr>
          <p:cNvPr id="4" name="Slide Number Placeholder 3">
            <a:extLst>
              <a:ext uri="{FF2B5EF4-FFF2-40B4-BE49-F238E27FC236}">
                <a16:creationId xmlns:a16="http://schemas.microsoft.com/office/drawing/2014/main" id="{B7FC0DB9-D908-FBFE-D270-A17C29346D5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752194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F5038-3D82-C6A9-FE3C-828AA56709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E4C0C0-464A-D0A7-6C19-522755DC563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DF644CE-FAC4-8DAE-CCD8-C7A7616BB510}"/>
              </a:ext>
            </a:extLst>
          </p:cNvPr>
          <p:cNvSpPr>
            <a:spLocks noGrp="1"/>
          </p:cNvSpPr>
          <p:nvPr>
            <p:ph type="body" idx="1"/>
          </p:nvPr>
        </p:nvSpPr>
        <p:spPr/>
        <p:txBody>
          <a:bodyPr/>
          <a:lstStyle/>
          <a:p>
            <a:r>
              <a:rPr lang="en-US" dirty="0"/>
              <a:t>First, we show the Results window aka ODS output window showing the 3 outputs, and then the three print outputs created by the procedure, attributes, engine host, and variables. </a:t>
            </a:r>
          </a:p>
        </p:txBody>
      </p:sp>
      <p:sp>
        <p:nvSpPr>
          <p:cNvPr id="4" name="Slide Number Placeholder 3">
            <a:extLst>
              <a:ext uri="{FF2B5EF4-FFF2-40B4-BE49-F238E27FC236}">
                <a16:creationId xmlns:a16="http://schemas.microsoft.com/office/drawing/2014/main" id="{E7BBF8C5-437B-7CE0-54BF-BCA657FC26B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881275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366E3-4454-7A99-77F3-6541CDD475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966B2D-E79A-9540-3B77-EC84393FB4B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F8AFFF2-BA68-EE93-3281-1BACD09A9BAA}"/>
              </a:ext>
            </a:extLst>
          </p:cNvPr>
          <p:cNvSpPr>
            <a:spLocks noGrp="1"/>
          </p:cNvSpPr>
          <p:nvPr>
            <p:ph type="body" idx="1"/>
          </p:nvPr>
        </p:nvSpPr>
        <p:spPr/>
        <p:txBody>
          <a:bodyPr/>
          <a:lstStyle/>
          <a:p>
            <a:r>
              <a:rPr lang="en-US" dirty="0"/>
              <a:t>First, we show the Results window aka ODS output window showing the 3 outputs, and then the three print outputs created by the procedure, attributes, engine host, and variables. </a:t>
            </a:r>
          </a:p>
        </p:txBody>
      </p:sp>
      <p:sp>
        <p:nvSpPr>
          <p:cNvPr id="4" name="Slide Number Placeholder 3">
            <a:extLst>
              <a:ext uri="{FF2B5EF4-FFF2-40B4-BE49-F238E27FC236}">
                <a16:creationId xmlns:a16="http://schemas.microsoft.com/office/drawing/2014/main" id="{6DD3D7ED-FA56-3C09-A6A4-947A9374C29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415553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4D73B-BEF8-A96E-D0A6-F389C4B9BC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F03B68-0339-D19D-A31F-DB5D3D4A78B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D4840C4-F76D-6ADA-17A1-DA5F73FAB810}"/>
              </a:ext>
            </a:extLst>
          </p:cNvPr>
          <p:cNvSpPr>
            <a:spLocks noGrp="1"/>
          </p:cNvSpPr>
          <p:nvPr>
            <p:ph type="body" idx="1"/>
          </p:nvPr>
        </p:nvSpPr>
        <p:spPr/>
        <p:txBody>
          <a:bodyPr/>
          <a:lstStyle/>
          <a:p>
            <a:r>
              <a:rPr lang="en-US" dirty="0"/>
              <a:t>First, we show the Results window aka ODS output window showing the 3 outputs, and then the three print outputs created by the procedure, attributes, engine host, and variables. </a:t>
            </a:r>
          </a:p>
        </p:txBody>
      </p:sp>
      <p:sp>
        <p:nvSpPr>
          <p:cNvPr id="4" name="Slide Number Placeholder 3">
            <a:extLst>
              <a:ext uri="{FF2B5EF4-FFF2-40B4-BE49-F238E27FC236}">
                <a16:creationId xmlns:a16="http://schemas.microsoft.com/office/drawing/2014/main" id="{F1B8043A-5C0B-1166-AF90-B2A513C83C6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92546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34819-67A6-69AA-2C98-AA5C7E5F9B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08C52B-E685-36FC-9372-B8B49F712BB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11E1246-D195-A654-32A1-A0F4343E4C7E}"/>
              </a:ext>
            </a:extLst>
          </p:cNvPr>
          <p:cNvSpPr>
            <a:spLocks noGrp="1"/>
          </p:cNvSpPr>
          <p:nvPr>
            <p:ph type="body" idx="1"/>
          </p:nvPr>
        </p:nvSpPr>
        <p:spPr/>
        <p:txBody>
          <a:bodyPr/>
          <a:lstStyle/>
          <a:p>
            <a:r>
              <a:rPr lang="en-US" dirty="0"/>
              <a:t>First, we show the Results window aka ODS output window showing the 3 outputs, and then the three print outputs created by the procedure, attributes, engine host, and variables. </a:t>
            </a:r>
          </a:p>
        </p:txBody>
      </p:sp>
      <p:sp>
        <p:nvSpPr>
          <p:cNvPr id="4" name="Slide Number Placeholder 3">
            <a:extLst>
              <a:ext uri="{FF2B5EF4-FFF2-40B4-BE49-F238E27FC236}">
                <a16:creationId xmlns:a16="http://schemas.microsoft.com/office/drawing/2014/main" id="{9ECEFEDD-49A9-6D52-751B-63B66C9A669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24823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CEBB3-6CE9-C087-91F8-044BA3259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58510F-E25B-5814-F53B-82FFCB6BA63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16A958E-6143-5CB8-331B-B672A2A46C45}"/>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Now, we repeat the process for the contents procedure with order=Varnum. </a:t>
            </a:r>
          </a:p>
          <a:p>
            <a:endParaRPr lang="en-US" dirty="0"/>
          </a:p>
        </p:txBody>
      </p:sp>
      <p:sp>
        <p:nvSpPr>
          <p:cNvPr id="4" name="Slide Number Placeholder 3">
            <a:extLst>
              <a:ext uri="{FF2B5EF4-FFF2-40B4-BE49-F238E27FC236}">
                <a16:creationId xmlns:a16="http://schemas.microsoft.com/office/drawing/2014/main" id="{66138C9C-DF58-91B9-751A-6E4A837EE39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337422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D7B18-C326-9F0A-B144-80377283A6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962F3-A50F-F2A4-2BA7-92DC353664C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0FD5573-E325-7C65-8D10-52C98D99E52B}"/>
              </a:ext>
            </a:extLst>
          </p:cNvPr>
          <p:cNvSpPr>
            <a:spLocks noGrp="1"/>
          </p:cNvSpPr>
          <p:nvPr>
            <p:ph type="body" idx="1"/>
          </p:nvPr>
        </p:nvSpPr>
        <p:spPr/>
        <p:txBody>
          <a:bodyPr/>
          <a:lstStyle/>
          <a:p>
            <a:r>
              <a:rPr lang="en-US" dirty="0"/>
              <a:t>Again, we see the results window – but hey, what’s up? The ODS output objects are different – from the same procedure. Options can affect ODS output objects, just as the printed output changes.</a:t>
            </a:r>
          </a:p>
        </p:txBody>
      </p:sp>
      <p:sp>
        <p:nvSpPr>
          <p:cNvPr id="4" name="Slide Number Placeholder 3">
            <a:extLst>
              <a:ext uri="{FF2B5EF4-FFF2-40B4-BE49-F238E27FC236}">
                <a16:creationId xmlns:a16="http://schemas.microsoft.com/office/drawing/2014/main" id="{B662B681-1FDB-A354-BFEE-74F3AA7C57F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906945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660D8-A2BD-D2C4-36DE-CAF034F044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00C712-6225-3882-B2DB-84D573B2CF6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60D84C0-4F20-D57E-C5D4-C37D8A50A91C}"/>
              </a:ext>
            </a:extLst>
          </p:cNvPr>
          <p:cNvSpPr>
            <a:spLocks noGrp="1"/>
          </p:cNvSpPr>
          <p:nvPr>
            <p:ph type="body" idx="1"/>
          </p:nvPr>
        </p:nvSpPr>
        <p:spPr/>
        <p:txBody>
          <a:bodyPr/>
          <a:lstStyle/>
          <a:p>
            <a:r>
              <a:rPr lang="en-US" dirty="0"/>
              <a:t>Again, we see the results window – but hey, what’s up? The ODS output objects are different – from the same procedure. Options can affect ODS output objects, just as the printed output changes.</a:t>
            </a:r>
          </a:p>
        </p:txBody>
      </p:sp>
      <p:sp>
        <p:nvSpPr>
          <p:cNvPr id="4" name="Slide Number Placeholder 3">
            <a:extLst>
              <a:ext uri="{FF2B5EF4-FFF2-40B4-BE49-F238E27FC236}">
                <a16:creationId xmlns:a16="http://schemas.microsoft.com/office/drawing/2014/main" id="{5FFCCB7E-8C44-9579-4772-3747766FB31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61466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70EAE-C962-2601-75D5-054F0D6B52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D388E-017F-AFC6-50B9-C7694099D31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AFFD9C1-B69F-377A-8BBF-21FB4CCF47AA}"/>
              </a:ext>
            </a:extLst>
          </p:cNvPr>
          <p:cNvSpPr>
            <a:spLocks noGrp="1"/>
          </p:cNvSpPr>
          <p:nvPr>
            <p:ph type="body" idx="1"/>
          </p:nvPr>
        </p:nvSpPr>
        <p:spPr/>
        <p:txBody>
          <a:bodyPr/>
          <a:lstStyle/>
          <a:p>
            <a:r>
              <a:rPr lang="en-US" dirty="0"/>
              <a:t>Again, we see the results window – but hey, what’s up? The ODS output objects are different – from the same procedure. Options can affect ODS output objects, just as the printed output changes.</a:t>
            </a:r>
          </a:p>
        </p:txBody>
      </p:sp>
      <p:sp>
        <p:nvSpPr>
          <p:cNvPr id="4" name="Slide Number Placeholder 3">
            <a:extLst>
              <a:ext uri="{FF2B5EF4-FFF2-40B4-BE49-F238E27FC236}">
                <a16:creationId xmlns:a16="http://schemas.microsoft.com/office/drawing/2014/main" id="{9F97BC6E-5810-6505-5DC7-D2D2FB6EECD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604351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9AE70-DCD8-0037-4E19-21BC690CFA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F86EC-B35C-FFA9-5BB1-A23E7732D7C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1E80575-1C8B-72D2-84E0-84902A8D50B7}"/>
              </a:ext>
            </a:extLst>
          </p:cNvPr>
          <p:cNvSpPr>
            <a:spLocks noGrp="1"/>
          </p:cNvSpPr>
          <p:nvPr>
            <p:ph type="body" idx="1"/>
          </p:nvPr>
        </p:nvSpPr>
        <p:spPr/>
        <p:txBody>
          <a:bodyPr/>
          <a:lstStyle/>
          <a:p>
            <a:r>
              <a:rPr lang="en-US" dirty="0"/>
              <a:t>Again, we see the results window – but hey, what’s up? The ODS output objects are different – from the same procedure. Options can affect ODS output objects, just as the printed output changes.</a:t>
            </a:r>
          </a:p>
        </p:txBody>
      </p:sp>
      <p:sp>
        <p:nvSpPr>
          <p:cNvPr id="4" name="Slide Number Placeholder 3">
            <a:extLst>
              <a:ext uri="{FF2B5EF4-FFF2-40B4-BE49-F238E27FC236}">
                <a16:creationId xmlns:a16="http://schemas.microsoft.com/office/drawing/2014/main" id="{AE8CC3FC-50EE-C7B1-E157-4DEC06BCFA5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571523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EBF9F-F2E5-DF5B-6F99-361B98E74A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957D8-10DC-28DB-F50E-C548DD570CB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D49A99B-4203-5FFB-96BA-7ABC2ECABD5A}"/>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Sometimes, external processes affect ODS output objects, for example, running proc contents on a sorted data set. </a:t>
            </a:r>
          </a:p>
          <a:p>
            <a:endParaRPr lang="en-US" dirty="0"/>
          </a:p>
        </p:txBody>
      </p:sp>
      <p:sp>
        <p:nvSpPr>
          <p:cNvPr id="4" name="Slide Number Placeholder 3">
            <a:extLst>
              <a:ext uri="{FF2B5EF4-FFF2-40B4-BE49-F238E27FC236}">
                <a16:creationId xmlns:a16="http://schemas.microsoft.com/office/drawing/2014/main" id="{15659A95-BB8E-7239-3FA7-5F17D3DF42B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964883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4E41B-29AD-FF9B-E04F-89188D26CC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00AF4E-0591-548B-B50B-5D9362F2035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B5082E7-60A8-F1CE-B430-C02B331F2FBD}"/>
              </a:ext>
            </a:extLst>
          </p:cNvPr>
          <p:cNvSpPr>
            <a:spLocks noGrp="1"/>
          </p:cNvSpPr>
          <p:nvPr>
            <p:ph type="body" idx="1"/>
          </p:nvPr>
        </p:nvSpPr>
        <p:spPr/>
        <p:txBody>
          <a:bodyPr/>
          <a:lstStyle/>
          <a:p>
            <a:r>
              <a:rPr lang="en-US" dirty="0"/>
              <a:t>This time, a new ODS object is created, the </a:t>
            </a:r>
            <a:r>
              <a:rPr lang="en-US" dirty="0" err="1"/>
              <a:t>sortedby</a:t>
            </a:r>
            <a:r>
              <a:rPr lang="en-US" dirty="0"/>
              <a:t> object. You can use this to display how your data set is sorted – and, you don’t get this information in PROC CONTENTS Out=. (It is present in the printed output).</a:t>
            </a:r>
          </a:p>
        </p:txBody>
      </p:sp>
      <p:sp>
        <p:nvSpPr>
          <p:cNvPr id="4" name="Slide Number Placeholder 3">
            <a:extLst>
              <a:ext uri="{FF2B5EF4-FFF2-40B4-BE49-F238E27FC236}">
                <a16:creationId xmlns:a16="http://schemas.microsoft.com/office/drawing/2014/main" id="{70717518-C632-AAB1-0BCF-2A7C46B2B46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905470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E640E-63E1-054A-FCC9-EE05D16531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236003-953D-BFF7-3A4E-A81E42DC46C1}"/>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7982B2B-E666-346B-0A7C-4F5D3B3189EF}"/>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Similarly, if a file is indexed, a new ODS output object is created</a:t>
            </a:r>
          </a:p>
          <a:p>
            <a:endParaRPr lang="en-US" dirty="0"/>
          </a:p>
        </p:txBody>
      </p:sp>
      <p:sp>
        <p:nvSpPr>
          <p:cNvPr id="4" name="Slide Number Placeholder 3">
            <a:extLst>
              <a:ext uri="{FF2B5EF4-FFF2-40B4-BE49-F238E27FC236}">
                <a16:creationId xmlns:a16="http://schemas.microsoft.com/office/drawing/2014/main" id="{484F51B5-EDD8-67F7-A48A-323BB9D5C6A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649131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631B8-D08A-35B7-60D9-26EFEF6881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4B81B0-B8A3-A289-9895-591924766FF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111996D-E0EE-E4BD-1805-C674C2F7D318}"/>
              </a:ext>
            </a:extLst>
          </p:cNvPr>
          <p:cNvSpPr>
            <a:spLocks noGrp="1"/>
          </p:cNvSpPr>
          <p:nvPr>
            <p:ph type="body" idx="1"/>
          </p:nvPr>
        </p:nvSpPr>
        <p:spPr/>
        <p:txBody>
          <a:bodyPr/>
          <a:lstStyle/>
          <a:p>
            <a:r>
              <a:rPr lang="en-US" dirty="0"/>
              <a:t>Again, our results window shows an index OOO with info on the indexing.</a:t>
            </a:r>
          </a:p>
        </p:txBody>
      </p:sp>
      <p:sp>
        <p:nvSpPr>
          <p:cNvPr id="4" name="Slide Number Placeholder 3">
            <a:extLst>
              <a:ext uri="{FF2B5EF4-FFF2-40B4-BE49-F238E27FC236}">
                <a16:creationId xmlns:a16="http://schemas.microsoft.com/office/drawing/2014/main" id="{5544096C-78B2-EFD2-2237-979A21966AC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775696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5F9CD-2DE8-FD0E-EC82-6C354CC3B6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EE53ED-6066-A6BA-52BB-92DC1B4BCE7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6C32B26-C02B-DC6A-7792-81D68B707744}"/>
              </a:ext>
            </a:extLst>
          </p:cNvPr>
          <p:cNvSpPr>
            <a:spLocks noGrp="1"/>
          </p:cNvSpPr>
          <p:nvPr>
            <p:ph type="body" idx="1"/>
          </p:nvPr>
        </p:nvSpPr>
        <p:spPr/>
        <p:txBody>
          <a:bodyPr/>
          <a:lstStyle/>
          <a:p>
            <a:r>
              <a:rPr lang="en-US" dirty="0"/>
              <a:t>We’ve seen the results window, and now we are going to look at the log equivalents. Note that in some cases, the output name is different (like Varnum and position). When you “harvest” your OOOs, you need to use the name in the log. The log also gives you some additional information, like label, template and path. You can also use the full path provided to access the OOOs. </a:t>
            </a:r>
          </a:p>
        </p:txBody>
      </p:sp>
      <p:sp>
        <p:nvSpPr>
          <p:cNvPr id="4" name="Slide Number Placeholder 3">
            <a:extLst>
              <a:ext uri="{FF2B5EF4-FFF2-40B4-BE49-F238E27FC236}">
                <a16:creationId xmlns:a16="http://schemas.microsoft.com/office/drawing/2014/main" id="{235EE0DC-F067-CF59-4816-9656B015C5A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159917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B3DDE-977B-5FFB-C260-AF6FEC5D8B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DCF9E6-E941-0D75-08E4-55F3157EE62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87C110B-CCC9-A6D2-B689-99D4A06C80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2BD19E-2239-C7A6-B1AB-C5975A73192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28903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10917-0752-89E3-BE5D-C12EC65819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642C07-1CDB-6762-1E1A-3F8F679FD001}"/>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17F263A-848B-F31B-75D1-C4EC795C2EC0}"/>
              </a:ext>
            </a:extLst>
          </p:cNvPr>
          <p:cNvSpPr>
            <a:spLocks noGrp="1"/>
          </p:cNvSpPr>
          <p:nvPr>
            <p:ph type="body" idx="1"/>
          </p:nvPr>
        </p:nvSpPr>
        <p:spPr/>
        <p:txBody>
          <a:bodyPr/>
          <a:lstStyle/>
          <a:p>
            <a:r>
              <a:rPr lang="en-US" dirty="0"/>
              <a:t>There are ODS commands to control what you see, or don’t see in terms of ODS Output Objects. This is very powerful, but you also need to be very careful, because you may suppress information that you need to see. Here, of the many outputs produced by PROC REQ, we use ODS SELECT to cherry pick our OOOs, choosing only ANOVA and FIT Stats. Similarly, there’s an ODS Exclude statement to prevent ODS output objects from being created, and an ODS SHOW statement to show what OOOs are in effect.</a:t>
            </a:r>
          </a:p>
        </p:txBody>
      </p:sp>
      <p:sp>
        <p:nvSpPr>
          <p:cNvPr id="4" name="Slide Number Placeholder 3">
            <a:extLst>
              <a:ext uri="{FF2B5EF4-FFF2-40B4-BE49-F238E27FC236}">
                <a16:creationId xmlns:a16="http://schemas.microsoft.com/office/drawing/2014/main" id="{B12BEBFC-8ACA-26FB-F534-05B5E4501B2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309926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60720-40FA-462F-16F0-465EB306F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6EBE41-D96F-EDC2-C96B-22A1CF29A96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EFD52D2-072D-78E6-36C1-C8D0A1A36937}"/>
              </a:ext>
            </a:extLst>
          </p:cNvPr>
          <p:cNvSpPr>
            <a:spLocks noGrp="1"/>
          </p:cNvSpPr>
          <p:nvPr>
            <p:ph type="body" idx="1"/>
          </p:nvPr>
        </p:nvSpPr>
        <p:spPr/>
        <p:txBody>
          <a:bodyPr/>
          <a:lstStyle/>
          <a:p>
            <a:pPr marL="0" indent="0">
              <a:buNone/>
            </a:pPr>
            <a:r>
              <a:rPr lang="en-US" dirty="0"/>
              <a:t>Similarly, we can prevent a OOO from getting created by using an ODS Exclude statement, (in this case Parameter Estimates) and an ODS SHOW statement to show what SELECT and EXCLUDE statements  are in effect. In case you haven’t noticed, there’s a LOT of ODS Output Objects created automatically – and maybe you don’t want all of them. This is a way of managing results directory creep. As I said before, be careful though – it’s important to know what’s going on under the hood and automatic exclusion can leave you unaware.</a:t>
            </a:r>
          </a:p>
        </p:txBody>
      </p:sp>
      <p:sp>
        <p:nvSpPr>
          <p:cNvPr id="4" name="Slide Number Placeholder 3">
            <a:extLst>
              <a:ext uri="{FF2B5EF4-FFF2-40B4-BE49-F238E27FC236}">
                <a16:creationId xmlns:a16="http://schemas.microsoft.com/office/drawing/2014/main" id="{547F3559-9127-D1CC-01E5-67BC402AB45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95451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9F4F7-2789-58BE-5BD4-5B965591BE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A47C2-5989-56FB-5561-D794AB4818C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5087AB3-DECF-354E-C0AE-F6414129D656}"/>
              </a:ext>
            </a:extLst>
          </p:cNvPr>
          <p:cNvSpPr>
            <a:spLocks noGrp="1"/>
          </p:cNvSpPr>
          <p:nvPr>
            <p:ph type="body" idx="1"/>
          </p:nvPr>
        </p:nvSpPr>
        <p:spPr/>
        <p:txBody>
          <a:bodyPr/>
          <a:lstStyle/>
          <a:p>
            <a:r>
              <a:rPr lang="en-US" dirty="0"/>
              <a:t>Speaking of OOOs… </a:t>
            </a:r>
            <a:r>
              <a:rPr lang="en-US" sz="1200" kern="1200" dirty="0">
                <a:solidFill>
                  <a:schemeClr val="tx1"/>
                </a:solidFill>
                <a:effectLst/>
                <a:latin typeface="+mn-lt"/>
                <a:ea typeface="+mn-ea"/>
                <a:cs typeface="+mn-cs"/>
              </a:rPr>
              <a:t>Once we know what ODS OUTPUT OBJECTS (or OOOs) have been created by our programs, we can explore them. We have seen that in Display Manager it is possible to click on objects in the results window to the left, which opens the object, and get some idea of what has been created, and even save those temporary ODS Output objects from the results window, but in order to do some adaptive reuse on the OOOs you need more. That is where ODS OUTPUT comes in. Going back to PROC CONTENTS, we generate work or permanent data sets from the temporary ODS OUTPUT OBJECTS. Using the object names gleaned from ODS TRACE for PROC CONTENTS COLLATE, we can write an ODS OUTPUT statement, outputting attributes, enginehost, and variables.</a:t>
            </a:r>
            <a:endParaRPr lang="en-US" dirty="0"/>
          </a:p>
        </p:txBody>
      </p:sp>
      <p:sp>
        <p:nvSpPr>
          <p:cNvPr id="4" name="Slide Number Placeholder 3">
            <a:extLst>
              <a:ext uri="{FF2B5EF4-FFF2-40B4-BE49-F238E27FC236}">
                <a16:creationId xmlns:a16="http://schemas.microsoft.com/office/drawing/2014/main" id="{EC934CC2-30FF-C3A8-DC90-0DD9AB75B66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217429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C5BC-8C84-87E9-AC23-17EF1E024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08F082-2FBD-2657-CBED-49FF49488EC1}"/>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2A6CA10-CEB0-B721-3443-D6524260233E}"/>
              </a:ext>
            </a:extLst>
          </p:cNvPr>
          <p:cNvSpPr>
            <a:spLocks noGrp="1"/>
          </p:cNvSpPr>
          <p:nvPr>
            <p:ph type="body" idx="1"/>
          </p:nvPr>
        </p:nvSpPr>
        <p:spPr/>
        <p:txBody>
          <a:bodyPr/>
          <a:lstStyle/>
          <a:p>
            <a:r>
              <a:rPr lang="en-US" dirty="0"/>
              <a:t>We have already determined that the ODS output objects for PROC CONTENTS COLLATE are Attributes, Enginehost, and Variables. These data sets are ephemeral and only exist during a SAS session, whether it is batch or interactive. Therefore, we need to preserve them as either work or permanent data sets. The way to do this is to use an ODS OUTPUT sandwich. The code in red at the top saves our three ODS Output data sets as work data sets with the same name with 1 added. Although you CAN name the work files to be the same name as the ODS output object names, that isn’t advisable due to the potential for ods output objects.  Once you have assigned your output objects to work data sets, close ODS OUTPUT at the bottom of your ODS sandwich. </a:t>
            </a:r>
          </a:p>
        </p:txBody>
      </p:sp>
      <p:sp>
        <p:nvSpPr>
          <p:cNvPr id="4" name="Slide Number Placeholder 3">
            <a:extLst>
              <a:ext uri="{FF2B5EF4-FFF2-40B4-BE49-F238E27FC236}">
                <a16:creationId xmlns:a16="http://schemas.microsoft.com/office/drawing/2014/main" id="{628FD400-D972-A004-EF36-4B70FA4318A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015092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9E4C8-D196-1D1E-9A8F-36A6611D3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1CD4BD-34FA-F4F4-2A92-8EE54D0A526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4FC1400-4861-7EC1-5910-D53294049A29}"/>
              </a:ext>
            </a:extLst>
          </p:cNvPr>
          <p:cNvSpPr>
            <a:spLocks noGrp="1"/>
          </p:cNvSpPr>
          <p:nvPr>
            <p:ph type="body" idx="1"/>
          </p:nvPr>
        </p:nvSpPr>
        <p:spPr/>
        <p:txBody>
          <a:bodyPr/>
          <a:lstStyle/>
          <a:p>
            <a:r>
              <a:rPr lang="en-US" dirty="0"/>
              <a:t>Now, let’s the result of the operation. After running the code above, we see to the left DM explorer the SAS environment (libraries, folders, etc.) and clicking on the Work library allows us to see the created work SAS data sets along with work formats and macros for the session – and to the right, we see the ods output objects created by the procedures. It’s important to note that although the names are similar, the files and ODS objects are not the same. </a:t>
            </a:r>
          </a:p>
        </p:txBody>
      </p:sp>
      <p:sp>
        <p:nvSpPr>
          <p:cNvPr id="4" name="Slide Number Placeholder 3">
            <a:extLst>
              <a:ext uri="{FF2B5EF4-FFF2-40B4-BE49-F238E27FC236}">
                <a16:creationId xmlns:a16="http://schemas.microsoft.com/office/drawing/2014/main" id="{78450550-4ED6-ED04-8E98-03AFB472C45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980923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5C521-5F61-4F10-FB72-F861C85D36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FEE995-B164-0CF8-743E-15018534B88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2558A35-F512-14EF-1312-621C5BAF1DAA}"/>
              </a:ext>
            </a:extLst>
          </p:cNvPr>
          <p:cNvSpPr>
            <a:spLocks noGrp="1"/>
          </p:cNvSpPr>
          <p:nvPr>
            <p:ph type="body" idx="1"/>
          </p:nvPr>
        </p:nvSpPr>
        <p:spPr/>
        <p:txBody>
          <a:bodyPr/>
          <a:lstStyle/>
          <a:p>
            <a:r>
              <a:rPr lang="en-US" dirty="0"/>
              <a:t>Next, we are going to investigate our WORK files generated by ODS Output Objects by using PROC CONTENTS and PROC PRINT.  Shown on this slide is the Engine Host work data set. Note that SAS provides both a character and numeric version of variables – character is generally what SAS puts in their listing output, numeric allows you to do any special formatting that may be required in your reports.</a:t>
            </a:r>
          </a:p>
        </p:txBody>
      </p:sp>
      <p:sp>
        <p:nvSpPr>
          <p:cNvPr id="4" name="Slide Number Placeholder 3">
            <a:extLst>
              <a:ext uri="{FF2B5EF4-FFF2-40B4-BE49-F238E27FC236}">
                <a16:creationId xmlns:a16="http://schemas.microsoft.com/office/drawing/2014/main" id="{7D705F68-3B08-EF81-FADE-EA06D80EBAF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803673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8F047-11D2-5CDC-C828-6CE4229046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A82FD3-A031-FF95-0634-6EC4ED45373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A5C7326-9608-E711-C06D-25D60D494BAF}"/>
              </a:ext>
            </a:extLst>
          </p:cNvPr>
          <p:cNvSpPr>
            <a:spLocks noGrp="1"/>
          </p:cNvSpPr>
          <p:nvPr>
            <p:ph type="body" idx="1"/>
          </p:nvPr>
        </p:nvSpPr>
        <p:spPr/>
        <p:txBody>
          <a:bodyPr/>
          <a:lstStyle/>
          <a:p>
            <a:r>
              <a:rPr lang="en-US" dirty="0"/>
              <a:t>Next is the work attributes data set. Note that there are multiple values and labels on the same line, as well as cvalues and nvalues. </a:t>
            </a:r>
          </a:p>
        </p:txBody>
      </p:sp>
      <p:sp>
        <p:nvSpPr>
          <p:cNvPr id="4" name="Slide Number Placeholder 3">
            <a:extLst>
              <a:ext uri="{FF2B5EF4-FFF2-40B4-BE49-F238E27FC236}">
                <a16:creationId xmlns:a16="http://schemas.microsoft.com/office/drawing/2014/main" id="{CB8FF3A7-58C6-42F0-B782-F7C9CB5ECCB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946743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36724-6DD9-4CFE-1901-0E6C2DC5F3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68CA4C-EAE1-D3D2-7499-1FF969BB347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08DB232-70D8-F505-F92C-AF2931C3A6EF}"/>
              </a:ext>
            </a:extLst>
          </p:cNvPr>
          <p:cNvSpPr>
            <a:spLocks noGrp="1"/>
          </p:cNvSpPr>
          <p:nvPr>
            <p:ph type="body" idx="1"/>
          </p:nvPr>
        </p:nvSpPr>
        <p:spPr/>
        <p:txBody>
          <a:bodyPr/>
          <a:lstStyle/>
          <a:p>
            <a:r>
              <a:rPr lang="en-US" dirty="0"/>
              <a:t>And finally the variables, which speak for themselves. </a:t>
            </a:r>
          </a:p>
        </p:txBody>
      </p:sp>
      <p:sp>
        <p:nvSpPr>
          <p:cNvPr id="4" name="Slide Number Placeholder 3">
            <a:extLst>
              <a:ext uri="{FF2B5EF4-FFF2-40B4-BE49-F238E27FC236}">
                <a16:creationId xmlns:a16="http://schemas.microsoft.com/office/drawing/2014/main" id="{39AAA1C9-B128-3614-6F63-11F87FD4EAC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827698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79A7E-0676-34E9-89EE-BDFF3AA83E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F4AF52-BDFA-0C86-10D4-682FE378671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61C5499-DE8A-1DC0-AFBF-B58D28204B91}"/>
              </a:ext>
            </a:extLst>
          </p:cNvPr>
          <p:cNvSpPr>
            <a:spLocks noGrp="1"/>
          </p:cNvSpPr>
          <p:nvPr>
            <p:ph type="body" idx="1"/>
          </p:nvPr>
        </p:nvSpPr>
        <p:spPr/>
        <p:txBody>
          <a:bodyPr/>
          <a:lstStyle/>
          <a:p>
            <a:r>
              <a:rPr lang="en-US" dirty="0"/>
              <a:t>Plots are ODS Output Objects too!</a:t>
            </a:r>
          </a:p>
        </p:txBody>
      </p:sp>
      <p:sp>
        <p:nvSpPr>
          <p:cNvPr id="4" name="Slide Number Placeholder 3">
            <a:extLst>
              <a:ext uri="{FF2B5EF4-FFF2-40B4-BE49-F238E27FC236}">
                <a16:creationId xmlns:a16="http://schemas.microsoft.com/office/drawing/2014/main" id="{42756EFF-E2F0-023F-3C91-F0974EE04B0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567704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A23AD-F196-F2F5-B672-F0714C1D6D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95F9D4-8BF9-EF18-FD90-5835F1C2E9A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1CC5C7BA-8E3D-4F68-194E-E3BC3A9BB1E1}"/>
              </a:ext>
            </a:extLst>
          </p:cNvPr>
          <p:cNvSpPr>
            <a:spLocks noGrp="1"/>
          </p:cNvSpPr>
          <p:nvPr>
            <p:ph type="body" idx="1"/>
          </p:nvPr>
        </p:nvSpPr>
        <p:spPr/>
        <p:txBody>
          <a:bodyPr/>
          <a:lstStyle/>
          <a:p>
            <a:r>
              <a:rPr lang="en-US" dirty="0"/>
              <a:t>ODS listing SGE=on turns on the SAS Graphics editor</a:t>
            </a:r>
          </a:p>
          <a:p>
            <a:r>
              <a:rPr lang="en-US" dirty="0"/>
              <a:t>ODS graphics turns graphics on – remember to turn on ODS SELECT ALL when you are done!</a:t>
            </a:r>
          </a:p>
          <a:p>
            <a:r>
              <a:rPr lang="en-US" dirty="0"/>
              <a:t>Second set restricts output</a:t>
            </a:r>
          </a:p>
          <a:p>
            <a:r>
              <a:rPr lang="en-US" dirty="0"/>
              <a:t>And of course, turn everything off again</a:t>
            </a:r>
          </a:p>
          <a:p>
            <a:endParaRPr lang="en-US" dirty="0"/>
          </a:p>
        </p:txBody>
      </p:sp>
      <p:sp>
        <p:nvSpPr>
          <p:cNvPr id="4" name="Slide Number Placeholder 3">
            <a:extLst>
              <a:ext uri="{FF2B5EF4-FFF2-40B4-BE49-F238E27FC236}">
                <a16:creationId xmlns:a16="http://schemas.microsoft.com/office/drawing/2014/main" id="{485475FB-E901-6583-0AD2-7F975C047D1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690366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923E2-34AC-1A2F-432E-F5CA5A1030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961E73-2028-ED53-AFE1-E1E5AD120F9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DA61CEC-B170-D357-4AF1-1FD9BF3C7571}"/>
              </a:ext>
            </a:extLst>
          </p:cNvPr>
          <p:cNvSpPr>
            <a:spLocks noGrp="1"/>
          </p:cNvSpPr>
          <p:nvPr>
            <p:ph type="body" idx="1"/>
          </p:nvPr>
        </p:nvSpPr>
        <p:spPr/>
        <p:txBody>
          <a:bodyPr/>
          <a:lstStyle/>
          <a:p>
            <a:r>
              <a:rPr lang="en-US" dirty="0"/>
              <a:t>On the left side, you see the results window from proc univariate with plots and SGE on. You can see that plots have been created and if you click on the three different plot images, you will get (a) redirected to results window print, (b) open png file in image editor, or c – if you have the SAS Graphics Editor – open in SGE. SGE allows you to actually edit an image, and to output the template code resulting from your edits. Pretty cool. </a:t>
            </a:r>
          </a:p>
        </p:txBody>
      </p:sp>
      <p:sp>
        <p:nvSpPr>
          <p:cNvPr id="4" name="Slide Number Placeholder 3">
            <a:extLst>
              <a:ext uri="{FF2B5EF4-FFF2-40B4-BE49-F238E27FC236}">
                <a16:creationId xmlns:a16="http://schemas.microsoft.com/office/drawing/2014/main" id="{06561859-7CFA-E4F1-6C87-A4949A16E68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142910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30DA4-C5C3-8D60-B572-912C7E47AE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C2226F-3B94-7B59-F624-7E88BBE53EB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DB33C35-4A75-ADE6-BEEA-9A0567B8A026}"/>
              </a:ext>
            </a:extLst>
          </p:cNvPr>
          <p:cNvSpPr>
            <a:spLocks noGrp="1"/>
          </p:cNvSpPr>
          <p:nvPr>
            <p:ph type="body" idx="1"/>
          </p:nvPr>
        </p:nvSpPr>
        <p:spPr/>
        <p:txBody>
          <a:bodyPr/>
          <a:lstStyle/>
          <a:p>
            <a:r>
              <a:rPr lang="en-US" dirty="0"/>
              <a:t>And here is the log trace showing the information on the plots created.</a:t>
            </a:r>
          </a:p>
        </p:txBody>
      </p:sp>
      <p:sp>
        <p:nvSpPr>
          <p:cNvPr id="4" name="Slide Number Placeholder 3">
            <a:extLst>
              <a:ext uri="{FF2B5EF4-FFF2-40B4-BE49-F238E27FC236}">
                <a16:creationId xmlns:a16="http://schemas.microsoft.com/office/drawing/2014/main" id="{414C1349-30D0-5097-0C85-530BC87B813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209807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Let’s put what we’ve learned about ODS output objects in action. In my professional life, I spend a lot of time manipulating data to create files for analytic research and dashboards. There may be standards to meet, and templates for reporting. OOOs can help! First up, we will look at PROC SURVEYFREQ OOOs and see what we can make of them.</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91086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1239E-5525-249D-829C-292A56565C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4278F0-CA24-301E-1D41-D9919817553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B8678A3-F7DD-41C6-67E1-D500103A477F}"/>
              </a:ext>
            </a:extLst>
          </p:cNvPr>
          <p:cNvSpPr>
            <a:spLocks noGrp="1"/>
          </p:cNvSpPr>
          <p:nvPr>
            <p:ph type="body" idx="1"/>
          </p:nvPr>
        </p:nvSpPr>
        <p:spPr/>
        <p:txBody>
          <a:bodyPr/>
          <a:lstStyle/>
          <a:p>
            <a:r>
              <a:rPr lang="en-US" dirty="0"/>
              <a:t>Procedural options make a difference! We’ve seen different ODS objects created by different options – but the ODS objects themselves can change with options as well. Just a reminder to always check your log AND the analysis of your ODS objects (contents / test print). Here, we see that adding the row option to PROC SURVEYFREQ add 3 new variables to the CrossTabs ODS object.</a:t>
            </a:r>
          </a:p>
        </p:txBody>
      </p:sp>
      <p:sp>
        <p:nvSpPr>
          <p:cNvPr id="4" name="Slide Number Placeholder 3">
            <a:extLst>
              <a:ext uri="{FF2B5EF4-FFF2-40B4-BE49-F238E27FC236}">
                <a16:creationId xmlns:a16="http://schemas.microsoft.com/office/drawing/2014/main" id="{33C04E39-7C19-7A6F-D150-C05C0A3CB2E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457498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AD913-3AF0-789D-7357-4EBEF83648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63B49B-EF1C-FABB-0BCC-0CA96C9A2FB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9858E3A-110D-0547-BA02-EAAD97753D77}"/>
              </a:ext>
            </a:extLst>
          </p:cNvPr>
          <p:cNvSpPr>
            <a:spLocks noGrp="1"/>
          </p:cNvSpPr>
          <p:nvPr>
            <p:ph type="body" idx="1"/>
          </p:nvPr>
        </p:nvSpPr>
        <p:spPr/>
        <p:txBody>
          <a:bodyPr/>
          <a:lstStyle/>
          <a:p>
            <a:r>
              <a:rPr lang="en-US" dirty="0"/>
              <a:t>Procedural options make a difference! We’ve seen different ODS objects created by different options – but the ODS objects themselves can change with options as well. Just a reminder to always check your log AND the analysis of your ODS objects (contents / test print). Here, we see that adding the row option to PROC SURVEYFREQ add 3 new variables to the CrossTabs ODS object.</a:t>
            </a:r>
          </a:p>
        </p:txBody>
      </p:sp>
      <p:sp>
        <p:nvSpPr>
          <p:cNvPr id="4" name="Slide Number Placeholder 3">
            <a:extLst>
              <a:ext uri="{FF2B5EF4-FFF2-40B4-BE49-F238E27FC236}">
                <a16:creationId xmlns:a16="http://schemas.microsoft.com/office/drawing/2014/main" id="{BF4F34C1-E5D7-2046-E5A4-D13272127DF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0029827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9976A-9DD6-3047-A182-DAF321E646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E04E9-978C-D3AF-6C43-E7F49DBD3921}"/>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D0D5B9B-BDB2-FAD5-D5D7-7DDEB8753CC5}"/>
              </a:ext>
            </a:extLst>
          </p:cNvPr>
          <p:cNvSpPr>
            <a:spLocks noGrp="1"/>
          </p:cNvSpPr>
          <p:nvPr>
            <p:ph type="body" idx="1"/>
          </p:nvPr>
        </p:nvSpPr>
        <p:spPr/>
        <p:txBody>
          <a:bodyPr/>
          <a:lstStyle/>
          <a:p>
            <a:r>
              <a:rPr lang="en-US" dirty="0"/>
              <a:t>Procedural options make a difference! We’ve seen different ODS objects created by different options – but the ODS objects themselves can change with options as well. Just a reminder to always check your log AND the analysis of your ODS objects (contents / test print). Here, we see that adding the row option to PROC SURVEYFREQ add 3 new variables to the CrossTabs ODS object.</a:t>
            </a:r>
          </a:p>
        </p:txBody>
      </p:sp>
      <p:sp>
        <p:nvSpPr>
          <p:cNvPr id="4" name="Slide Number Placeholder 3">
            <a:extLst>
              <a:ext uri="{FF2B5EF4-FFF2-40B4-BE49-F238E27FC236}">
                <a16:creationId xmlns:a16="http://schemas.microsoft.com/office/drawing/2014/main" id="{CC8DC3FD-CA83-0BDD-29BD-E6F9B965541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193203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D40EF-0E50-2E42-E059-C5B1DAD01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3919C5-2173-5973-14D5-5DD4CC27462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13E204C6-9986-6089-F7AA-C1C5C85CF4D4}"/>
              </a:ext>
            </a:extLst>
          </p:cNvPr>
          <p:cNvSpPr>
            <a:spLocks noGrp="1"/>
          </p:cNvSpPr>
          <p:nvPr>
            <p:ph type="body" idx="1"/>
          </p:nvPr>
        </p:nvSpPr>
        <p:spPr/>
        <p:txBody>
          <a:bodyPr/>
          <a:lstStyle/>
          <a:p>
            <a:r>
              <a:rPr lang="en-US" dirty="0"/>
              <a:t>So, how do we get from the objects above to this, without cutting and pasting or post formatting the spreadsheet?</a:t>
            </a:r>
          </a:p>
        </p:txBody>
      </p:sp>
      <p:sp>
        <p:nvSpPr>
          <p:cNvPr id="4" name="Slide Number Placeholder 3">
            <a:extLst>
              <a:ext uri="{FF2B5EF4-FFF2-40B4-BE49-F238E27FC236}">
                <a16:creationId xmlns:a16="http://schemas.microsoft.com/office/drawing/2014/main" id="{24BAE049-35D9-27B1-DD63-7ECEA6E6C7E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058686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B1CDC-B415-8A1E-F5BB-9AD6BD5DDF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A9A6A1-D9F5-8E01-17F3-436A7722391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5AA6704-C567-2F63-65FE-CACB7F6E925F}"/>
              </a:ext>
            </a:extLst>
          </p:cNvPr>
          <p:cNvSpPr>
            <a:spLocks noGrp="1"/>
          </p:cNvSpPr>
          <p:nvPr>
            <p:ph type="body" idx="1"/>
          </p:nvPr>
        </p:nvSpPr>
        <p:spPr/>
        <p:txBody>
          <a:bodyPr/>
          <a:lstStyle/>
          <a:p>
            <a:r>
              <a:rPr lang="en-US" dirty="0"/>
              <a:t>Three fairly major steps. There’s a lot packed into these steps, but I promise it’s worth it. You’ll be able to make changes to variables, formatting, etc., pretty easily with minor modifications of the code. </a:t>
            </a:r>
          </a:p>
        </p:txBody>
      </p:sp>
      <p:sp>
        <p:nvSpPr>
          <p:cNvPr id="4" name="Slide Number Placeholder 3">
            <a:extLst>
              <a:ext uri="{FF2B5EF4-FFF2-40B4-BE49-F238E27FC236}">
                <a16:creationId xmlns:a16="http://schemas.microsoft.com/office/drawing/2014/main" id="{30EA752F-A150-B9A0-3D14-B17AAC44B71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1386042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D5969-DF94-D86F-844D-CD3060478F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D00637-3556-E22B-B1AB-2AF4CF8E6B7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650779C-3B23-92E7-9ADB-31AB60A8B96C}"/>
              </a:ext>
            </a:extLst>
          </p:cNvPr>
          <p:cNvSpPr>
            <a:spLocks noGrp="1"/>
          </p:cNvSpPr>
          <p:nvPr>
            <p:ph type="body" idx="1"/>
          </p:nvPr>
        </p:nvSpPr>
        <p:spPr/>
        <p:txBody>
          <a:bodyPr/>
          <a:lstStyle/>
          <a:p>
            <a:r>
              <a:rPr lang="en-US" dirty="0"/>
              <a:t>First animation: combining ods output objects for bmi categories and setting different tablevars into a single DB – this is on LHS and BMI_CAT level</a:t>
            </a:r>
          </a:p>
        </p:txBody>
      </p:sp>
      <p:sp>
        <p:nvSpPr>
          <p:cNvPr id="4" name="Slide Number Placeholder 3">
            <a:extLst>
              <a:ext uri="{FF2B5EF4-FFF2-40B4-BE49-F238E27FC236}">
                <a16:creationId xmlns:a16="http://schemas.microsoft.com/office/drawing/2014/main" id="{A45D8CF3-6C10-F8B0-9942-36656D4228A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5016235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47E3C-80DD-1391-A991-58761A43B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42449D-5DD1-F1E5-2D46-8D0EDD3BAF2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E6D0728-4A76-2B85-102B-14D0CE925A3F}"/>
              </a:ext>
            </a:extLst>
          </p:cNvPr>
          <p:cNvSpPr>
            <a:spLocks noGrp="1"/>
          </p:cNvSpPr>
          <p:nvPr>
            <p:ph type="body" idx="1"/>
          </p:nvPr>
        </p:nvSpPr>
        <p:spPr/>
        <p:txBody>
          <a:bodyPr/>
          <a:lstStyle/>
          <a:p>
            <a:r>
              <a:rPr lang="en-US" dirty="0"/>
              <a:t>Second animation: Next, we split the data set into different bmi categories and total</a:t>
            </a:r>
          </a:p>
        </p:txBody>
      </p:sp>
      <p:sp>
        <p:nvSpPr>
          <p:cNvPr id="4" name="Slide Number Placeholder 3">
            <a:extLst>
              <a:ext uri="{FF2B5EF4-FFF2-40B4-BE49-F238E27FC236}">
                <a16:creationId xmlns:a16="http://schemas.microsoft.com/office/drawing/2014/main" id="{2360A8C2-7421-3C94-941C-4A187AD74B1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523156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01DD4-1EB0-3570-D081-BD1C97883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BC7AF7-0A43-F4D5-D667-193B28954F5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AD2C02F-A688-459F-704A-0773A868650D}"/>
              </a:ext>
            </a:extLst>
          </p:cNvPr>
          <p:cNvSpPr>
            <a:spLocks noGrp="1"/>
          </p:cNvSpPr>
          <p:nvPr>
            <p:ph type="body" idx="1"/>
          </p:nvPr>
        </p:nvSpPr>
        <p:spPr/>
        <p:txBody>
          <a:bodyPr/>
          <a:lstStyle/>
          <a:p>
            <a:r>
              <a:rPr lang="en-US" dirty="0"/>
              <a:t>Third animation: Massage the 5 different data sets, rename variables, etc.</a:t>
            </a:r>
          </a:p>
        </p:txBody>
      </p:sp>
      <p:sp>
        <p:nvSpPr>
          <p:cNvPr id="4" name="Slide Number Placeholder 3">
            <a:extLst>
              <a:ext uri="{FF2B5EF4-FFF2-40B4-BE49-F238E27FC236}">
                <a16:creationId xmlns:a16="http://schemas.microsoft.com/office/drawing/2014/main" id="{99C9B0A3-274C-7827-3F8E-56A81B600AC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560891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FD3AF-C111-BD3A-3EAC-FC70E3777B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E720DF-BFC8-7A37-7067-DF9D32BE2BC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114A337-1667-F8DB-6887-91A0625EEC21}"/>
              </a:ext>
            </a:extLst>
          </p:cNvPr>
          <p:cNvSpPr>
            <a:spLocks noGrp="1"/>
          </p:cNvSpPr>
          <p:nvPr>
            <p:ph type="body" idx="1"/>
          </p:nvPr>
        </p:nvSpPr>
        <p:spPr/>
        <p:txBody>
          <a:bodyPr/>
          <a:lstStyle/>
          <a:p>
            <a:r>
              <a:rPr lang="en-US" dirty="0"/>
              <a:t>Fourth animation: Prepare for final ODS Excel output, add reporting dummies, etc.</a:t>
            </a:r>
          </a:p>
        </p:txBody>
      </p:sp>
      <p:sp>
        <p:nvSpPr>
          <p:cNvPr id="4" name="Slide Number Placeholder 3">
            <a:extLst>
              <a:ext uri="{FF2B5EF4-FFF2-40B4-BE49-F238E27FC236}">
                <a16:creationId xmlns:a16="http://schemas.microsoft.com/office/drawing/2014/main" id="{3EC094F3-DB01-A383-7FBF-783C4EB744C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447455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1AB69-4364-CA21-7994-CA19CAD03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4F19B6-555F-EDB4-63B2-21B59BE64DC1}"/>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6BE38E21-672D-5401-76BB-2AAD3161BDFC}"/>
              </a:ext>
            </a:extLst>
          </p:cNvPr>
          <p:cNvSpPr>
            <a:spLocks noGrp="1"/>
          </p:cNvSpPr>
          <p:nvPr>
            <p:ph type="body" idx="1"/>
          </p:nvPr>
        </p:nvSpPr>
        <p:spPr/>
        <p:txBody>
          <a:bodyPr/>
          <a:lstStyle/>
          <a:p>
            <a:r>
              <a:rPr lang="en-US" dirty="0"/>
              <a:t>I’m providing the full code for this example on Github, feel free to make it your own. You don’t need to take screenshots and I might be moving too fast for that to work for you. I’m just publishing code snippets here so that you understand the process. Animations: Create a macro which puts together three OOOs for 6 different lhs/dependent variables, renames variables accordingly, run macros. Highlight the nonexistent chisq routine, cherry picking,  _n_=1  </a:t>
            </a:r>
          </a:p>
        </p:txBody>
      </p:sp>
      <p:sp>
        <p:nvSpPr>
          <p:cNvPr id="4" name="Slide Number Placeholder 3">
            <a:extLst>
              <a:ext uri="{FF2B5EF4-FFF2-40B4-BE49-F238E27FC236}">
                <a16:creationId xmlns:a16="http://schemas.microsoft.com/office/drawing/2014/main" id="{060FF0CE-F099-AFD2-7482-CA885D01EF1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66920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F99E-DBF4-4E5B-3527-798DAEB92F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E82384-85B3-231B-D4E9-E0F04300224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28DEAFB-2494-A777-1D36-1928DE95E0B4}"/>
              </a:ext>
            </a:extLst>
          </p:cNvPr>
          <p:cNvSpPr>
            <a:spLocks noGrp="1"/>
          </p:cNvSpPr>
          <p:nvPr>
            <p:ph type="body" idx="1"/>
          </p:nvPr>
        </p:nvSpPr>
        <p:spPr/>
        <p:txBody>
          <a:bodyPr/>
          <a:lstStyle/>
          <a:p>
            <a:r>
              <a:rPr lang="en-US" dirty="0"/>
              <a:t>Highlight the nonexistent chisq routine, cherry picking,  _n_=1  </a:t>
            </a:r>
          </a:p>
        </p:txBody>
      </p:sp>
      <p:sp>
        <p:nvSpPr>
          <p:cNvPr id="4" name="Slide Number Placeholder 3">
            <a:extLst>
              <a:ext uri="{FF2B5EF4-FFF2-40B4-BE49-F238E27FC236}">
                <a16:creationId xmlns:a16="http://schemas.microsoft.com/office/drawing/2014/main" id="{AC97F0DD-DF86-C366-DB00-ADCE46D9D9D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70537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972C4-1ED2-261A-D488-4E9FEC5C53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C0BF73-988C-24F2-CB46-D45036EBBCC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6356F28-5DFF-F245-0B2A-5CF0C738B2E2}"/>
              </a:ext>
            </a:extLst>
          </p:cNvPr>
          <p:cNvSpPr>
            <a:spLocks noGrp="1"/>
          </p:cNvSpPr>
          <p:nvPr>
            <p:ph type="body" idx="1"/>
          </p:nvPr>
        </p:nvSpPr>
        <p:spPr/>
        <p:txBody>
          <a:bodyPr/>
          <a:lstStyle/>
          <a:p>
            <a:r>
              <a:rPr lang="en-US" dirty="0"/>
              <a:t>, run macros. Highlight the nonexistent chisq routine, cherry picking,  _n_=1  </a:t>
            </a:r>
          </a:p>
        </p:txBody>
      </p:sp>
      <p:sp>
        <p:nvSpPr>
          <p:cNvPr id="4" name="Slide Number Placeholder 3">
            <a:extLst>
              <a:ext uri="{FF2B5EF4-FFF2-40B4-BE49-F238E27FC236}">
                <a16:creationId xmlns:a16="http://schemas.microsoft.com/office/drawing/2014/main" id="{0F1CCF73-7FAA-586C-CBD7-D31133DEEA0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501792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F25B7-1E91-2EA9-2EFF-3044C0816A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4D1103-9CD0-3B8A-1309-53DAA6A1DCE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BC1EA03-E2DD-B8FB-A8A3-9B58C2124B8E}"/>
              </a:ext>
            </a:extLst>
          </p:cNvPr>
          <p:cNvSpPr>
            <a:spLocks noGrp="1"/>
          </p:cNvSpPr>
          <p:nvPr>
            <p:ph type="body" idx="1"/>
          </p:nvPr>
        </p:nvSpPr>
        <p:spPr/>
        <p:txBody>
          <a:bodyPr/>
          <a:lstStyle/>
          <a:p>
            <a:r>
              <a:rPr lang="en-US" dirty="0"/>
              <a:t>Animations: set in the different LHS data sets, format, and re-output into separate groups.</a:t>
            </a:r>
          </a:p>
        </p:txBody>
      </p:sp>
      <p:sp>
        <p:nvSpPr>
          <p:cNvPr id="4" name="Slide Number Placeholder 3">
            <a:extLst>
              <a:ext uri="{FF2B5EF4-FFF2-40B4-BE49-F238E27FC236}">
                <a16:creationId xmlns:a16="http://schemas.microsoft.com/office/drawing/2014/main" id="{EFCC653A-572C-3D4B-3884-282E532FC62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9764953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9C1C6-A07E-65FF-A1DF-BA333CA84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E981F4-99B3-E259-3688-CE7EDF8F8D0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1BBAD878-8F59-169A-054B-F906F45F55A4}"/>
              </a:ext>
            </a:extLst>
          </p:cNvPr>
          <p:cNvSpPr>
            <a:spLocks noGrp="1"/>
          </p:cNvSpPr>
          <p:nvPr>
            <p:ph type="body" idx="1"/>
          </p:nvPr>
        </p:nvSpPr>
        <p:spPr/>
        <p:txBody>
          <a:bodyPr/>
          <a:lstStyle/>
          <a:p>
            <a:r>
              <a:rPr lang="en-US" dirty="0"/>
              <a:t>Animations: creates a macro which Mainly renames variables to reflect the new column groupings, and resets the row variable.</a:t>
            </a:r>
          </a:p>
        </p:txBody>
      </p:sp>
      <p:sp>
        <p:nvSpPr>
          <p:cNvPr id="4" name="Slide Number Placeholder 3">
            <a:extLst>
              <a:ext uri="{FF2B5EF4-FFF2-40B4-BE49-F238E27FC236}">
                <a16:creationId xmlns:a16="http://schemas.microsoft.com/office/drawing/2014/main" id="{FBA6DE0D-76D2-8A5B-E3ED-A283AA18CB2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452242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F04CC-998A-E6BC-7E8F-FB38D6C959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7584C-A3CC-F562-4B16-1FE8B55C48B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FF8596E-F4F5-4E62-8558-F06963A3D6F0}"/>
              </a:ext>
            </a:extLst>
          </p:cNvPr>
          <p:cNvSpPr>
            <a:spLocks noGrp="1"/>
          </p:cNvSpPr>
          <p:nvPr>
            <p:ph type="body" idx="1"/>
          </p:nvPr>
        </p:nvSpPr>
        <p:spPr/>
        <p:txBody>
          <a:bodyPr/>
          <a:lstStyle/>
          <a:p>
            <a:r>
              <a:rPr lang="en-US" dirty="0"/>
              <a:t>Run the macro, reorder variables using retain, remerge the different column sets, and label for final output</a:t>
            </a:r>
          </a:p>
        </p:txBody>
      </p:sp>
      <p:sp>
        <p:nvSpPr>
          <p:cNvPr id="4" name="Slide Number Placeholder 3">
            <a:extLst>
              <a:ext uri="{FF2B5EF4-FFF2-40B4-BE49-F238E27FC236}">
                <a16:creationId xmlns:a16="http://schemas.microsoft.com/office/drawing/2014/main" id="{3928C2D7-A738-936A-09B4-787573BFD1E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9313610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06AE7-F92D-D85F-15E6-6CFB5EEE33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C71CDE-569F-BA5F-1C81-FBCE176B3DC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63A267B9-BD8D-C196-13E2-1EBFC77EBF53}"/>
              </a:ext>
            </a:extLst>
          </p:cNvPr>
          <p:cNvSpPr>
            <a:spLocks noGrp="1"/>
          </p:cNvSpPr>
          <p:nvPr>
            <p:ph type="body" idx="1"/>
          </p:nvPr>
        </p:nvSpPr>
        <p:spPr/>
        <p:txBody>
          <a:bodyPr/>
          <a:lstStyle/>
          <a:p>
            <a:r>
              <a:rPr lang="en-US" dirty="0"/>
              <a:t>Finally, we output to ODS excel. Note the options – ODS Excel has tons of them, and they are so cool. Here, I’m embedding titles (you can do footnotes too), coloring the tab (purple), freezing the first column (weirdly, it says ROWHEADERS for columns!), naming the tab (reportreg because apparently I can’t seem to remember it is surveyfreq and not surveyreg). I’m using the default style here, but you can use your own corporate style or another style template. </a:t>
            </a:r>
          </a:p>
        </p:txBody>
      </p:sp>
      <p:sp>
        <p:nvSpPr>
          <p:cNvPr id="4" name="Slide Number Placeholder 3">
            <a:extLst>
              <a:ext uri="{FF2B5EF4-FFF2-40B4-BE49-F238E27FC236}">
                <a16:creationId xmlns:a16="http://schemas.microsoft.com/office/drawing/2014/main" id="{6ACA3115-A9B1-F612-555D-436F35F907B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688027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F0EC8-87FF-B88A-3870-FAA8321362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D2C378-0543-9764-9AA9-56F4EB84B4B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0AD3DCB-4193-C4FD-1508-865F5481F548}"/>
              </a:ext>
            </a:extLst>
          </p:cNvPr>
          <p:cNvSpPr>
            <a:spLocks noGrp="1"/>
          </p:cNvSpPr>
          <p:nvPr>
            <p:ph type="body" idx="1"/>
          </p:nvPr>
        </p:nvSpPr>
        <p:spPr/>
        <p:txBody>
          <a:bodyPr/>
          <a:lstStyle/>
          <a:p>
            <a:r>
              <a:rPr lang="en-US" dirty="0"/>
              <a:t>Finally, we output to ODS excel. Note the options – ODS Excel has tons of them, and they are so cool. Here, I’m embedding titles (you can do footnotes too), coloring the tab (purple), freezing the first column (weirdly, it says ROWHEADERS for columns!), naming the tab (reportreg because apparently I can’t seem to remember it is surveyfreq and not surveyreg). I’m using the default style here, but you can use your own corporate style or another style template. </a:t>
            </a:r>
          </a:p>
        </p:txBody>
      </p:sp>
      <p:sp>
        <p:nvSpPr>
          <p:cNvPr id="4" name="Slide Number Placeholder 3">
            <a:extLst>
              <a:ext uri="{FF2B5EF4-FFF2-40B4-BE49-F238E27FC236}">
                <a16:creationId xmlns:a16="http://schemas.microsoft.com/office/drawing/2014/main" id="{974CD1B5-A109-C533-DED4-ACFEA63E417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8887569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DCA85-4CDB-2CE9-95C4-8BC8EF221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A56BCA-D3D6-8550-4EC4-00FACD1010D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4E9706C-12C5-5B3A-3B62-B10EBE5E148D}"/>
              </a:ext>
            </a:extLst>
          </p:cNvPr>
          <p:cNvSpPr>
            <a:spLocks noGrp="1"/>
          </p:cNvSpPr>
          <p:nvPr>
            <p:ph type="body" idx="1"/>
          </p:nvPr>
        </p:nvSpPr>
        <p:spPr/>
        <p:txBody>
          <a:bodyPr/>
          <a:lstStyle/>
          <a:p>
            <a:r>
              <a:rPr lang="en-US" dirty="0"/>
              <a:t>I’m embedding titles (you can do footnotes too), define statement for column shading, using spanning headers for the column groups, and a non-printing variable to do traffic lighting at the row level.  </a:t>
            </a:r>
          </a:p>
        </p:txBody>
      </p:sp>
      <p:sp>
        <p:nvSpPr>
          <p:cNvPr id="4" name="Slide Number Placeholder 3">
            <a:extLst>
              <a:ext uri="{FF2B5EF4-FFF2-40B4-BE49-F238E27FC236}">
                <a16:creationId xmlns:a16="http://schemas.microsoft.com/office/drawing/2014/main" id="{9444DA4D-0B8B-D940-3DAC-52164612E9B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4043815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0332-4721-1D3E-7FBB-213330DB5E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BA4635-6A0A-D01A-B728-B2A055B7A37E}"/>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EE4FA58-4C35-CB4C-3BC2-9EB62A3C42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110B58-D96D-513E-38C5-DF80CE9A2C4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71A2E-6F29-40B9-AF08-55AF6C46AA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4961366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391301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AS Innovate - Title">
    <p:bg>
      <p:bgPr>
        <a:blipFill dpi="0" rotWithShape="1">
          <a:blip r:embed="rId3">
            <a:alphaModFix amt="66000"/>
            <a:lum/>
          </a:blip>
          <a:srcRect/>
          <a:stretch>
            <a:fillRect t="-14000" b="-14000"/>
          </a:stretch>
        </a:blip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3835965"/>
            <a:ext cx="14147990"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dirty="0"/>
              <a:t>Click to Add Slideshow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2" y="5178055"/>
            <a:ext cx="14147990" cy="923330"/>
          </a:xfrm>
        </p:spPr>
        <p:txBody>
          <a:bodyPr wrap="square">
            <a:noAutofit/>
          </a:bodyPr>
          <a:lstStyle>
            <a:lvl1pPr marL="0" indent="0">
              <a:lnSpc>
                <a:spcPct val="100000"/>
              </a:lnSpc>
              <a:spcBef>
                <a:spcPts val="600"/>
              </a:spcBef>
              <a:buNone/>
              <a:defRPr sz="4800">
                <a:solidFill>
                  <a:schemeClr val="accent3"/>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dirty="0"/>
              <a:t>Click to Add Slideshow Subtitle</a:t>
            </a:r>
          </a:p>
        </p:txBody>
      </p:sp>
      <p:sp>
        <p:nvSpPr>
          <p:cNvPr id="16" name="Text Placeholder 15">
            <a:extLst>
              <a:ext uri="{FF2B5EF4-FFF2-40B4-BE49-F238E27FC236}">
                <a16:creationId xmlns:a16="http://schemas.microsoft.com/office/drawing/2014/main" id="{30273A50-3E84-0E24-0D4A-64F939D590FA}"/>
              </a:ext>
            </a:extLst>
          </p:cNvPr>
          <p:cNvSpPr>
            <a:spLocks noGrp="1"/>
          </p:cNvSpPr>
          <p:nvPr>
            <p:ph type="body" sz="quarter" idx="11" hasCustomPrompt="1"/>
          </p:nvPr>
        </p:nvSpPr>
        <p:spPr>
          <a:xfrm>
            <a:off x="1252432" y="8276977"/>
            <a:ext cx="9572087"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dirty="0"/>
              <a:t>Click to Add Presenter Info</a:t>
            </a:r>
          </a:p>
        </p:txBody>
      </p:sp>
    </p:spTree>
    <p:custDataLst>
      <p:tags r:id="rId1"/>
    </p:custDataLst>
    <p:extLst>
      <p:ext uri="{BB962C8B-B14F-4D97-AF65-F5344CB8AC3E}">
        <p14:creationId xmlns:p14="http://schemas.microsoft.com/office/powerpoint/2010/main" val="3284189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AS Innovate - Section">
    <p:bg>
      <p:bgPr>
        <a:solidFill>
          <a:schemeClr val="accent5"/>
        </a:solidFill>
        <a:effectLst/>
      </p:bgPr>
    </p:bg>
    <p:spTree>
      <p:nvGrpSpPr>
        <p:cNvPr id="1" name=""/>
        <p:cNvGrpSpPr/>
        <p:nvPr/>
      </p:nvGrpSpPr>
      <p:grpSpPr>
        <a:xfrm>
          <a:off x="0" y="0"/>
          <a:ext cx="0" cy="0"/>
          <a:chOff x="0" y="0"/>
          <a:chExt cx="0" cy="0"/>
        </a:xfrm>
      </p:grpSpPr>
      <p:pic>
        <p:nvPicPr>
          <p:cNvPr id="2" name="Innovate Logo">
            <a:extLst>
              <a:ext uri="{FF2B5EF4-FFF2-40B4-BE49-F238E27FC236}">
                <a16:creationId xmlns:a16="http://schemas.microsoft.com/office/drawing/2014/main" id="{F1AEB127-AE11-C5CD-F6BE-50E282351CE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938632" y="9512121"/>
            <a:ext cx="2000336" cy="533423"/>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3850838"/>
            <a:ext cx="12123722"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dirty="0"/>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2" y="5342753"/>
            <a:ext cx="12123722" cy="923330"/>
          </a:xfrm>
        </p:spPr>
        <p:txBody>
          <a:bodyPr wrap="square" anchor="t" anchorCtr="0">
            <a:noAutofit/>
          </a:bodyPr>
          <a:lstStyle>
            <a:lvl1pPr marL="0" indent="0">
              <a:lnSpc>
                <a:spcPct val="100000"/>
              </a:lnSpc>
              <a:spcBef>
                <a:spcPts val="600"/>
              </a:spcBef>
              <a:buNone/>
              <a:defRPr sz="4800">
                <a:solidFill>
                  <a:schemeClr val="bg1"/>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dirty="0"/>
              <a:t>Click to Add Section Subtitle</a:t>
            </a:r>
          </a:p>
        </p:txBody>
      </p:sp>
      <p:sp>
        <p:nvSpPr>
          <p:cNvPr id="3" name="TextBox 4">
            <a:extLst>
              <a:ext uri="{FF2B5EF4-FFF2-40B4-BE49-F238E27FC236}">
                <a16:creationId xmlns:a16="http://schemas.microsoft.com/office/drawing/2014/main" id="{A0439912-553E-D011-797D-FF1D6BFB1A43}"/>
              </a:ext>
            </a:extLst>
          </p:cNvPr>
          <p:cNvSpPr txBox="1"/>
          <p:nvPr userDrawn="1"/>
        </p:nvSpPr>
        <p:spPr>
          <a:xfrm>
            <a:off x="1252432" y="9846548"/>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5">
                    <a:lumMod val="20000"/>
                    <a:lumOff val="8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935216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AS Innovate - Title Only">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1257300" y="710304"/>
            <a:ext cx="15773400" cy="775596"/>
          </a:xfrm>
          <a:prstGeom prst="rect">
            <a:avLst/>
          </a:prstGeom>
        </p:spPr>
        <p:txBody>
          <a:bodyPr vert="horz" lIns="0" tIns="0" rIns="0" bIns="0" rtlCol="0" anchor="ctr">
            <a:spAutoFit/>
          </a:bodyPr>
          <a:lstStyle/>
          <a:p>
            <a:r>
              <a:rPr lang="en-US" dirty="0"/>
              <a:t>Click to Add Slide Title</a:t>
            </a:r>
          </a:p>
        </p:txBody>
      </p:sp>
    </p:spTree>
    <p:custDataLst>
      <p:tags r:id="rId1"/>
    </p:custDataLst>
    <p:extLst>
      <p:ext uri="{BB962C8B-B14F-4D97-AF65-F5344CB8AC3E}">
        <p14:creationId xmlns:p14="http://schemas.microsoft.com/office/powerpoint/2010/main" val="986120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AS Innovate - Title &amp;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l">
              <a:defRPr>
                <a:solidFill>
                  <a:schemeClr val="accent5"/>
                </a:solidFill>
              </a:defRPr>
            </a:lvl1pPr>
          </a:lstStyle>
          <a:p>
            <a:r>
              <a:rPr lang="en-US" dirty="0"/>
              <a:t>Click to Add Slide Title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1898903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AS Innovate -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dirty="0"/>
              <a:t>Click to Add Slide Title</a:t>
            </a:r>
          </a:p>
        </p:txBody>
      </p:sp>
      <p:sp>
        <p:nvSpPr>
          <p:cNvPr id="4" name="Text Placeholder 2">
            <a:extLst>
              <a:ext uri="{FF2B5EF4-FFF2-40B4-BE49-F238E27FC236}">
                <a16:creationId xmlns:a16="http://schemas.microsoft.com/office/drawing/2014/main" id="{94E85CBA-188F-58DF-65B2-BD90C57AB500}"/>
              </a:ext>
            </a:extLst>
          </p:cNvPr>
          <p:cNvSpPr>
            <a:spLocks noGrp="1"/>
          </p:cNvSpPr>
          <p:nvPr>
            <p:ph idx="1"/>
          </p:nvPr>
        </p:nvSpPr>
        <p:spPr>
          <a:xfrm>
            <a:off x="1257300" y="2400300"/>
            <a:ext cx="15773400" cy="6865146"/>
          </a:xfrm>
          <a:prstGeom prst="rect">
            <a:avLst/>
          </a:prstGeom>
        </p:spPr>
        <p:txBody>
          <a:bodyPr vert="horz" lIns="0" tIns="0" rIns="0" bIns="0" rtlCol="0">
            <a:normAutofit/>
          </a:bodyPr>
          <a:lstStyle>
            <a:lvl1pPr>
              <a:defRPr sz="3600"/>
            </a:lvl1pPr>
            <a:lvl2pPr>
              <a:defRPr sz="2800"/>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9A71ABFD-7D9E-8B81-8F10-AD3B259CD532}"/>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290233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AS Innovate - 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dirty="0"/>
              <a:t>Click to Add Slide Title</a:t>
            </a:r>
          </a:p>
        </p:txBody>
      </p:sp>
      <p:sp>
        <p:nvSpPr>
          <p:cNvPr id="5" name="Text Placeholder 2">
            <a:extLst>
              <a:ext uri="{FF2B5EF4-FFF2-40B4-BE49-F238E27FC236}">
                <a16:creationId xmlns:a16="http://schemas.microsoft.com/office/drawing/2014/main" id="{B37A3D09-8DDB-0D78-49A3-63D553286BAA}"/>
              </a:ext>
            </a:extLst>
          </p:cNvPr>
          <p:cNvSpPr>
            <a:spLocks noGrp="1"/>
          </p:cNvSpPr>
          <p:nvPr>
            <p:ph idx="1"/>
          </p:nvPr>
        </p:nvSpPr>
        <p:spPr>
          <a:xfrm>
            <a:off x="1257299" y="2400300"/>
            <a:ext cx="7741846" cy="6865145"/>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9EB0C531-8D77-DB91-D733-89B75593C437}"/>
              </a:ext>
            </a:extLst>
          </p:cNvPr>
          <p:cNvSpPr>
            <a:spLocks noGrp="1"/>
          </p:cNvSpPr>
          <p:nvPr>
            <p:ph idx="11"/>
          </p:nvPr>
        </p:nvSpPr>
        <p:spPr>
          <a:xfrm>
            <a:off x="9288856" y="2400300"/>
            <a:ext cx="7741848" cy="6865145"/>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9" name="Text Placeholder 4">
            <a:extLst>
              <a:ext uri="{FF2B5EF4-FFF2-40B4-BE49-F238E27FC236}">
                <a16:creationId xmlns:a16="http://schemas.microsoft.com/office/drawing/2014/main" id="{528E5A1D-0F7C-C89E-926C-359A1E6C4B96}"/>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3041057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S Innovate - Title Only Lef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32B69-D114-4F04-8825-FD80DE780B3F}"/>
              </a:ext>
            </a:extLst>
          </p:cNvPr>
          <p:cNvSpPr>
            <a:spLocks noGrp="1"/>
          </p:cNvSpPr>
          <p:nvPr>
            <p:ph type="title" hasCustomPrompt="1"/>
          </p:nvPr>
        </p:nvSpPr>
        <p:spPr>
          <a:xfrm>
            <a:off x="1257300" y="4367905"/>
            <a:ext cx="4428276" cy="1551194"/>
          </a:xfrm>
          <a:prstGeom prst="rect">
            <a:avLst/>
          </a:prstGeom>
        </p:spPr>
        <p:txBody>
          <a:bodyPr vert="horz" wrap="square" lIns="0" tIns="0" rIns="0" bIns="0" rtlCol="0" anchor="ctr">
            <a:spAutoFit/>
          </a:bodyPr>
          <a:lstStyle/>
          <a:p>
            <a:r>
              <a:rPr lang="en-US" dirty="0"/>
              <a:t>Click to Add Slide Title</a:t>
            </a:r>
          </a:p>
        </p:txBody>
      </p:sp>
    </p:spTree>
    <p:custDataLst>
      <p:tags r:id="rId1"/>
    </p:custDataLst>
    <p:extLst>
      <p:ext uri="{BB962C8B-B14F-4D97-AF65-F5344CB8AC3E}">
        <p14:creationId xmlns:p14="http://schemas.microsoft.com/office/powerpoint/2010/main" val="412170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AS Innovate - Title &amp; Subtitle Left">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CB0DC36-25B4-46CA-542D-A6308DDA0A46}"/>
              </a:ext>
            </a:extLst>
          </p:cNvPr>
          <p:cNvSpPr>
            <a:spLocks noGrp="1"/>
          </p:cNvSpPr>
          <p:nvPr>
            <p:ph type="body" sz="quarter" idx="10" hasCustomPrompt="1"/>
          </p:nvPr>
        </p:nvSpPr>
        <p:spPr>
          <a:xfrm>
            <a:off x="1257299" y="5920995"/>
            <a:ext cx="5004350" cy="549382"/>
          </a:xfrm>
          <a:prstGeom prst="rect">
            <a:avLst/>
          </a:prstGeom>
        </p:spPr>
        <p:txBody>
          <a:bodyPr wrap="square" anchor="t">
            <a:no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
        <p:nvSpPr>
          <p:cNvPr id="3" name="Title 2">
            <a:extLst>
              <a:ext uri="{FF2B5EF4-FFF2-40B4-BE49-F238E27FC236}">
                <a16:creationId xmlns:a16="http://schemas.microsoft.com/office/drawing/2014/main" id="{E84AF2B1-1A71-31A3-C679-D3E1148BD910}"/>
              </a:ext>
            </a:extLst>
          </p:cNvPr>
          <p:cNvSpPr>
            <a:spLocks noGrp="1"/>
          </p:cNvSpPr>
          <p:nvPr>
            <p:ph type="title" hasCustomPrompt="1"/>
          </p:nvPr>
        </p:nvSpPr>
        <p:spPr>
          <a:xfrm>
            <a:off x="1252432" y="4150330"/>
            <a:ext cx="5001768" cy="1554480"/>
          </a:xfrm>
        </p:spPr>
        <p:txBody>
          <a:bodyPr vert="horz" wrap="square" lIns="0" tIns="0" rIns="0" bIns="0" rtlCol="0" anchor="b" anchorCtr="0">
            <a:spAutoFit/>
          </a:bodyPr>
          <a:lstStyle>
            <a:lvl1pPr>
              <a:defRPr lang="en-US"/>
            </a:lvl1pPr>
          </a:lstStyle>
          <a:p>
            <a:pPr marL="0" lvl="0">
              <a:lnSpc>
                <a:spcPct val="90000"/>
              </a:lnSpc>
              <a:spcBef>
                <a:spcPct val="0"/>
              </a:spcBef>
              <a:buNone/>
            </a:pPr>
            <a:r>
              <a:rPr lang="en-US" dirty="0"/>
              <a:t>Click to Add Slide Title</a:t>
            </a:r>
          </a:p>
        </p:txBody>
      </p:sp>
    </p:spTree>
    <p:custDataLst>
      <p:tags r:id="rId1"/>
    </p:custDataLst>
    <p:extLst>
      <p:ext uri="{BB962C8B-B14F-4D97-AF65-F5344CB8AC3E}">
        <p14:creationId xmlns:p14="http://schemas.microsoft.com/office/powerpoint/2010/main" val="3812179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AS Innovate - Closing">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 name="Innovate Logo">
            <a:extLst>
              <a:ext uri="{FF2B5EF4-FFF2-40B4-BE49-F238E27FC236}">
                <a16:creationId xmlns:a16="http://schemas.microsoft.com/office/drawing/2014/main" id="{6F6DCCF1-DE93-FE66-01AE-97895EBEE32A}"/>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3734927" y="8330350"/>
            <a:ext cx="3860806" cy="1029549"/>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4305440"/>
            <a:ext cx="13063133" cy="1292662"/>
          </a:xfrm>
          <a:prstGeom prst="rect">
            <a:avLst/>
          </a:prstGeom>
        </p:spPr>
        <p:txBody>
          <a:bodyPr vert="horz" wrap="square" lIns="0" tIns="0" rIns="0" bIns="182880" rtlCol="0" anchor="ctr" anchorCtr="0">
            <a:spAutoFit/>
          </a:bodyPr>
          <a:lstStyle>
            <a:lvl1pPr>
              <a:lnSpc>
                <a:spcPct val="100000"/>
              </a:lnSpc>
              <a:spcBef>
                <a:spcPts val="600"/>
              </a:spcBef>
              <a:defRPr sz="7200">
                <a:solidFill>
                  <a:schemeClr val="bg1"/>
                </a:solidFill>
              </a:defRPr>
            </a:lvl1pPr>
          </a:lstStyle>
          <a:p>
            <a:r>
              <a:rPr lang="en-US" dirty="0"/>
              <a:t>Click to Add Slideshow Closing</a:t>
            </a:r>
          </a:p>
        </p:txBody>
      </p:sp>
      <p:sp>
        <p:nvSpPr>
          <p:cNvPr id="2" name="Text Placeholder 15">
            <a:extLst>
              <a:ext uri="{FF2B5EF4-FFF2-40B4-BE49-F238E27FC236}">
                <a16:creationId xmlns:a16="http://schemas.microsoft.com/office/drawing/2014/main" id="{514B8423-CFFD-1921-7480-8BEC78F05FFD}"/>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dirty="0"/>
              <a:t>Click to add a website or email</a:t>
            </a:r>
          </a:p>
        </p:txBody>
      </p:sp>
      <p:sp>
        <p:nvSpPr>
          <p:cNvPr id="4" name="TextBox 4">
            <a:extLst>
              <a:ext uri="{FF2B5EF4-FFF2-40B4-BE49-F238E27FC236}">
                <a16:creationId xmlns:a16="http://schemas.microsoft.com/office/drawing/2014/main" id="{565DC667-F78B-8114-6DA9-35EC16239831}"/>
              </a:ext>
            </a:extLst>
          </p:cNvPr>
          <p:cNvSpPr txBox="1"/>
          <p:nvPr userDrawn="1"/>
        </p:nvSpPr>
        <p:spPr>
          <a:xfrm>
            <a:off x="1252432" y="9846548"/>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30268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AS Innovate - Blank - Whit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48427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AS Innovate - Video Only">
    <p:bg>
      <p:bgPr>
        <a:solidFill>
          <a:schemeClr val="tx1"/>
        </a:solidFill>
        <a:effectLst/>
      </p:bgPr>
    </p:bg>
    <p:spTree>
      <p:nvGrpSpPr>
        <p:cNvPr id="1" name=""/>
        <p:cNvGrpSpPr/>
        <p:nvPr/>
      </p:nvGrpSpPr>
      <p:grpSpPr>
        <a:xfrm>
          <a:off x="0" y="0"/>
          <a:ext cx="0" cy="0"/>
          <a:chOff x="0" y="0"/>
          <a:chExt cx="0" cy="0"/>
        </a:xfrm>
      </p:grpSpPr>
      <p:pic>
        <p:nvPicPr>
          <p:cNvPr id="4" name="Innovate Logo">
            <a:extLst>
              <a:ext uri="{FF2B5EF4-FFF2-40B4-BE49-F238E27FC236}">
                <a16:creationId xmlns:a16="http://schemas.microsoft.com/office/drawing/2014/main" id="{BE14233B-9F58-3CD1-93AC-01C8EE3D860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989000" y="9512121"/>
            <a:ext cx="1949970" cy="466344"/>
          </a:xfrm>
          <a:prstGeom prst="rect">
            <a:avLst/>
          </a:prstGeom>
        </p:spPr>
      </p:pic>
      <p:sp>
        <p:nvSpPr>
          <p:cNvPr id="2" name="TextBox 4">
            <a:extLst>
              <a:ext uri="{FF2B5EF4-FFF2-40B4-BE49-F238E27FC236}">
                <a16:creationId xmlns:a16="http://schemas.microsoft.com/office/drawing/2014/main" id="{93E9F94E-643A-C1DE-FC8A-C6EDD125B6DF}"/>
              </a:ext>
            </a:extLst>
          </p:cNvPr>
          <p:cNvSpPr txBox="1"/>
          <p:nvPr userDrawn="1"/>
        </p:nvSpPr>
        <p:spPr>
          <a:xfrm>
            <a:off x="1252432" y="9846548"/>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421662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3195638"/>
            <a:ext cx="15544800" cy="2205038"/>
          </a:xfrm>
        </p:spPr>
        <p:txBody>
          <a:bodyPr/>
          <a:lstStyle/>
          <a:p>
            <a:r>
              <a:rPr lang="en-US"/>
              <a:t>Click to edit Master title style</a:t>
            </a:r>
          </a:p>
        </p:txBody>
      </p:sp>
      <p:sp>
        <p:nvSpPr>
          <p:cNvPr id="3" name="Subtitle 2"/>
          <p:cNvSpPr>
            <a:spLocks noGrp="1"/>
          </p:cNvSpPr>
          <p:nvPr>
            <p:ph type="subTitle" idx="1"/>
          </p:nvPr>
        </p:nvSpPr>
        <p:spPr>
          <a:xfrm>
            <a:off x="2743200" y="5829300"/>
            <a:ext cx="12801600" cy="2628900"/>
          </a:xfrm>
        </p:spPr>
        <p:txBody>
          <a:bodyPr/>
          <a:lstStyle>
            <a:lvl1pPr marL="0" indent="0" algn="ctr">
              <a:buNone/>
              <a:defRPr>
                <a:solidFill>
                  <a:schemeClr val="tx1">
                    <a:tint val="75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914400" y="9311993"/>
            <a:ext cx="4267200" cy="547688"/>
          </a:xfrm>
        </p:spPr>
        <p:txBody>
          <a:bodyPr/>
          <a:lstStyle/>
          <a:p>
            <a:fld id="{5BCAD085-E8A6-8845-BD4E-CB4CCA059FC4}" type="datetimeFigureOut">
              <a:rPr lang="en-US" smtClean="0"/>
              <a:t>8/29/2026</a:t>
            </a:fld>
            <a:endParaRPr lang="en-US" dirty="0"/>
          </a:p>
        </p:txBody>
      </p:sp>
      <p:sp>
        <p:nvSpPr>
          <p:cNvPr id="5" name="Footer Placeholder 4"/>
          <p:cNvSpPr>
            <a:spLocks noGrp="1"/>
          </p:cNvSpPr>
          <p:nvPr>
            <p:ph type="ftr" sz="quarter" idx="11"/>
          </p:nvPr>
        </p:nvSpPr>
        <p:spPr>
          <a:xfrm>
            <a:off x="6248400" y="9378053"/>
            <a:ext cx="5791200" cy="547688"/>
          </a:xfrm>
        </p:spPr>
        <p:txBody>
          <a:bodyPr/>
          <a:lstStyle/>
          <a:p>
            <a:endParaRPr lang="en-US" dirty="0"/>
          </a:p>
        </p:txBody>
      </p:sp>
      <p:sp>
        <p:nvSpPr>
          <p:cNvPr id="6" name="Slide Number Placeholder 5"/>
          <p:cNvSpPr>
            <a:spLocks noGrp="1"/>
          </p:cNvSpPr>
          <p:nvPr>
            <p:ph type="sldNum" sz="quarter" idx="12"/>
          </p:nvPr>
        </p:nvSpPr>
        <p:spPr>
          <a:xfrm>
            <a:off x="13106400" y="9378053"/>
            <a:ext cx="4267200" cy="547688"/>
          </a:xfrm>
        </p:spPr>
        <p:txBody>
          <a:bodyPr/>
          <a:lstStyle/>
          <a:p>
            <a:fld id="{C1FF6DA9-008F-8B48-92A6-B652298478BF}" type="slidenum">
              <a:rPr lang="en-US" smtClean="0"/>
              <a:t>‹#›</a:t>
            </a:fld>
            <a:endParaRPr lang="en-US" dirty="0"/>
          </a:p>
        </p:txBody>
      </p:sp>
      <p:sp>
        <p:nvSpPr>
          <p:cNvPr id="7" name="Rectangle 6">
            <a:extLst>
              <a:ext uri="{FF2B5EF4-FFF2-40B4-BE49-F238E27FC236}">
                <a16:creationId xmlns:a16="http://schemas.microsoft.com/office/drawing/2014/main" id="{183D10EC-A239-C830-DA48-7A9BC2E53F81}"/>
              </a:ext>
            </a:extLst>
          </p:cNvPr>
          <p:cNvSpPr/>
          <p:nvPr userDrawn="1"/>
        </p:nvSpPr>
        <p:spPr>
          <a:xfrm>
            <a:off x="157316" y="117988"/>
            <a:ext cx="17973368" cy="9964226"/>
          </a:xfrm>
          <a:prstGeom prst="rect">
            <a:avLst/>
          </a:prstGeom>
          <a:no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400" dirty="0"/>
          </a:p>
        </p:txBody>
      </p:sp>
    </p:spTree>
    <p:extLst>
      <p:ext uri="{BB962C8B-B14F-4D97-AF65-F5344CB8AC3E}">
        <p14:creationId xmlns:p14="http://schemas.microsoft.com/office/powerpoint/2010/main" val="15419230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669718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4626" y="6610351"/>
            <a:ext cx="15544800" cy="2043113"/>
          </a:xfrm>
        </p:spPr>
        <p:txBody>
          <a:bodyPr anchor="t"/>
          <a:lstStyle>
            <a:lvl1pPr algn="l">
              <a:defRPr sz="6000" b="1" cap="all"/>
            </a:lvl1pPr>
          </a:lstStyle>
          <a:p>
            <a:r>
              <a:rPr lang="en-US"/>
              <a:t>Click to edit Master title style</a:t>
            </a:r>
          </a:p>
        </p:txBody>
      </p:sp>
      <p:sp>
        <p:nvSpPr>
          <p:cNvPr id="3" name="Text Placeholder 2"/>
          <p:cNvSpPr>
            <a:spLocks noGrp="1"/>
          </p:cNvSpPr>
          <p:nvPr>
            <p:ph type="body" idx="1"/>
          </p:nvPr>
        </p:nvSpPr>
        <p:spPr>
          <a:xfrm>
            <a:off x="1444626" y="4360070"/>
            <a:ext cx="15544800" cy="2250281"/>
          </a:xfrm>
        </p:spPr>
        <p:txBody>
          <a:bodyPr anchor="b"/>
          <a:lstStyle>
            <a:lvl1pPr marL="0" indent="0">
              <a:buNone/>
              <a:defRPr sz="3000">
                <a:solidFill>
                  <a:schemeClr val="tx1">
                    <a:tint val="7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8242736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2400301"/>
            <a:ext cx="8077200" cy="6788945"/>
          </a:xfrm>
        </p:spPr>
        <p:txBody>
          <a:bodyPr/>
          <a:lstStyle>
            <a:lvl1pPr>
              <a:defRPr sz="4200"/>
            </a:lvl1pPr>
            <a:lvl2pPr>
              <a:defRPr sz="3600"/>
            </a:lvl2pPr>
            <a:lvl3pPr>
              <a:defRPr sz="30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96400" y="2400301"/>
            <a:ext cx="8077200" cy="6788945"/>
          </a:xfrm>
        </p:spPr>
        <p:txBody>
          <a:bodyPr/>
          <a:lstStyle>
            <a:lvl1pPr>
              <a:defRPr sz="4200"/>
            </a:lvl1pPr>
            <a:lvl2pPr>
              <a:defRPr sz="3600"/>
            </a:lvl2pPr>
            <a:lvl3pPr>
              <a:defRPr sz="30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40803301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2302670"/>
            <a:ext cx="8080376" cy="959643"/>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914400" y="3262313"/>
            <a:ext cx="8080376" cy="5926932"/>
          </a:xfrm>
        </p:spPr>
        <p:txBody>
          <a:bodyPr/>
          <a:lstStyle>
            <a:lvl1pPr>
              <a:defRPr sz="36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90051" y="2302670"/>
            <a:ext cx="8083550" cy="959643"/>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90051" y="3262313"/>
            <a:ext cx="8083550" cy="5926932"/>
          </a:xfrm>
        </p:spPr>
        <p:txBody>
          <a:bodyPr/>
          <a:lstStyle>
            <a:lvl1pPr>
              <a:defRPr sz="36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3326403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932311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9886799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1" y="409575"/>
            <a:ext cx="6016626" cy="1743075"/>
          </a:xfrm>
        </p:spPr>
        <p:txBody>
          <a:bodyPr anchor="b"/>
          <a:lstStyle>
            <a:lvl1pPr algn="l">
              <a:defRPr sz="3000" b="1"/>
            </a:lvl1pPr>
          </a:lstStyle>
          <a:p>
            <a:r>
              <a:rPr lang="en-US"/>
              <a:t>Click to edit Master title style</a:t>
            </a:r>
          </a:p>
        </p:txBody>
      </p:sp>
      <p:sp>
        <p:nvSpPr>
          <p:cNvPr id="3" name="Content Placeholder 2"/>
          <p:cNvSpPr>
            <a:spLocks noGrp="1"/>
          </p:cNvSpPr>
          <p:nvPr>
            <p:ph idx="1"/>
          </p:nvPr>
        </p:nvSpPr>
        <p:spPr>
          <a:xfrm>
            <a:off x="7150100" y="409576"/>
            <a:ext cx="10223500" cy="8779670"/>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14401" y="2152651"/>
            <a:ext cx="6016626" cy="7036595"/>
          </a:xfrm>
        </p:spPr>
        <p:txBody>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716359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84576" y="7200900"/>
            <a:ext cx="10972800" cy="850107"/>
          </a:xfrm>
        </p:spPr>
        <p:txBody>
          <a:bodyPr anchor="b"/>
          <a:lstStyle>
            <a:lvl1pPr algn="l">
              <a:defRPr sz="3000" b="1"/>
            </a:lvl1pPr>
          </a:lstStyle>
          <a:p>
            <a:r>
              <a:rPr lang="en-US"/>
              <a:t>Click to edit Master title style</a:t>
            </a:r>
          </a:p>
        </p:txBody>
      </p:sp>
      <p:sp>
        <p:nvSpPr>
          <p:cNvPr id="3" name="Picture Placeholder 2"/>
          <p:cNvSpPr>
            <a:spLocks noGrp="1"/>
          </p:cNvSpPr>
          <p:nvPr>
            <p:ph type="pic" idx="1"/>
          </p:nvPr>
        </p:nvSpPr>
        <p:spPr>
          <a:xfrm>
            <a:off x="3584576" y="919163"/>
            <a:ext cx="10972800" cy="6172200"/>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US" dirty="0"/>
          </a:p>
        </p:txBody>
      </p:sp>
      <p:sp>
        <p:nvSpPr>
          <p:cNvPr id="4" name="Text Placeholder 3"/>
          <p:cNvSpPr>
            <a:spLocks noGrp="1"/>
          </p:cNvSpPr>
          <p:nvPr>
            <p:ph type="body" sz="half" idx="2"/>
          </p:nvPr>
        </p:nvSpPr>
        <p:spPr>
          <a:xfrm>
            <a:off x="3584576" y="8051007"/>
            <a:ext cx="10972800" cy="1207293"/>
          </a:xfrm>
        </p:spPr>
        <p:txBody>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859547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96984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258800" y="411958"/>
            <a:ext cx="4114800" cy="87772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411958"/>
            <a:ext cx="12039600" cy="87772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07260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5.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252432" y="2400300"/>
            <a:ext cx="15773400" cy="6865146"/>
          </a:xfrm>
          <a:prstGeom prst="rect">
            <a:avLst/>
          </a:prstGeom>
        </p:spPr>
        <p:txBody>
          <a:bodyPr vert="horz" lIns="0" tIns="0" rIns="0" bIns="0" rtlCol="0">
            <a:normAutofit/>
          </a:bodyPr>
          <a:lstStyle/>
          <a:p>
            <a:pPr lvl="0"/>
            <a:r>
              <a:rPr lang="en-US" dirty="0"/>
              <a:t>Click to Edit Text</a:t>
            </a:r>
          </a:p>
          <a:p>
            <a:pPr lvl="1"/>
            <a:r>
              <a:rPr lang="en-US" dirty="0"/>
              <a:t>Second level</a:t>
            </a:r>
          </a:p>
          <a:p>
            <a:pPr lvl="2"/>
            <a:r>
              <a:rPr lang="en-US" dirty="0"/>
              <a:t>Third level</a:t>
            </a:r>
          </a:p>
        </p:txBody>
      </p:sp>
      <p:sp>
        <p:nvSpPr>
          <p:cNvPr id="2" name="Title Placeholder 1"/>
          <p:cNvSpPr>
            <a:spLocks noGrp="1"/>
          </p:cNvSpPr>
          <p:nvPr>
            <p:ph type="title"/>
          </p:nvPr>
        </p:nvSpPr>
        <p:spPr>
          <a:xfrm>
            <a:off x="1252432" y="710304"/>
            <a:ext cx="15773400" cy="775596"/>
          </a:xfrm>
          <a:prstGeom prst="rect">
            <a:avLst/>
          </a:prstGeom>
        </p:spPr>
        <p:txBody>
          <a:bodyPr vert="horz" lIns="0" tIns="0" rIns="0" bIns="0" rtlCol="0" anchor="ctr">
            <a:normAutofit/>
          </a:bodyPr>
          <a:lstStyle/>
          <a:p>
            <a:r>
              <a:rPr lang="en-US" dirty="0"/>
              <a:t>Click to Add Slide Title</a:t>
            </a:r>
          </a:p>
        </p:txBody>
      </p:sp>
    </p:spTree>
    <p:custDataLst>
      <p:tags r:id="rId13"/>
    </p:custDataLst>
    <p:extLst>
      <p:ext uri="{BB962C8B-B14F-4D97-AF65-F5344CB8AC3E}">
        <p14:creationId xmlns:p14="http://schemas.microsoft.com/office/powerpoint/2010/main" val="519966091"/>
      </p:ext>
    </p:extLst>
  </p:cSld>
  <p:clrMap bg1="lt1" tx1="dk1" bg2="lt2" tx2="dk2" accent1="accent1" accent2="accent2" accent3="accent3" accent4="accent4" accent5="accent5" accent6="accent6" hlink="hlink" folHlink="folHlink"/>
  <p:sldLayoutIdLst>
    <p:sldLayoutId id="2147483836" r:id="rId1"/>
    <p:sldLayoutId id="2147483838" r:id="rId2"/>
    <p:sldLayoutId id="2147483821" r:id="rId3"/>
    <p:sldLayoutId id="2147483820" r:id="rId4"/>
    <p:sldLayoutId id="2147483819" r:id="rId5"/>
    <p:sldLayoutId id="2147483822" r:id="rId6"/>
    <p:sldLayoutId id="2147483824" r:id="rId7"/>
    <p:sldLayoutId id="2147483832" r:id="rId8"/>
    <p:sldLayoutId id="2147483837" r:id="rId9"/>
    <p:sldLayoutId id="2147483828" r:id="rId10"/>
    <p:sldLayoutId id="2147483829" r:id="rId11"/>
  </p:sldLayoutIdLst>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txStyles>
    <p:titleStyle>
      <a:lvl1pPr algn="l" defTabSz="1371600" rtl="0" eaLnBrk="1" latinLnBrk="0" hangingPunct="1">
        <a:lnSpc>
          <a:spcPct val="90000"/>
        </a:lnSpc>
        <a:spcBef>
          <a:spcPct val="0"/>
        </a:spcBef>
        <a:buNone/>
        <a:defRPr sz="5600" b="1" i="0" kern="1200">
          <a:solidFill>
            <a:schemeClr val="accent5"/>
          </a:solidFill>
          <a:latin typeface="Anova Bold" panose="020B0503020203020204" pitchFamily="34" charset="0"/>
          <a:ea typeface="+mj-ea"/>
          <a:cs typeface="+mj-cs"/>
        </a:defRPr>
      </a:lvl1pPr>
    </p:titleStyle>
    <p:bodyStyle>
      <a:lvl1pPr marL="365760" indent="-365760" algn="l" defTabSz="1371600" rtl="0" eaLnBrk="1" latinLnBrk="0" hangingPunct="1">
        <a:lnSpc>
          <a:spcPct val="85000"/>
        </a:lnSpc>
        <a:spcBef>
          <a:spcPts val="1600"/>
        </a:spcBef>
        <a:buClr>
          <a:schemeClr val="accent5"/>
        </a:buClr>
        <a:buFont typeface="Anova Light" panose="020B0403020203020204" pitchFamily="34" charset="0"/>
        <a:buChar char="•"/>
        <a:defRPr sz="3600" b="0" i="0" kern="1200">
          <a:solidFill>
            <a:schemeClr val="tx1"/>
          </a:solidFill>
          <a:latin typeface="+mn-lt"/>
          <a:ea typeface="+mn-ea"/>
          <a:cs typeface="+mn-cs"/>
        </a:defRPr>
      </a:lvl1pPr>
      <a:lvl2pPr marL="731520" indent="-365760" algn="l" defTabSz="1371600" rtl="0" eaLnBrk="1" latinLnBrk="0" hangingPunct="1">
        <a:lnSpc>
          <a:spcPct val="85000"/>
        </a:lnSpc>
        <a:spcBef>
          <a:spcPts val="1600"/>
        </a:spcBef>
        <a:buClr>
          <a:schemeClr val="accent5"/>
        </a:buClr>
        <a:buFont typeface="Anova Light" panose="020B0403020203020204" pitchFamily="34" charset="0"/>
        <a:buChar char="–"/>
        <a:defRPr sz="2800" b="0" i="0" kern="1200">
          <a:solidFill>
            <a:schemeClr val="tx1"/>
          </a:solidFill>
          <a:latin typeface="+mn-lt"/>
          <a:ea typeface="+mn-ea"/>
          <a:cs typeface="+mn-cs"/>
        </a:defRPr>
      </a:lvl2pPr>
      <a:lvl3pPr marL="1097280" indent="-365760" algn="l" defTabSz="1371600" rtl="0" eaLnBrk="1" latinLnBrk="0" hangingPunct="1">
        <a:lnSpc>
          <a:spcPct val="85000"/>
        </a:lnSpc>
        <a:spcBef>
          <a:spcPts val="1600"/>
        </a:spcBef>
        <a:buClr>
          <a:schemeClr val="accent5"/>
        </a:buClr>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4pPr>
      <a:lvl5pPr marL="30861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6000" r="-6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411957"/>
            <a:ext cx="16459200" cy="17145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14400" y="2400301"/>
            <a:ext cx="16459200" cy="67889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14400" y="9534526"/>
            <a:ext cx="42672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5BCAD085-E8A6-8845-BD4E-CB4CCA059FC4}" type="datetimeFigureOut">
              <a:rPr lang="en-US" smtClean="0"/>
              <a:t>8/29/2026</a:t>
            </a:fld>
            <a:endParaRPr lang="en-US" dirty="0"/>
          </a:p>
        </p:txBody>
      </p:sp>
      <p:sp>
        <p:nvSpPr>
          <p:cNvPr id="5" name="Footer Placeholder 4"/>
          <p:cNvSpPr>
            <a:spLocks noGrp="1"/>
          </p:cNvSpPr>
          <p:nvPr>
            <p:ph type="ftr" sz="quarter" idx="3"/>
          </p:nvPr>
        </p:nvSpPr>
        <p:spPr>
          <a:xfrm>
            <a:off x="6248400" y="9534526"/>
            <a:ext cx="5791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3106400" y="9534526"/>
            <a:ext cx="42672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1312647765"/>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xStyles>
    <p:titleStyle>
      <a:lvl1pPr algn="ctr" defTabSz="685800" rtl="0" eaLnBrk="1" latinLnBrk="0" hangingPunct="1">
        <a:spcBef>
          <a:spcPct val="0"/>
        </a:spcBef>
        <a:buNone/>
        <a:defRPr sz="6600" kern="1200">
          <a:solidFill>
            <a:schemeClr val="tx1"/>
          </a:solidFill>
          <a:latin typeface="+mj-lt"/>
          <a:ea typeface="+mj-ea"/>
          <a:cs typeface="+mj-cs"/>
        </a:defRPr>
      </a:lvl1pPr>
    </p:titleStyle>
    <p:bodyStyle>
      <a:lvl1pPr marL="514350" indent="-514350" algn="l" defTabSz="685800" rtl="0" eaLnBrk="1" latinLnBrk="0" hangingPunct="1">
        <a:spcBef>
          <a:spcPct val="20000"/>
        </a:spcBef>
        <a:buFont typeface="Arial"/>
        <a:buChar char="•"/>
        <a:defRPr sz="4800" kern="1200">
          <a:solidFill>
            <a:schemeClr val="tx1"/>
          </a:solidFill>
          <a:latin typeface="+mn-lt"/>
          <a:ea typeface="+mn-ea"/>
          <a:cs typeface="+mn-cs"/>
        </a:defRPr>
      </a:lvl1pPr>
      <a:lvl2pPr marL="1114425" indent="-428625" algn="l" defTabSz="685800" rtl="0" eaLnBrk="1" latinLnBrk="0" hangingPunct="1">
        <a:spcBef>
          <a:spcPct val="20000"/>
        </a:spcBef>
        <a:buFont typeface="Arial"/>
        <a:buChar char="–"/>
        <a:defRPr sz="4200" kern="1200">
          <a:solidFill>
            <a:schemeClr val="tx1"/>
          </a:solidFill>
          <a:latin typeface="+mn-lt"/>
          <a:ea typeface="+mn-ea"/>
          <a:cs typeface="+mn-cs"/>
        </a:defRPr>
      </a:lvl2pPr>
      <a:lvl3pPr marL="1714500" indent="-342900" algn="l" defTabSz="685800" rtl="0" eaLnBrk="1" latinLnBrk="0" hangingPunct="1">
        <a:spcBef>
          <a:spcPct val="20000"/>
        </a:spcBef>
        <a:buFont typeface="Arial"/>
        <a:buChar char="•"/>
        <a:defRPr sz="3600" kern="1200">
          <a:solidFill>
            <a:schemeClr val="tx1"/>
          </a:solidFill>
          <a:latin typeface="+mn-lt"/>
          <a:ea typeface="+mn-ea"/>
          <a:cs typeface="+mn-cs"/>
        </a:defRPr>
      </a:lvl3pPr>
      <a:lvl4pPr marL="2400300" indent="-342900" algn="l" defTabSz="685800" rtl="0" eaLnBrk="1" latinLnBrk="0" hangingPunct="1">
        <a:spcBef>
          <a:spcPct val="20000"/>
        </a:spcBef>
        <a:buFont typeface="Arial"/>
        <a:buChar char="–"/>
        <a:defRPr sz="3000" kern="1200">
          <a:solidFill>
            <a:schemeClr val="tx1"/>
          </a:solidFill>
          <a:latin typeface="+mn-lt"/>
          <a:ea typeface="+mn-ea"/>
          <a:cs typeface="+mn-cs"/>
        </a:defRPr>
      </a:lvl4pPr>
      <a:lvl5pPr marL="3086100" indent="-342900" algn="l" defTabSz="685800" rtl="0" eaLnBrk="1" latinLnBrk="0" hangingPunct="1">
        <a:spcBef>
          <a:spcPct val="20000"/>
        </a:spcBef>
        <a:buFont typeface="Arial"/>
        <a:buChar char="»"/>
        <a:defRPr sz="3000" kern="1200">
          <a:solidFill>
            <a:schemeClr val="tx1"/>
          </a:solidFill>
          <a:latin typeface="+mn-lt"/>
          <a:ea typeface="+mn-ea"/>
          <a:cs typeface="+mn-cs"/>
        </a:defRPr>
      </a:lvl5pPr>
      <a:lvl6pPr marL="3771900" indent="-342900" algn="l" defTabSz="685800" rtl="0" eaLnBrk="1" latinLnBrk="0" hangingPunct="1">
        <a:spcBef>
          <a:spcPct val="20000"/>
        </a:spcBef>
        <a:buFont typeface="Arial"/>
        <a:buChar char="•"/>
        <a:defRPr sz="3000" kern="1200">
          <a:solidFill>
            <a:schemeClr val="tx1"/>
          </a:solidFill>
          <a:latin typeface="+mn-lt"/>
          <a:ea typeface="+mn-ea"/>
          <a:cs typeface="+mn-cs"/>
        </a:defRPr>
      </a:lvl6pPr>
      <a:lvl7pPr marL="4457700" indent="-342900" algn="l" defTabSz="685800" rtl="0" eaLnBrk="1" latinLnBrk="0" hangingPunct="1">
        <a:spcBef>
          <a:spcPct val="20000"/>
        </a:spcBef>
        <a:buFont typeface="Arial"/>
        <a:buChar char="•"/>
        <a:defRPr sz="3000" kern="1200">
          <a:solidFill>
            <a:schemeClr val="tx1"/>
          </a:solidFill>
          <a:latin typeface="+mn-lt"/>
          <a:ea typeface="+mn-ea"/>
          <a:cs typeface="+mn-cs"/>
        </a:defRPr>
      </a:lvl7pPr>
      <a:lvl8pPr marL="5143500" indent="-342900" algn="l" defTabSz="685800" rtl="0" eaLnBrk="1" latinLnBrk="0" hangingPunct="1">
        <a:spcBef>
          <a:spcPct val="20000"/>
        </a:spcBef>
        <a:buFont typeface="Arial"/>
        <a:buChar char="•"/>
        <a:defRPr sz="3000" kern="1200">
          <a:solidFill>
            <a:schemeClr val="tx1"/>
          </a:solidFill>
          <a:latin typeface="+mn-lt"/>
          <a:ea typeface="+mn-ea"/>
          <a:cs typeface="+mn-cs"/>
        </a:defRPr>
      </a:lvl8pPr>
      <a:lvl9pPr marL="5829300" indent="-342900" algn="l" defTabSz="685800" rtl="0" eaLnBrk="1" latinLnBrk="0" hangingPunct="1">
        <a:spcBef>
          <a:spcPct val="20000"/>
        </a:spcBef>
        <a:buFont typeface="Arial"/>
        <a:buChar char="•"/>
        <a:defRPr sz="3000" kern="1200">
          <a:solidFill>
            <a:schemeClr val="tx1"/>
          </a:solidFill>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23.jfif"/><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1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13.xml"/><Relationship Id="rId5" Type="http://schemas.openxmlformats.org/officeDocument/2006/relationships/image" Target="../media/image30.png"/><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image" Target="../media/image23.jfif"/><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13.xml"/><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4.xml"/><Relationship Id="rId1" Type="http://schemas.openxmlformats.org/officeDocument/2006/relationships/slideLayout" Target="../slideLayouts/slideLayout13.xml"/><Relationship Id="rId4" Type="http://schemas.openxmlformats.org/officeDocument/2006/relationships/image" Target="../media/image45.png"/></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5.xml"/><Relationship Id="rId1" Type="http://schemas.openxmlformats.org/officeDocument/2006/relationships/slideLayout" Target="../slideLayouts/slideLayout13.xml"/><Relationship Id="rId4" Type="http://schemas.openxmlformats.org/officeDocument/2006/relationships/image" Target="../media/image47.png"/></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6.xml"/><Relationship Id="rId1" Type="http://schemas.openxmlformats.org/officeDocument/2006/relationships/slideLayout" Target="../slideLayouts/slideLayout13.xml"/><Relationship Id="rId4" Type="http://schemas.openxmlformats.org/officeDocument/2006/relationships/image" Target="../media/image49.png"/></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8.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3.xml"/><Relationship Id="rId1" Type="http://schemas.openxmlformats.org/officeDocument/2006/relationships/slideLayout" Target="../slideLayouts/slideLayout9.xml"/><Relationship Id="rId4" Type="http://schemas.openxmlformats.org/officeDocument/2006/relationships/hyperlink" Target="mailto:saslouisehadden@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47000"/>
            <a:lum/>
          </a:blip>
          <a:srcRect/>
          <a:stretch>
            <a:fillRect t="-14000" b="-14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E634D-DBF0-84F0-CBBC-16441986324F}"/>
              </a:ext>
            </a:extLst>
          </p:cNvPr>
          <p:cNvSpPr>
            <a:spLocks noGrp="1"/>
          </p:cNvSpPr>
          <p:nvPr>
            <p:ph type="title"/>
          </p:nvPr>
        </p:nvSpPr>
        <p:spPr>
          <a:xfrm>
            <a:off x="1252432" y="2727970"/>
            <a:ext cx="14147990" cy="2400657"/>
          </a:xfrm>
        </p:spPr>
        <p:txBody>
          <a:bodyPr/>
          <a:lstStyle/>
          <a:p>
            <a:r>
              <a:rPr lang="en-US" b="0" dirty="0">
                <a:solidFill>
                  <a:schemeClr val="tx1"/>
                </a:solidFill>
              </a:rPr>
              <a:t>The (ODS) Output of Your Desires:</a:t>
            </a:r>
            <a:endParaRPr lang="en-US" dirty="0">
              <a:solidFill>
                <a:schemeClr val="tx1"/>
              </a:solidFill>
            </a:endParaRPr>
          </a:p>
        </p:txBody>
      </p:sp>
      <p:sp>
        <p:nvSpPr>
          <p:cNvPr id="3" name="Text Placeholder 2">
            <a:extLst>
              <a:ext uri="{FF2B5EF4-FFF2-40B4-BE49-F238E27FC236}">
                <a16:creationId xmlns:a16="http://schemas.microsoft.com/office/drawing/2014/main" id="{D65146C1-7A34-1A32-8F3B-19AF901DF4F8}"/>
              </a:ext>
            </a:extLst>
          </p:cNvPr>
          <p:cNvSpPr>
            <a:spLocks noGrp="1"/>
          </p:cNvSpPr>
          <p:nvPr>
            <p:ph type="body" sz="quarter" idx="10"/>
          </p:nvPr>
        </p:nvSpPr>
        <p:spPr/>
        <p:txBody>
          <a:bodyPr/>
          <a:lstStyle/>
          <a:p>
            <a:r>
              <a:rPr lang="en-US" dirty="0">
                <a:solidFill>
                  <a:schemeClr val="tx1"/>
                </a:solidFill>
              </a:rPr>
              <a:t>a Tool-kit for Creating Designer Reports and Data Sets</a:t>
            </a:r>
            <a:br>
              <a:rPr lang="en-US" dirty="0">
                <a:solidFill>
                  <a:schemeClr val="tx1"/>
                </a:solidFill>
              </a:rPr>
            </a:br>
            <a:endParaRPr lang="en-US" dirty="0">
              <a:solidFill>
                <a:schemeClr val="tx1"/>
              </a:solidFill>
            </a:endParaRPr>
          </a:p>
        </p:txBody>
      </p:sp>
      <p:sp>
        <p:nvSpPr>
          <p:cNvPr id="4" name="Text Placeholder 3">
            <a:extLst>
              <a:ext uri="{FF2B5EF4-FFF2-40B4-BE49-F238E27FC236}">
                <a16:creationId xmlns:a16="http://schemas.microsoft.com/office/drawing/2014/main" id="{4C414BE3-0527-C20E-1F4D-0583A5F41016}"/>
              </a:ext>
            </a:extLst>
          </p:cNvPr>
          <p:cNvSpPr>
            <a:spLocks noGrp="1"/>
          </p:cNvSpPr>
          <p:nvPr>
            <p:ph type="body" sz="quarter" idx="11"/>
          </p:nvPr>
        </p:nvSpPr>
        <p:spPr/>
        <p:txBody>
          <a:bodyPr/>
          <a:lstStyle/>
          <a:p>
            <a:r>
              <a:rPr lang="en-US" dirty="0">
                <a:solidFill>
                  <a:schemeClr val="tx1"/>
                </a:solidFill>
              </a:rPr>
              <a:t>Louise S. Hadden</a:t>
            </a:r>
          </a:p>
          <a:p>
            <a:r>
              <a:rPr lang="en-US" dirty="0">
                <a:solidFill>
                  <a:schemeClr val="tx1"/>
                </a:solidFill>
              </a:rPr>
              <a:t>Independent Consultant</a:t>
            </a:r>
          </a:p>
        </p:txBody>
      </p:sp>
    </p:spTree>
    <p:extLst>
      <p:ext uri="{BB962C8B-B14F-4D97-AF65-F5344CB8AC3E}">
        <p14:creationId xmlns:p14="http://schemas.microsoft.com/office/powerpoint/2010/main" val="399971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Author Biography</a:t>
            </a:r>
          </a:p>
        </p:txBody>
      </p:sp>
      <p:sp>
        <p:nvSpPr>
          <p:cNvPr id="6" name="TextBox 5">
            <a:extLst>
              <a:ext uri="{FF2B5EF4-FFF2-40B4-BE49-F238E27FC236}">
                <a16:creationId xmlns:a16="http://schemas.microsoft.com/office/drawing/2014/main" id="{DFF426E4-D6AC-42C6-88B5-24CB3E8A32DF}"/>
              </a:ext>
            </a:extLst>
          </p:cNvPr>
          <p:cNvSpPr txBox="1"/>
          <p:nvPr/>
        </p:nvSpPr>
        <p:spPr>
          <a:xfrm>
            <a:off x="3112264" y="2427322"/>
            <a:ext cx="12063470" cy="6740307"/>
          </a:xfrm>
          <a:prstGeom prst="rect">
            <a:avLst/>
          </a:prstGeom>
          <a:noFill/>
        </p:spPr>
        <p:txBody>
          <a:bodyPr wrap="square" rtlCol="0">
            <a:spAutoFit/>
          </a:bodyPr>
          <a:lstStyle/>
          <a:p>
            <a:r>
              <a:rPr lang="en-US" sz="4800" dirty="0"/>
              <a:t>Louise Hadden presented at her first SAS conference in 1996 and has never looked back, presenting at multiple conferences across the continent over the years. She supports file building and analytic programming for life sciences organizations, most frequently as a contractor for government agencies such as CMS and CDC, and specializes in reporting and data visualization.</a:t>
            </a:r>
          </a:p>
        </p:txBody>
      </p:sp>
      <p:cxnSp>
        <p:nvCxnSpPr>
          <p:cNvPr id="10" name="Straight Connector 9">
            <a:extLst>
              <a:ext uri="{FF2B5EF4-FFF2-40B4-BE49-F238E27FC236}">
                <a16:creationId xmlns:a16="http://schemas.microsoft.com/office/drawing/2014/main" id="{7C2BCA43-43D7-F12C-5B7C-16DA41820C0C}"/>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3837CB4F-54BD-EEB0-8E7D-36C71D9F24CD}"/>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A675A-C24F-1263-5326-1786C567DA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E30F7-7C1A-34D7-11BD-E15D5C591865}"/>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Introduction</a:t>
            </a:r>
          </a:p>
        </p:txBody>
      </p:sp>
      <p:sp>
        <p:nvSpPr>
          <p:cNvPr id="6" name="TextBox 5">
            <a:extLst>
              <a:ext uri="{FF2B5EF4-FFF2-40B4-BE49-F238E27FC236}">
                <a16:creationId xmlns:a16="http://schemas.microsoft.com/office/drawing/2014/main" id="{A1A6A9F5-EA8D-692F-61E0-6465C6E2E214}"/>
              </a:ext>
            </a:extLst>
          </p:cNvPr>
          <p:cNvSpPr txBox="1"/>
          <p:nvPr/>
        </p:nvSpPr>
        <p:spPr>
          <a:xfrm>
            <a:off x="3112264" y="2427322"/>
            <a:ext cx="12063470" cy="7478970"/>
          </a:xfrm>
          <a:prstGeom prst="rect">
            <a:avLst/>
          </a:prstGeom>
          <a:noFill/>
        </p:spPr>
        <p:txBody>
          <a:bodyPr wrap="square" rtlCol="0">
            <a:spAutoFit/>
          </a:bodyPr>
          <a:lstStyle/>
          <a:p>
            <a:pPr marL="685800" indent="-685800" defTabSz="685800">
              <a:buFont typeface="Arial" panose="020B0604020202020204" pitchFamily="34" charset="0"/>
              <a:buChar char="•"/>
            </a:pPr>
            <a:r>
              <a:rPr lang="en-US" sz="4800" dirty="0">
                <a:solidFill>
                  <a:prstClr val="black"/>
                </a:solidFill>
                <a:latin typeface="Calibri"/>
              </a:rPr>
              <a:t>ODS delivers what used to be printed output in many convenient forms. </a:t>
            </a:r>
          </a:p>
          <a:p>
            <a:pPr marL="685800" indent="-685800" defTabSz="685800">
              <a:buFont typeface="Arial" panose="020B0604020202020204" pitchFamily="34" charset="0"/>
              <a:buChar char="•"/>
            </a:pPr>
            <a:r>
              <a:rPr lang="en-US" sz="4800" dirty="0">
                <a:solidFill>
                  <a:prstClr val="black"/>
                </a:solidFill>
                <a:latin typeface="Calibri"/>
              </a:rPr>
              <a:t>SAS® packages a collection of items that come out of a procedure that most people want to see in a predefined order (aka template.) </a:t>
            </a:r>
          </a:p>
          <a:p>
            <a:pPr marL="685800" indent="-685800" defTabSz="685800">
              <a:buFont typeface="Arial" panose="020B0604020202020204" pitchFamily="34" charset="0"/>
              <a:buChar char="•"/>
            </a:pPr>
            <a:r>
              <a:rPr lang="en-US" sz="4800" dirty="0">
                <a:solidFill>
                  <a:prstClr val="black"/>
                </a:solidFill>
                <a:latin typeface="Calibri"/>
              </a:rPr>
              <a:t>ODS TRACE, ODS TRACE DOM, ODS OUTPUT, ODS SELECT, ODS EXCLUDE, ODS destinations, ODS print system options, and SAS metadata can help.</a:t>
            </a:r>
            <a:endParaRPr lang="en-US" sz="2700" dirty="0">
              <a:solidFill>
                <a:prstClr val="black"/>
              </a:solidFill>
              <a:latin typeface="Calibri"/>
            </a:endParaRPr>
          </a:p>
        </p:txBody>
      </p:sp>
      <p:cxnSp>
        <p:nvCxnSpPr>
          <p:cNvPr id="10" name="Straight Connector 9">
            <a:extLst>
              <a:ext uri="{FF2B5EF4-FFF2-40B4-BE49-F238E27FC236}">
                <a16:creationId xmlns:a16="http://schemas.microsoft.com/office/drawing/2014/main" id="{F0093905-4375-4F21-A99F-201BE059E98B}"/>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7B16DDF8-9ADD-B688-B128-83A38CB21645}"/>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Tree>
    <p:extLst>
      <p:ext uri="{BB962C8B-B14F-4D97-AF65-F5344CB8AC3E}">
        <p14:creationId xmlns:p14="http://schemas.microsoft.com/office/powerpoint/2010/main" val="1709038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CEE9E-4346-F9C4-A621-778E9D519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16FA23-3CEF-29DF-6085-8B49587D2FDD}"/>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Session Agenda</a:t>
            </a:r>
          </a:p>
        </p:txBody>
      </p:sp>
      <p:sp>
        <p:nvSpPr>
          <p:cNvPr id="6" name="TextBox 5">
            <a:extLst>
              <a:ext uri="{FF2B5EF4-FFF2-40B4-BE49-F238E27FC236}">
                <a16:creationId xmlns:a16="http://schemas.microsoft.com/office/drawing/2014/main" id="{7CE8AC12-E1F1-162D-AD7C-A7EAED25C644}"/>
              </a:ext>
            </a:extLst>
          </p:cNvPr>
          <p:cNvSpPr txBox="1"/>
          <p:nvPr/>
        </p:nvSpPr>
        <p:spPr>
          <a:xfrm>
            <a:off x="3112264" y="2427322"/>
            <a:ext cx="12063470" cy="6247864"/>
          </a:xfrm>
          <a:prstGeom prst="rect">
            <a:avLst/>
          </a:prstGeom>
          <a:noFill/>
        </p:spPr>
        <p:txBody>
          <a:bodyPr wrap="square" rtlCol="0">
            <a:spAutoFit/>
          </a:bodyPr>
          <a:lstStyle/>
          <a:p>
            <a:pPr marL="571500" indent="-571500">
              <a:buFont typeface="Arial" panose="020B0604020202020204" pitchFamily="34" charset="0"/>
              <a:buChar char="•"/>
            </a:pPr>
            <a:r>
              <a:rPr lang="en-US" sz="4000" dirty="0"/>
              <a:t>Address the opportunity to harness the power of SAS's Output Delivery System (ODS) and ODS Output Objects to create highly customized reports and data sets. </a:t>
            </a:r>
          </a:p>
          <a:p>
            <a:pPr marL="571500" indent="-571500">
              <a:buFont typeface="Arial" panose="020B0604020202020204" pitchFamily="34" charset="0"/>
              <a:buChar char="•"/>
            </a:pPr>
            <a:r>
              <a:rPr lang="en-US" sz="4000" dirty="0"/>
              <a:t>Learn how to trace, manipulate, and repurpose ODS output objects using tools like ODS TRACE, ODS OUTPUT, and SAS reporting. </a:t>
            </a:r>
          </a:p>
          <a:p>
            <a:pPr marL="571500" indent="-571500">
              <a:buFont typeface="Arial" panose="020B0604020202020204" pitchFamily="34" charset="0"/>
              <a:buChar char="•"/>
            </a:pPr>
            <a:r>
              <a:rPr lang="en-US" sz="4000" dirty="0"/>
              <a:t>Go for a deep dive into some less known capabilities of ODS, providing tools and concepts to easily transform procedural output into designer-quality reports.</a:t>
            </a:r>
          </a:p>
        </p:txBody>
      </p:sp>
      <p:cxnSp>
        <p:nvCxnSpPr>
          <p:cNvPr id="10" name="Straight Connector 9">
            <a:extLst>
              <a:ext uri="{FF2B5EF4-FFF2-40B4-BE49-F238E27FC236}">
                <a16:creationId xmlns:a16="http://schemas.microsoft.com/office/drawing/2014/main" id="{5CED191C-9634-DF88-7F1C-1A9291E9183D}"/>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86BD5CDD-E2AE-A472-046A-21A7F4D68A09}"/>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Tree>
    <p:extLst>
      <p:ext uri="{BB962C8B-B14F-4D97-AF65-F5344CB8AC3E}">
        <p14:creationId xmlns:p14="http://schemas.microsoft.com/office/powerpoint/2010/main" val="4218718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3000" b="-23000"/>
          </a:stretch>
        </a:blipFill>
        <a:effectLst/>
      </p:bgPr>
    </p:bg>
    <p:spTree>
      <p:nvGrpSpPr>
        <p:cNvPr id="1" name="">
          <a:extLst>
            <a:ext uri="{FF2B5EF4-FFF2-40B4-BE49-F238E27FC236}">
              <a16:creationId xmlns:a16="http://schemas.microsoft.com/office/drawing/2014/main" id="{B8ADFEAF-56B5-E9BD-5C7F-F9D674B64CF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D158326-0F7B-DF9D-4920-9472D3CC4827}"/>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
        <p:nvSpPr>
          <p:cNvPr id="7" name="Rectangle 6">
            <a:extLst>
              <a:ext uri="{FF2B5EF4-FFF2-40B4-BE49-F238E27FC236}">
                <a16:creationId xmlns:a16="http://schemas.microsoft.com/office/drawing/2014/main" id="{605831A8-5CE8-20CB-3CF5-80A12F00F25B}"/>
              </a:ext>
            </a:extLst>
          </p:cNvPr>
          <p:cNvSpPr/>
          <p:nvPr/>
        </p:nvSpPr>
        <p:spPr>
          <a:xfrm>
            <a:off x="2286000" y="7739744"/>
            <a:ext cx="13716000" cy="2498271"/>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lang="en-US" sz="2700" dirty="0">
              <a:solidFill>
                <a:prstClr val="white"/>
              </a:solidFill>
              <a:latin typeface="Calibri"/>
            </a:endParaRPr>
          </a:p>
        </p:txBody>
      </p:sp>
      <p:sp>
        <p:nvSpPr>
          <p:cNvPr id="8" name="TextBox 7">
            <a:extLst>
              <a:ext uri="{FF2B5EF4-FFF2-40B4-BE49-F238E27FC236}">
                <a16:creationId xmlns:a16="http://schemas.microsoft.com/office/drawing/2014/main" id="{4DDF2BFC-9A88-F992-774F-2148609CBD0E}"/>
              </a:ext>
            </a:extLst>
          </p:cNvPr>
          <p:cNvSpPr txBox="1"/>
          <p:nvPr/>
        </p:nvSpPr>
        <p:spPr>
          <a:xfrm>
            <a:off x="2555422" y="8318740"/>
            <a:ext cx="13128173" cy="1015663"/>
          </a:xfrm>
          <a:prstGeom prst="rect">
            <a:avLst/>
          </a:prstGeom>
          <a:noFill/>
        </p:spPr>
        <p:txBody>
          <a:bodyPr wrap="square" rtlCol="0">
            <a:spAutoFit/>
          </a:bodyPr>
          <a:lstStyle/>
          <a:p>
            <a:pPr algn="ctr" defTabSz="685800"/>
            <a:r>
              <a:rPr lang="en-US" sz="6000" b="1" dirty="0">
                <a:solidFill>
                  <a:prstClr val="white"/>
                </a:solidFill>
                <a:latin typeface="Calibri"/>
              </a:rPr>
              <a:t>Creating a Test Data Set</a:t>
            </a:r>
          </a:p>
        </p:txBody>
      </p:sp>
    </p:spTree>
    <p:extLst>
      <p:ext uri="{BB962C8B-B14F-4D97-AF65-F5344CB8AC3E}">
        <p14:creationId xmlns:p14="http://schemas.microsoft.com/office/powerpoint/2010/main" val="1977328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8A5A8-FE69-2D9E-C480-3649D85528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24F83-548E-BC77-5686-97D5CDC7538C}"/>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Creating a Test SAS Data Set</a:t>
            </a:r>
          </a:p>
        </p:txBody>
      </p:sp>
      <p:sp>
        <p:nvSpPr>
          <p:cNvPr id="6" name="TextBox 5">
            <a:extLst>
              <a:ext uri="{FF2B5EF4-FFF2-40B4-BE49-F238E27FC236}">
                <a16:creationId xmlns:a16="http://schemas.microsoft.com/office/drawing/2014/main" id="{8CB421A7-2481-B8BB-5B91-11485A678F74}"/>
              </a:ext>
            </a:extLst>
          </p:cNvPr>
          <p:cNvSpPr txBox="1"/>
          <p:nvPr/>
        </p:nvSpPr>
        <p:spPr>
          <a:xfrm>
            <a:off x="3112264" y="2427322"/>
            <a:ext cx="12063470" cy="6324808"/>
          </a:xfrm>
          <a:prstGeom prst="rect">
            <a:avLst/>
          </a:prstGeom>
          <a:noFill/>
        </p:spPr>
        <p:txBody>
          <a:bodyPr wrap="square" rtlCol="0">
            <a:spAutoFit/>
          </a:bodyPr>
          <a:lstStyle/>
          <a:p>
            <a:pPr marL="685800" indent="-685800" defTabSz="685800">
              <a:buFont typeface="Arial" panose="020B0604020202020204" pitchFamily="34" charset="0"/>
              <a:buChar char="•"/>
            </a:pPr>
            <a:r>
              <a:rPr lang="en-US" sz="4200" dirty="0">
                <a:solidFill>
                  <a:prstClr val="black"/>
                </a:solidFill>
                <a:latin typeface="Calibri"/>
              </a:rPr>
              <a:t>Based on the SASHELP.HEART data set</a:t>
            </a:r>
          </a:p>
          <a:p>
            <a:pPr marL="685800" indent="-685800" defTabSz="685800">
              <a:buFont typeface="Arial" panose="020B0604020202020204" pitchFamily="34" charset="0"/>
              <a:buChar char="•"/>
            </a:pPr>
            <a:r>
              <a:rPr lang="en-US" sz="4200" dirty="0">
                <a:solidFill>
                  <a:prstClr val="black"/>
                </a:solidFill>
                <a:latin typeface="Calibri"/>
              </a:rPr>
              <a:t>Data set contains demographics, medical data, and common risk factors for cardiovascular disease (CVD). </a:t>
            </a:r>
          </a:p>
          <a:p>
            <a:pPr marL="685800" indent="-685800" defTabSz="685800">
              <a:buFont typeface="Arial" panose="020B0604020202020204" pitchFamily="34" charset="0"/>
              <a:buChar char="•"/>
            </a:pPr>
            <a:r>
              <a:rPr lang="en-US" sz="4200" dirty="0">
                <a:solidFill>
                  <a:prstClr val="black"/>
                </a:solidFill>
                <a:latin typeface="Calibri"/>
              </a:rPr>
              <a:t>Additional elements added include a group variable (HeartID), an ID variable (seqnum), Sample Weight, BMI, BMI Category, binaries for female and male, and Obesity Category. </a:t>
            </a:r>
          </a:p>
          <a:p>
            <a:pPr marL="685800" indent="-685800" defTabSz="685800">
              <a:buFont typeface="Arial" panose="020B0604020202020204" pitchFamily="34" charset="0"/>
              <a:buChar char="•"/>
            </a:pPr>
            <a:r>
              <a:rPr lang="en-US" sz="4200" dirty="0">
                <a:solidFill>
                  <a:prstClr val="black"/>
                </a:solidFill>
                <a:latin typeface="Calibri"/>
              </a:rPr>
              <a:t>Missing variable labels are also added.</a:t>
            </a:r>
          </a:p>
          <a:p>
            <a:pPr defTabSz="685800"/>
            <a:endParaRPr lang="en-US" sz="2700" dirty="0">
              <a:solidFill>
                <a:prstClr val="black"/>
              </a:solidFill>
              <a:latin typeface="Calibri"/>
            </a:endParaRPr>
          </a:p>
        </p:txBody>
      </p:sp>
      <p:cxnSp>
        <p:nvCxnSpPr>
          <p:cNvPr id="10" name="Straight Connector 9">
            <a:extLst>
              <a:ext uri="{FF2B5EF4-FFF2-40B4-BE49-F238E27FC236}">
                <a16:creationId xmlns:a16="http://schemas.microsoft.com/office/drawing/2014/main" id="{23BF7984-91F4-74A9-99F6-442E7CD35D8E}"/>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9243006E-7908-4C50-1116-13441AE250C2}"/>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Tree>
    <p:extLst>
      <p:ext uri="{BB962C8B-B14F-4D97-AF65-F5344CB8AC3E}">
        <p14:creationId xmlns:p14="http://schemas.microsoft.com/office/powerpoint/2010/main" val="3057466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25622-1C77-43D1-AA63-D31A87D0C5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D0966C-AD96-FAB2-D090-C0C6D31CE116}"/>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Creating a Test SAS Data Set</a:t>
            </a:r>
          </a:p>
        </p:txBody>
      </p:sp>
      <p:cxnSp>
        <p:nvCxnSpPr>
          <p:cNvPr id="10" name="Straight Connector 9">
            <a:extLst>
              <a:ext uri="{FF2B5EF4-FFF2-40B4-BE49-F238E27FC236}">
                <a16:creationId xmlns:a16="http://schemas.microsoft.com/office/drawing/2014/main" id="{6AF5983F-D48C-09BF-79BB-EF2511870EC8}"/>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1F0B88E0-5464-50EA-4203-E6CA4809FB9D}"/>
              </a:ext>
            </a:extLst>
          </p:cNvPr>
          <p:cNvSpPr txBox="1"/>
          <p:nvPr/>
        </p:nvSpPr>
        <p:spPr>
          <a:xfrm>
            <a:off x="3112264" y="2427322"/>
            <a:ext cx="12063470" cy="7432804"/>
          </a:xfrm>
          <a:prstGeom prst="rect">
            <a:avLst/>
          </a:prstGeom>
          <a:noFill/>
        </p:spPr>
        <p:txBody>
          <a:bodyPr wrap="square" rtlCol="0">
            <a:spAutoFit/>
          </a:bodyPr>
          <a:lstStyle/>
          <a:p>
            <a:pPr defTabSz="685800"/>
            <a:r>
              <a:rPr lang="en-US" sz="3000" b="1" dirty="0">
                <a:solidFill>
                  <a:prstClr val="black"/>
                </a:solidFill>
                <a:latin typeface="Courier New" panose="02070309020205020404" pitchFamily="49" charset="0"/>
                <a:cs typeface="Courier New" panose="02070309020205020404" pitchFamily="49" charset="0"/>
              </a:rPr>
              <a:t>data out1.heart (label="Enhanced version of SASHELP.HEART");</a:t>
            </a:r>
          </a:p>
          <a:p>
            <a:pPr defTabSz="685800"/>
            <a:r>
              <a:rPr lang="en-US" sz="3000" b="1" dirty="0">
                <a:solidFill>
                  <a:prstClr val="black"/>
                </a:solidFill>
                <a:latin typeface="Courier New" panose="02070309020205020404" pitchFamily="49" charset="0"/>
                <a:cs typeface="Courier New" panose="02070309020205020404" pitchFamily="49" charset="0"/>
              </a:rPr>
              <a:t>		set sashelp.heart;</a:t>
            </a:r>
          </a:p>
          <a:p>
            <a:pPr defTabSz="685800"/>
            <a:r>
              <a:rPr lang="en-US" sz="3000" b="1" dirty="0">
                <a:solidFill>
                  <a:prstClr val="black"/>
                </a:solidFill>
                <a:latin typeface="Courier New" panose="02070309020205020404" pitchFamily="49" charset="0"/>
                <a:cs typeface="Courier New" panose="02070309020205020404" pitchFamily="49" charset="0"/>
              </a:rPr>
              <a:t> </a:t>
            </a:r>
          </a:p>
          <a:p>
            <a:pPr defTabSz="685800"/>
            <a:r>
              <a:rPr lang="en-US" sz="3000" b="1" dirty="0">
                <a:solidFill>
                  <a:prstClr val="black"/>
                </a:solidFill>
                <a:latin typeface="Courier New" panose="02070309020205020404" pitchFamily="49" charset="0"/>
                <a:cs typeface="Courier New" panose="02070309020205020404" pitchFamily="49" charset="0"/>
              </a:rPr>
              <a:t>*** create missing variable labels;</a:t>
            </a:r>
            <a:endParaRPr lang="en-US" sz="2700" b="1" dirty="0">
              <a:solidFill>
                <a:prstClr val="black"/>
              </a:solidFill>
              <a:latin typeface="Calibri"/>
            </a:endParaRPr>
          </a:p>
          <a:p>
            <a:pPr defTabSz="685800"/>
            <a:endParaRPr lang="en-US" sz="3000" b="1" dirty="0">
              <a:solidFill>
                <a:prstClr val="black"/>
              </a:solidFill>
              <a:latin typeface="Courier New" panose="02070309020205020404" pitchFamily="49" charset="0"/>
              <a:cs typeface="Courier New" panose="02070309020205020404" pitchFamily="49" charset="0"/>
            </a:endParaRPr>
          </a:p>
          <a:p>
            <a:pPr defTabSz="685800"/>
            <a:r>
              <a:rPr lang="en-US" sz="3000" b="1" dirty="0">
                <a:solidFill>
                  <a:prstClr val="black"/>
                </a:solidFill>
                <a:latin typeface="Courier New" panose="02070309020205020404" pitchFamily="49" charset="0"/>
                <a:cs typeface="Courier New" panose="02070309020205020404" pitchFamily="49" charset="0"/>
              </a:rPr>
              <a:t>    	label status="Status"</a:t>
            </a:r>
          </a:p>
          <a:p>
            <a:pPr defTabSz="685800"/>
            <a:r>
              <a:rPr lang="en-US" sz="3000" b="1" dirty="0">
                <a:solidFill>
                  <a:prstClr val="black"/>
                </a:solidFill>
                <a:latin typeface="Courier New" panose="02070309020205020404" pitchFamily="49" charset="0"/>
                <a:cs typeface="Courier New" panose="02070309020205020404" pitchFamily="49" charset="0"/>
              </a:rPr>
              <a:t>	   sex="Sex"</a:t>
            </a:r>
          </a:p>
          <a:p>
            <a:pPr defTabSz="685800"/>
            <a:r>
              <a:rPr lang="en-US" sz="3000" b="1" dirty="0">
                <a:solidFill>
                  <a:prstClr val="black"/>
                </a:solidFill>
                <a:latin typeface="Courier New" panose="02070309020205020404" pitchFamily="49" charset="0"/>
                <a:cs typeface="Courier New" panose="02070309020205020404" pitchFamily="49" charset="0"/>
              </a:rPr>
              <a:t>		height="Height"</a:t>
            </a:r>
          </a:p>
          <a:p>
            <a:pPr defTabSz="685800"/>
            <a:r>
              <a:rPr lang="en-US" sz="3000" b="1" dirty="0">
                <a:solidFill>
                  <a:prstClr val="black"/>
                </a:solidFill>
                <a:latin typeface="Courier New" panose="02070309020205020404" pitchFamily="49" charset="0"/>
                <a:cs typeface="Courier New" panose="02070309020205020404" pitchFamily="49" charset="0"/>
              </a:rPr>
              <a:t>		weight="Weight"</a:t>
            </a:r>
          </a:p>
          <a:p>
            <a:pPr defTabSz="685800"/>
            <a:r>
              <a:rPr lang="en-US" sz="3000" b="1" dirty="0">
                <a:solidFill>
                  <a:prstClr val="black"/>
                </a:solidFill>
                <a:latin typeface="Courier New" panose="02070309020205020404" pitchFamily="49" charset="0"/>
                <a:cs typeface="Courier New" panose="02070309020205020404" pitchFamily="49" charset="0"/>
              </a:rPr>
              <a:t>		Diastolic="Diastolic Blood Pressure"</a:t>
            </a:r>
          </a:p>
          <a:p>
            <a:pPr defTabSz="685800"/>
            <a:r>
              <a:rPr lang="en-US" sz="3000" b="1" dirty="0">
                <a:solidFill>
                  <a:prstClr val="black"/>
                </a:solidFill>
                <a:latin typeface="Courier New" panose="02070309020205020404" pitchFamily="49" charset="0"/>
                <a:cs typeface="Courier New" panose="02070309020205020404" pitchFamily="49" charset="0"/>
              </a:rPr>
              <a:t>     	Systolic="Systolic Blood Pressure"</a:t>
            </a:r>
          </a:p>
          <a:p>
            <a:pPr defTabSz="685800"/>
            <a:r>
              <a:rPr lang="en-US" sz="3000" b="1" dirty="0">
                <a:solidFill>
                  <a:prstClr val="black"/>
                </a:solidFill>
                <a:latin typeface="Courier New" panose="02070309020205020404" pitchFamily="49" charset="0"/>
                <a:cs typeface="Courier New" panose="02070309020205020404" pitchFamily="49" charset="0"/>
              </a:rPr>
              <a:t>		Smoking="Smoking Status"</a:t>
            </a:r>
          </a:p>
          <a:p>
            <a:pPr defTabSz="685800"/>
            <a:r>
              <a:rPr lang="en-US" sz="3000" b="1" dirty="0">
                <a:solidFill>
                  <a:prstClr val="black"/>
                </a:solidFill>
                <a:latin typeface="Courier New" panose="02070309020205020404" pitchFamily="49" charset="0"/>
                <a:cs typeface="Courier New" panose="02070309020205020404" pitchFamily="49" charset="0"/>
              </a:rPr>
              <a:t>		Cholesterol="Cholesterol Status";</a:t>
            </a:r>
          </a:p>
          <a:p>
            <a:pPr defTabSz="685800"/>
            <a:r>
              <a:rPr lang="en-US" sz="3000" dirty="0">
                <a:solidFill>
                  <a:prstClr val="black"/>
                </a:solidFill>
                <a:latin typeface="Courier New" panose="02070309020205020404" pitchFamily="49" charset="0"/>
                <a:cs typeface="Courier New" panose="02070309020205020404" pitchFamily="49" charset="0"/>
              </a:rPr>
              <a:t> </a:t>
            </a:r>
          </a:p>
          <a:p>
            <a:pPr defTabSz="685800"/>
            <a:endParaRPr lang="en-US" sz="2700" dirty="0">
              <a:solidFill>
                <a:prstClr val="black"/>
              </a:solidFill>
              <a:latin typeface="Calibri"/>
            </a:endParaRPr>
          </a:p>
        </p:txBody>
      </p:sp>
      <p:sp>
        <p:nvSpPr>
          <p:cNvPr id="4" name="TextBox 3">
            <a:extLst>
              <a:ext uri="{FF2B5EF4-FFF2-40B4-BE49-F238E27FC236}">
                <a16:creationId xmlns:a16="http://schemas.microsoft.com/office/drawing/2014/main" id="{2266F2E2-C85F-32A6-0482-011947872BC9}"/>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Tree>
    <p:extLst>
      <p:ext uri="{BB962C8B-B14F-4D97-AF65-F5344CB8AC3E}">
        <p14:creationId xmlns:p14="http://schemas.microsoft.com/office/powerpoint/2010/main" val="780593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AD288-3B5B-D079-35BC-09083812E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9A71AF-3E8D-AC82-019B-BE15D617EA95}"/>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Creating a Test SAS Data Set</a:t>
            </a:r>
          </a:p>
        </p:txBody>
      </p:sp>
      <p:cxnSp>
        <p:nvCxnSpPr>
          <p:cNvPr id="10" name="Straight Connector 9">
            <a:extLst>
              <a:ext uri="{FF2B5EF4-FFF2-40B4-BE49-F238E27FC236}">
                <a16:creationId xmlns:a16="http://schemas.microsoft.com/office/drawing/2014/main" id="{6DF4118F-23C2-1617-B659-B1DEDD2A3326}"/>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013810CB-24CF-481E-6AE6-BBD48B96F80B}"/>
              </a:ext>
            </a:extLst>
          </p:cNvPr>
          <p:cNvSpPr txBox="1"/>
          <p:nvPr/>
        </p:nvSpPr>
        <p:spPr>
          <a:xfrm>
            <a:off x="3112264" y="2427322"/>
            <a:ext cx="12063470" cy="4708981"/>
          </a:xfrm>
          <a:prstGeom prst="rect">
            <a:avLst/>
          </a:prstGeom>
          <a:noFill/>
        </p:spPr>
        <p:txBody>
          <a:bodyPr wrap="square" rtlCol="0">
            <a:spAutoFit/>
          </a:bodyPr>
          <a:lstStyle/>
          <a:p>
            <a:pPr defTabSz="685800"/>
            <a:r>
              <a:rPr lang="en-US" sz="3000" b="1" dirty="0">
                <a:solidFill>
                  <a:prstClr val="black"/>
                </a:solidFill>
                <a:latin typeface="Courier New" panose="02070309020205020404" pitchFamily="49" charset="0"/>
                <a:cs typeface="Courier New" panose="02070309020205020404" pitchFamily="49" charset="0"/>
              </a:rPr>
              <a:t>*** create a faux group variable;</a:t>
            </a:r>
          </a:p>
          <a:p>
            <a:pPr defTabSz="685800"/>
            <a:r>
              <a:rPr lang="en-US" sz="3000" b="1" dirty="0">
                <a:solidFill>
                  <a:prstClr val="black"/>
                </a:solidFill>
                <a:latin typeface="Courier New" panose="02070309020205020404" pitchFamily="49" charset="0"/>
                <a:cs typeface="Courier New" panose="02070309020205020404" pitchFamily="49" charset="0"/>
              </a:rPr>
              <a:t>		HeartID=modz(_n_,4);</a:t>
            </a:r>
          </a:p>
          <a:p>
            <a:pPr defTabSz="685800"/>
            <a:r>
              <a:rPr lang="en-US" sz="3000" b="1" dirty="0">
                <a:solidFill>
                  <a:prstClr val="black"/>
                </a:solidFill>
                <a:latin typeface="Courier New" panose="02070309020205020404" pitchFamily="49" charset="0"/>
                <a:cs typeface="Courier New" panose="02070309020205020404" pitchFamily="49" charset="0"/>
              </a:rPr>
              <a:t> </a:t>
            </a:r>
          </a:p>
          <a:p>
            <a:pPr defTabSz="685800"/>
            <a:r>
              <a:rPr lang="en-US" sz="3000" b="1" dirty="0">
                <a:solidFill>
                  <a:prstClr val="black"/>
                </a:solidFill>
                <a:latin typeface="Courier New" panose="02070309020205020404" pitchFamily="49" charset="0"/>
                <a:cs typeface="Courier New" panose="02070309020205020404" pitchFamily="49" charset="0"/>
              </a:rPr>
              <a:t>*** create a faux id;</a:t>
            </a:r>
          </a:p>
          <a:p>
            <a:pPr defTabSz="685800"/>
            <a:r>
              <a:rPr lang="en-US" sz="3000" b="1" dirty="0">
                <a:solidFill>
                  <a:prstClr val="black"/>
                </a:solidFill>
                <a:latin typeface="Courier New" panose="02070309020205020404" pitchFamily="49" charset="0"/>
                <a:cs typeface="Courier New" panose="02070309020205020404" pitchFamily="49" charset="0"/>
              </a:rPr>
              <a:t>		SeqNum=_n_;</a:t>
            </a:r>
          </a:p>
          <a:p>
            <a:pPr defTabSz="685800"/>
            <a:r>
              <a:rPr lang="en-US" sz="3000" b="1" dirty="0">
                <a:solidFill>
                  <a:prstClr val="black"/>
                </a:solidFill>
                <a:latin typeface="Courier New" panose="02070309020205020404" pitchFamily="49" charset="0"/>
                <a:cs typeface="Courier New" panose="02070309020205020404" pitchFamily="49" charset="0"/>
              </a:rPr>
              <a:t> </a:t>
            </a:r>
          </a:p>
          <a:p>
            <a:pPr defTabSz="685800"/>
            <a:r>
              <a:rPr lang="en-US" sz="3000" b="1" dirty="0">
                <a:solidFill>
                  <a:prstClr val="black"/>
                </a:solidFill>
                <a:latin typeface="Courier New" panose="02070309020205020404" pitchFamily="49" charset="0"/>
                <a:cs typeface="Courier New" panose="02070309020205020404" pitchFamily="49" charset="0"/>
              </a:rPr>
              <a:t>*** create a faux weight;</a:t>
            </a:r>
          </a:p>
          <a:p>
            <a:pPr defTabSz="685800"/>
            <a:r>
              <a:rPr lang="en-US" sz="3000" b="1" dirty="0">
                <a:solidFill>
                  <a:prstClr val="black"/>
                </a:solidFill>
                <a:latin typeface="Courier New" panose="02070309020205020404" pitchFamily="49" charset="0"/>
                <a:cs typeface="Courier New" panose="02070309020205020404" pitchFamily="49" charset="0"/>
              </a:rPr>
              <a:t>		SampleWeight=1+mod(_n_,10);</a:t>
            </a:r>
          </a:p>
          <a:p>
            <a:pPr defTabSz="685800"/>
            <a:r>
              <a:rPr lang="en-US" sz="3000" b="1" dirty="0">
                <a:solidFill>
                  <a:prstClr val="black"/>
                </a:solidFill>
                <a:latin typeface="Courier New" panose="02070309020205020404" pitchFamily="49" charset="0"/>
                <a:cs typeface="Courier New" panose="02070309020205020404" pitchFamily="49" charset="0"/>
              </a:rPr>
              <a:t> </a:t>
            </a:r>
          </a:p>
          <a:p>
            <a:pPr defTabSz="685800"/>
            <a:endParaRPr lang="en-US" sz="3000" b="1" dirty="0">
              <a:solidFill>
                <a:prstClr val="black"/>
              </a:solidFill>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0A71E053-4D6E-C0A4-C346-7DA494077C4E}"/>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Tree>
    <p:extLst>
      <p:ext uri="{BB962C8B-B14F-4D97-AF65-F5344CB8AC3E}">
        <p14:creationId xmlns:p14="http://schemas.microsoft.com/office/powerpoint/2010/main" val="2337094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EDB2D-0267-E74B-984D-E0AD8DC8AB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C60A-C23F-A9D6-DC68-FD4A1D580665}"/>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Creating a Test SAS Data Set</a:t>
            </a:r>
          </a:p>
        </p:txBody>
      </p:sp>
      <p:cxnSp>
        <p:nvCxnSpPr>
          <p:cNvPr id="10" name="Straight Connector 9">
            <a:extLst>
              <a:ext uri="{FF2B5EF4-FFF2-40B4-BE49-F238E27FC236}">
                <a16:creationId xmlns:a16="http://schemas.microsoft.com/office/drawing/2014/main" id="{1F7202C7-9965-1A51-F98B-0FCC279182BC}"/>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65D27B15-93B4-7301-95E9-E241699256C2}"/>
              </a:ext>
            </a:extLst>
          </p:cNvPr>
          <p:cNvSpPr txBox="1"/>
          <p:nvPr/>
        </p:nvSpPr>
        <p:spPr>
          <a:xfrm>
            <a:off x="3112265" y="2382566"/>
            <a:ext cx="12063470" cy="5170646"/>
          </a:xfrm>
          <a:prstGeom prst="rect">
            <a:avLst/>
          </a:prstGeom>
          <a:noFill/>
        </p:spPr>
        <p:txBody>
          <a:bodyPr wrap="square" rtlCol="0">
            <a:spAutoFit/>
          </a:bodyPr>
          <a:lstStyle/>
          <a:p>
            <a:pPr defTabSz="685800"/>
            <a:r>
              <a:rPr lang="en-US" sz="3000" b="1" dirty="0">
                <a:solidFill>
                  <a:prstClr val="black"/>
                </a:solidFill>
                <a:latin typeface="Courier New" panose="02070309020205020404" pitchFamily="49" charset="0"/>
                <a:cs typeface="Courier New" panose="02070309020205020404" pitchFamily="49" charset="0"/>
              </a:rPr>
              <a:t>*** create BMI variables;</a:t>
            </a:r>
          </a:p>
          <a:p>
            <a:pPr defTabSz="685800"/>
            <a:r>
              <a:rPr lang="en-US" sz="3000" b="1" dirty="0">
                <a:solidFill>
                  <a:prstClr val="black"/>
                </a:solidFill>
                <a:latin typeface="Courier New" panose="02070309020205020404" pitchFamily="49" charset="0"/>
                <a:cs typeface="Courier New" panose="02070309020205020404" pitchFamily="49" charset="0"/>
              </a:rPr>
              <a:t>    		bmi= weight / height**2 * 703;</a:t>
            </a:r>
          </a:p>
          <a:p>
            <a:pPr defTabSz="685800"/>
            <a:r>
              <a:rPr lang="en-US" sz="3000" b="1" dirty="0">
                <a:solidFill>
                  <a:prstClr val="black"/>
                </a:solidFill>
                <a:latin typeface="Courier New" panose="02070309020205020404" pitchFamily="49" charset="0"/>
                <a:cs typeface="Courier New" panose="02070309020205020404" pitchFamily="49" charset="0"/>
              </a:rPr>
              <a:t>		select;</a:t>
            </a:r>
          </a:p>
          <a:p>
            <a:pPr defTabSz="685800"/>
            <a:r>
              <a:rPr lang="en-US" sz="3000" b="1" dirty="0">
                <a:solidFill>
                  <a:prstClr val="black"/>
                </a:solidFill>
                <a:latin typeface="Courier New" panose="02070309020205020404" pitchFamily="49" charset="0"/>
                <a:cs typeface="Courier New" panose="02070309020205020404" pitchFamily="49" charset="0"/>
              </a:rPr>
              <a:t>			when (1 le bmi lt 18.5) bmi_cat = 1; . . .</a:t>
            </a:r>
          </a:p>
          <a:p>
            <a:pPr defTabSz="685800"/>
            <a:r>
              <a:rPr lang="en-US" sz="3000" b="1" dirty="0">
                <a:solidFill>
                  <a:prstClr val="black"/>
                </a:solidFill>
                <a:latin typeface="Courier New" panose="02070309020205020404" pitchFamily="49" charset="0"/>
                <a:cs typeface="Courier New" panose="02070309020205020404" pitchFamily="49" charset="0"/>
              </a:rPr>
              <a:t>			otherwise  bmi_cat = .;</a:t>
            </a:r>
          </a:p>
          <a:p>
            <a:pPr defTabSz="685800"/>
            <a:r>
              <a:rPr lang="en-US" sz="3000" b="1" dirty="0">
                <a:solidFill>
                  <a:prstClr val="black"/>
                </a:solidFill>
                <a:latin typeface="Courier New" panose="02070309020205020404" pitchFamily="49" charset="0"/>
                <a:cs typeface="Courier New" panose="02070309020205020404" pitchFamily="49" charset="0"/>
              </a:rPr>
              <a:t>		end;</a:t>
            </a:r>
          </a:p>
          <a:p>
            <a:pPr defTabSz="685800"/>
            <a:r>
              <a:rPr lang="en-US" sz="3000" b="1" dirty="0">
                <a:solidFill>
                  <a:prstClr val="black"/>
                </a:solidFill>
                <a:latin typeface="Courier New" panose="02070309020205020404" pitchFamily="49" charset="0"/>
                <a:cs typeface="Courier New" panose="02070309020205020404" pitchFamily="49" charset="0"/>
              </a:rPr>
              <a:t>		select;</a:t>
            </a:r>
          </a:p>
          <a:p>
            <a:pPr defTabSz="685800"/>
            <a:r>
              <a:rPr lang="en-US" sz="3000" b="1" dirty="0">
                <a:solidFill>
                  <a:prstClr val="black"/>
                </a:solidFill>
                <a:latin typeface="Courier New" panose="02070309020205020404" pitchFamily="49" charset="0"/>
                <a:cs typeface="Courier New" panose="02070309020205020404" pitchFamily="49" charset="0"/>
              </a:rPr>
              <a:t>			when (1 le bmi lt 30) obesity_cat = 1; . . .</a:t>
            </a:r>
          </a:p>
          <a:p>
            <a:pPr defTabSz="685800"/>
            <a:r>
              <a:rPr lang="en-US" sz="3000" b="1" dirty="0">
                <a:solidFill>
                  <a:prstClr val="black"/>
                </a:solidFill>
                <a:latin typeface="Courier New" panose="02070309020205020404" pitchFamily="49" charset="0"/>
                <a:cs typeface="Courier New" panose="02070309020205020404" pitchFamily="49" charset="0"/>
              </a:rPr>
              <a:t>			otherwise  obesity_cat = .;</a:t>
            </a:r>
          </a:p>
          <a:p>
            <a:pPr defTabSz="685800"/>
            <a:r>
              <a:rPr lang="en-US" sz="3000" b="1" dirty="0">
                <a:solidFill>
                  <a:prstClr val="black"/>
                </a:solidFill>
                <a:latin typeface="Courier New" panose="02070309020205020404" pitchFamily="49" charset="0"/>
                <a:cs typeface="Courier New" panose="02070309020205020404" pitchFamily="49" charset="0"/>
              </a:rPr>
              <a:t>		end;</a:t>
            </a:r>
          </a:p>
        </p:txBody>
      </p:sp>
      <p:sp>
        <p:nvSpPr>
          <p:cNvPr id="4" name="TextBox 3">
            <a:extLst>
              <a:ext uri="{FF2B5EF4-FFF2-40B4-BE49-F238E27FC236}">
                <a16:creationId xmlns:a16="http://schemas.microsoft.com/office/drawing/2014/main" id="{1078EF3A-0018-C337-72F9-8B7F96EEB132}"/>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Tree>
    <p:extLst>
      <p:ext uri="{BB962C8B-B14F-4D97-AF65-F5344CB8AC3E}">
        <p14:creationId xmlns:p14="http://schemas.microsoft.com/office/powerpoint/2010/main" val="2226780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330FF-BB21-B657-B12E-759FADAEC0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6CFC66-AC68-ED1A-9756-29097F24874B}"/>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Creating a Test SAS Data Set</a:t>
            </a:r>
          </a:p>
        </p:txBody>
      </p:sp>
      <p:cxnSp>
        <p:nvCxnSpPr>
          <p:cNvPr id="10" name="Straight Connector 9">
            <a:extLst>
              <a:ext uri="{FF2B5EF4-FFF2-40B4-BE49-F238E27FC236}">
                <a16:creationId xmlns:a16="http://schemas.microsoft.com/office/drawing/2014/main" id="{7EC0F666-5AB1-CDA9-2A70-11FB0909D3D5}"/>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0CAC7310-D502-FA2E-9ABE-1D0AAD3FF3C5}"/>
              </a:ext>
            </a:extLst>
          </p:cNvPr>
          <p:cNvSpPr txBox="1"/>
          <p:nvPr/>
        </p:nvSpPr>
        <p:spPr>
          <a:xfrm>
            <a:off x="3112265" y="2382566"/>
            <a:ext cx="12063470" cy="3785652"/>
          </a:xfrm>
          <a:prstGeom prst="rect">
            <a:avLst/>
          </a:prstGeom>
          <a:noFill/>
        </p:spPr>
        <p:txBody>
          <a:bodyPr wrap="square" rtlCol="0">
            <a:spAutoFit/>
          </a:bodyPr>
          <a:lstStyle/>
          <a:p>
            <a:pPr defTabSz="685800"/>
            <a:r>
              <a:rPr lang="en-US" sz="3000" b="1" dirty="0">
                <a:solidFill>
                  <a:prstClr val="black"/>
                </a:solidFill>
                <a:latin typeface="Courier New" panose="02070309020205020404" pitchFamily="49" charset="0"/>
                <a:cs typeface="Courier New" panose="02070309020205020404" pitchFamily="49" charset="0"/>
              </a:rPr>
              <a:t>		select;</a:t>
            </a:r>
          </a:p>
          <a:p>
            <a:pPr marL="2057400" lvl="3" defTabSz="685800"/>
            <a:r>
              <a:rPr lang="en-US" sz="3000" b="1" dirty="0">
                <a:solidFill>
                  <a:prstClr val="black"/>
                </a:solidFill>
                <a:latin typeface="Courier New" panose="02070309020205020404" pitchFamily="49" charset="0"/>
                <a:cs typeface="Courier New" panose="02070309020205020404" pitchFamily="49" charset="0"/>
              </a:rPr>
              <a:t>when (sex='Female') female = 1;</a:t>
            </a:r>
          </a:p>
          <a:p>
            <a:pPr defTabSz="685800"/>
            <a:r>
              <a:rPr lang="en-US" sz="3000" b="1" dirty="0">
                <a:solidFill>
                  <a:prstClr val="black"/>
                </a:solidFill>
                <a:latin typeface="Courier New" panose="02070309020205020404" pitchFamily="49" charset="0"/>
                <a:cs typeface="Courier New" panose="02070309020205020404" pitchFamily="49" charset="0"/>
              </a:rPr>
              <a:t>		       otherwise  female = 0;</a:t>
            </a:r>
          </a:p>
          <a:p>
            <a:pPr defTabSz="685800"/>
            <a:r>
              <a:rPr lang="en-US" sz="3000" b="1" dirty="0">
                <a:solidFill>
                  <a:prstClr val="black"/>
                </a:solidFill>
                <a:latin typeface="Courier New" panose="02070309020205020404" pitchFamily="49" charset="0"/>
                <a:cs typeface="Courier New" panose="02070309020205020404" pitchFamily="49" charset="0"/>
              </a:rPr>
              <a:t>	   end;</a:t>
            </a:r>
          </a:p>
          <a:p>
            <a:pPr defTabSz="685800"/>
            <a:r>
              <a:rPr lang="en-US" sz="3000" b="1" dirty="0">
                <a:solidFill>
                  <a:prstClr val="black"/>
                </a:solidFill>
                <a:latin typeface="Courier New" panose="02070309020205020404" pitchFamily="49" charset="0"/>
                <a:cs typeface="Courier New" panose="02070309020205020404" pitchFamily="49" charset="0"/>
              </a:rPr>
              <a:t>	   select;</a:t>
            </a:r>
          </a:p>
          <a:p>
            <a:pPr defTabSz="685800"/>
            <a:r>
              <a:rPr lang="en-US" sz="3000" b="1" dirty="0">
                <a:solidFill>
                  <a:prstClr val="black"/>
                </a:solidFill>
                <a:latin typeface="Courier New" panose="02070309020205020404" pitchFamily="49" charset="0"/>
                <a:cs typeface="Courier New" panose="02070309020205020404" pitchFamily="49" charset="0"/>
              </a:rPr>
              <a:t>	       when (sex='Male') male = 1;</a:t>
            </a:r>
          </a:p>
          <a:p>
            <a:pPr defTabSz="685800"/>
            <a:r>
              <a:rPr lang="en-US" sz="3000" b="1" dirty="0">
                <a:solidFill>
                  <a:prstClr val="black"/>
                </a:solidFill>
                <a:latin typeface="Courier New" panose="02070309020205020404" pitchFamily="49" charset="0"/>
                <a:cs typeface="Courier New" panose="02070309020205020404" pitchFamily="49" charset="0"/>
              </a:rPr>
              <a:t>		       otherwise male = 0;</a:t>
            </a:r>
          </a:p>
          <a:p>
            <a:pPr defTabSz="685800"/>
            <a:r>
              <a:rPr lang="en-US" sz="3000" b="1" dirty="0">
                <a:solidFill>
                  <a:prstClr val="black"/>
                </a:solidFill>
                <a:latin typeface="Courier New" panose="02070309020205020404" pitchFamily="49" charset="0"/>
                <a:cs typeface="Courier New" panose="02070309020205020404" pitchFamily="49" charset="0"/>
              </a:rPr>
              <a:t>	   end;</a:t>
            </a:r>
          </a:p>
        </p:txBody>
      </p:sp>
      <p:sp>
        <p:nvSpPr>
          <p:cNvPr id="4" name="TextBox 3">
            <a:extLst>
              <a:ext uri="{FF2B5EF4-FFF2-40B4-BE49-F238E27FC236}">
                <a16:creationId xmlns:a16="http://schemas.microsoft.com/office/drawing/2014/main" id="{1FF4A70A-B9CC-1DEF-4F5A-8F270961D994}"/>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Tree>
    <p:extLst>
      <p:ext uri="{BB962C8B-B14F-4D97-AF65-F5344CB8AC3E}">
        <p14:creationId xmlns:p14="http://schemas.microsoft.com/office/powerpoint/2010/main" val="168765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70CD7-5B6D-4B6A-6383-715FE79696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5E13E7-8F8C-BB7E-2130-811E2D64C4AB}"/>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Creating a Test SAS Data Set</a:t>
            </a:r>
          </a:p>
        </p:txBody>
      </p:sp>
      <p:cxnSp>
        <p:nvCxnSpPr>
          <p:cNvPr id="10" name="Straight Connector 9">
            <a:extLst>
              <a:ext uri="{FF2B5EF4-FFF2-40B4-BE49-F238E27FC236}">
                <a16:creationId xmlns:a16="http://schemas.microsoft.com/office/drawing/2014/main" id="{5E4A5D4B-0AEA-E681-2CF6-F5302942CCC1}"/>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C4989787-7D34-6C7E-A1C3-7B92BDB0649B}"/>
              </a:ext>
            </a:extLst>
          </p:cNvPr>
          <p:cNvSpPr txBox="1"/>
          <p:nvPr/>
        </p:nvSpPr>
        <p:spPr>
          <a:xfrm>
            <a:off x="3112264" y="2427321"/>
            <a:ext cx="12063470" cy="5632311"/>
          </a:xfrm>
          <a:prstGeom prst="rect">
            <a:avLst/>
          </a:prstGeom>
          <a:noFill/>
        </p:spPr>
        <p:txBody>
          <a:bodyPr wrap="square" rtlCol="0">
            <a:spAutoFit/>
          </a:bodyPr>
          <a:lstStyle/>
          <a:p>
            <a:pPr defTabSz="685800"/>
            <a:r>
              <a:rPr lang="en-US" sz="3000" b="1" dirty="0">
                <a:solidFill>
                  <a:prstClr val="black"/>
                </a:solidFill>
                <a:latin typeface="Courier New" panose="02070309020205020404" pitchFamily="49" charset="0"/>
                <a:cs typeface="Courier New" panose="02070309020205020404" pitchFamily="49" charset="0"/>
              </a:rPr>
              <a:t>	label 		HeartID="Heart Group Variable"</a:t>
            </a:r>
          </a:p>
          <a:p>
            <a:pPr defTabSz="685800"/>
            <a:r>
              <a:rPr lang="en-US" sz="3000" b="1" dirty="0">
                <a:solidFill>
                  <a:prstClr val="black"/>
                </a:solidFill>
                <a:latin typeface="Courier New" panose="02070309020205020404" pitchFamily="49" charset="0"/>
                <a:cs typeface="Courier New" panose="02070309020205020404" pitchFamily="49" charset="0"/>
              </a:rPr>
              <a:t>	      		SeqNum="Sequence Number"</a:t>
            </a:r>
          </a:p>
          <a:p>
            <a:pPr defTabSz="685800"/>
            <a:r>
              <a:rPr lang="en-US" sz="3000" b="1" dirty="0">
                <a:solidFill>
                  <a:prstClr val="black"/>
                </a:solidFill>
                <a:latin typeface="Courier New" panose="02070309020205020404" pitchFamily="49" charset="0"/>
                <a:cs typeface="Courier New" panose="02070309020205020404" pitchFamily="49" charset="0"/>
              </a:rPr>
              <a:t>	      		bmi="BMI"</a:t>
            </a:r>
          </a:p>
          <a:p>
            <a:pPr defTabSz="685800"/>
            <a:r>
              <a:rPr lang="en-US" sz="3000" b="1" dirty="0">
                <a:solidFill>
                  <a:prstClr val="black"/>
                </a:solidFill>
                <a:latin typeface="Courier New" panose="02070309020205020404" pitchFamily="49" charset="0"/>
                <a:cs typeface="Courier New" panose="02070309020205020404" pitchFamily="49" charset="0"/>
              </a:rPr>
              <a:t>					bmi_cat="BMI Category"</a:t>
            </a:r>
          </a:p>
          <a:p>
            <a:pPr defTabSz="685800"/>
            <a:r>
              <a:rPr lang="en-US" sz="3000" b="1" dirty="0">
                <a:solidFill>
                  <a:prstClr val="black"/>
                </a:solidFill>
                <a:latin typeface="Courier New" panose="02070309020205020404" pitchFamily="49" charset="0"/>
                <a:cs typeface="Courier New" panose="02070309020205020404" pitchFamily="49" charset="0"/>
              </a:rPr>
              <a:t>					obesity_cat="Obesity Category"</a:t>
            </a:r>
          </a:p>
          <a:p>
            <a:pPr defTabSz="685800"/>
            <a:r>
              <a:rPr lang="en-US" sz="3000" b="1" dirty="0">
                <a:solidFill>
                  <a:prstClr val="black"/>
                </a:solidFill>
                <a:latin typeface="Courier New" panose="02070309020205020404" pitchFamily="49" charset="0"/>
                <a:cs typeface="Courier New" panose="02070309020205020404" pitchFamily="49" charset="0"/>
              </a:rPr>
              <a:t>					SampleWeight="Sample Weight"</a:t>
            </a:r>
          </a:p>
          <a:p>
            <a:pPr marL="2743200" lvl="4" defTabSz="685800"/>
            <a:r>
              <a:rPr lang="en-US" sz="3000" b="1" dirty="0">
                <a:solidFill>
                  <a:prstClr val="black"/>
                </a:solidFill>
                <a:latin typeface="Courier New" panose="02070309020205020404" pitchFamily="49" charset="0"/>
                <a:cs typeface="Courier New" panose="02070309020205020404" pitchFamily="49" charset="0"/>
              </a:rPr>
              <a:t>	male="Binary: Male"</a:t>
            </a:r>
          </a:p>
          <a:p>
            <a:pPr defTabSz="685800"/>
            <a:r>
              <a:rPr lang="en-US" sz="3000" b="1" dirty="0">
                <a:solidFill>
                  <a:prstClr val="black"/>
                </a:solidFill>
                <a:latin typeface="Courier New" panose="02070309020205020404" pitchFamily="49" charset="0"/>
                <a:cs typeface="Courier New" panose="02070309020205020404" pitchFamily="49" charset="0"/>
              </a:rPr>
              <a:t>            	female="Binary: Female";</a:t>
            </a:r>
          </a:p>
          <a:p>
            <a:pPr defTabSz="685800"/>
            <a:r>
              <a:rPr lang="en-US" sz="3000" b="1" dirty="0">
                <a:solidFill>
                  <a:prstClr val="black"/>
                </a:solidFill>
                <a:latin typeface="Courier New" panose="02070309020205020404" pitchFamily="49" charset="0"/>
                <a:cs typeface="Courier New" panose="02070309020205020404" pitchFamily="49" charset="0"/>
              </a:rPr>
              <a:t>run;</a:t>
            </a:r>
          </a:p>
          <a:p>
            <a:pPr defTabSz="685800"/>
            <a:r>
              <a:rPr lang="en-US" sz="3000" b="1" dirty="0">
                <a:solidFill>
                  <a:prstClr val="black"/>
                </a:solidFill>
                <a:latin typeface="Courier New" panose="02070309020205020404" pitchFamily="49" charset="0"/>
                <a:cs typeface="Courier New" panose="02070309020205020404" pitchFamily="49" charset="0"/>
              </a:rPr>
              <a:t> </a:t>
            </a:r>
          </a:p>
          <a:p>
            <a:pPr defTabSz="685800"/>
            <a:r>
              <a:rPr lang="en-US" sz="3000" dirty="0">
                <a:solidFill>
                  <a:prstClr val="black"/>
                </a:solidFill>
                <a:latin typeface="Courier New" panose="02070309020205020404" pitchFamily="49" charset="0"/>
                <a:cs typeface="Courier New" panose="02070309020205020404" pitchFamily="49" charset="0"/>
              </a:rPr>
              <a:t> </a:t>
            </a:r>
          </a:p>
          <a:p>
            <a:pPr defTabSz="685800"/>
            <a:endParaRPr lang="en-US" sz="3000" dirty="0">
              <a:solidFill>
                <a:prstClr val="black"/>
              </a:solidFill>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0217C624-8104-3A78-FF91-8E03036B72DF}"/>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Tree>
    <p:extLst>
      <p:ext uri="{BB962C8B-B14F-4D97-AF65-F5344CB8AC3E}">
        <p14:creationId xmlns:p14="http://schemas.microsoft.com/office/powerpoint/2010/main" val="2524710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blip>
          <a:srcRect/>
          <a:stretch>
            <a:fillRect l="-2000" r="-2000"/>
          </a:stretch>
        </a:blipFill>
        <a:effectLst/>
      </p:bgPr>
    </p:bg>
    <p:spTree>
      <p:nvGrpSpPr>
        <p:cNvPr id="1" name="">
          <a:extLst>
            <a:ext uri="{FF2B5EF4-FFF2-40B4-BE49-F238E27FC236}">
              <a16:creationId xmlns:a16="http://schemas.microsoft.com/office/drawing/2014/main" id="{02D8F330-3F8E-67A7-8A3B-E14514F6BC2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05623D7-0349-1EB0-BD5B-9D3A5EA8C207}"/>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
        <p:nvSpPr>
          <p:cNvPr id="2" name="Rectangle 1">
            <a:extLst>
              <a:ext uri="{FF2B5EF4-FFF2-40B4-BE49-F238E27FC236}">
                <a16:creationId xmlns:a16="http://schemas.microsoft.com/office/drawing/2014/main" id="{9F7AADFC-2924-0855-D136-DF81B9EA714B}"/>
              </a:ext>
            </a:extLst>
          </p:cNvPr>
          <p:cNvSpPr/>
          <p:nvPr/>
        </p:nvSpPr>
        <p:spPr>
          <a:xfrm>
            <a:off x="2286000" y="7902362"/>
            <a:ext cx="13716000" cy="2498271"/>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lang="en-US" sz="2700" dirty="0">
              <a:solidFill>
                <a:prstClr val="white"/>
              </a:solidFill>
              <a:latin typeface="Calibri"/>
            </a:endParaRPr>
          </a:p>
        </p:txBody>
      </p:sp>
      <p:sp>
        <p:nvSpPr>
          <p:cNvPr id="4" name="TextBox 3">
            <a:extLst>
              <a:ext uri="{FF2B5EF4-FFF2-40B4-BE49-F238E27FC236}">
                <a16:creationId xmlns:a16="http://schemas.microsoft.com/office/drawing/2014/main" id="{EC9CE39B-E597-22FC-9A10-0834D155D867}"/>
              </a:ext>
            </a:extLst>
          </p:cNvPr>
          <p:cNvSpPr txBox="1"/>
          <p:nvPr/>
        </p:nvSpPr>
        <p:spPr>
          <a:xfrm>
            <a:off x="2579914" y="8158917"/>
            <a:ext cx="13128173" cy="1938992"/>
          </a:xfrm>
          <a:prstGeom prst="rect">
            <a:avLst/>
          </a:prstGeom>
          <a:noFill/>
        </p:spPr>
        <p:txBody>
          <a:bodyPr wrap="square" rtlCol="0">
            <a:spAutoFit/>
          </a:bodyPr>
          <a:lstStyle/>
          <a:p>
            <a:pPr algn="ctr" defTabSz="685800"/>
            <a:r>
              <a:rPr lang="en-US" sz="6000" b="1" dirty="0">
                <a:solidFill>
                  <a:prstClr val="white"/>
                </a:solidFill>
                <a:latin typeface="Calibri"/>
              </a:rPr>
              <a:t>Identifying ODS Output Objects: </a:t>
            </a:r>
          </a:p>
          <a:p>
            <a:pPr algn="ctr" defTabSz="685800"/>
            <a:r>
              <a:rPr lang="en-US" sz="6000" b="1" dirty="0">
                <a:solidFill>
                  <a:prstClr val="white"/>
                </a:solidFill>
                <a:latin typeface="Calibri"/>
              </a:rPr>
              <a:t>ODS TRACE</a:t>
            </a:r>
          </a:p>
        </p:txBody>
      </p:sp>
    </p:spTree>
    <p:extLst>
      <p:ext uri="{BB962C8B-B14F-4D97-AF65-F5344CB8AC3E}">
        <p14:creationId xmlns:p14="http://schemas.microsoft.com/office/powerpoint/2010/main" val="2588832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95357-07B5-FC17-E396-23ED2E0955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E56537-BA91-4817-4CBA-C6B8B1470609}"/>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How to train your ODS Output Objects</a:t>
            </a:r>
          </a:p>
        </p:txBody>
      </p:sp>
      <p:sp>
        <p:nvSpPr>
          <p:cNvPr id="6" name="TextBox 5">
            <a:extLst>
              <a:ext uri="{FF2B5EF4-FFF2-40B4-BE49-F238E27FC236}">
                <a16:creationId xmlns:a16="http://schemas.microsoft.com/office/drawing/2014/main" id="{F252AC41-0CFB-745E-3012-11022D77BA36}"/>
              </a:ext>
            </a:extLst>
          </p:cNvPr>
          <p:cNvSpPr txBox="1"/>
          <p:nvPr/>
        </p:nvSpPr>
        <p:spPr>
          <a:xfrm>
            <a:off x="3112264" y="2427322"/>
            <a:ext cx="12063470" cy="13388280"/>
          </a:xfrm>
          <a:prstGeom prst="rect">
            <a:avLst/>
          </a:prstGeom>
          <a:noFill/>
        </p:spPr>
        <p:txBody>
          <a:bodyPr wrap="square" rtlCol="0">
            <a:spAutoFit/>
          </a:bodyPr>
          <a:lstStyle/>
          <a:p>
            <a:pPr defTabSz="685800"/>
            <a:r>
              <a:rPr lang="en-US" sz="4800" dirty="0">
                <a:solidFill>
                  <a:prstClr val="black"/>
                </a:solidFill>
                <a:latin typeface="Calibri"/>
              </a:rPr>
              <a:t>1.  Identify / locate your ODS output object(s) using ODS TRACE or output data set(s) .</a:t>
            </a:r>
          </a:p>
          <a:p>
            <a:pPr defTabSz="685800"/>
            <a:r>
              <a:rPr lang="en-US" sz="4800" dirty="0">
                <a:solidFill>
                  <a:prstClr val="black"/>
                </a:solidFill>
                <a:latin typeface="Calibri"/>
              </a:rPr>
              <a:t>2. Analyze your ODS output object(s) or output data set(s) using basic SAS procedures and review.</a:t>
            </a:r>
          </a:p>
          <a:p>
            <a:pPr defTabSz="685800"/>
            <a:r>
              <a:rPr lang="en-US" sz="4800" dirty="0">
                <a:solidFill>
                  <a:prstClr val="black"/>
                </a:solidFill>
                <a:latin typeface="Calibri"/>
              </a:rPr>
              <a:t>3. Manipulate your ODS output object(s) or output data set(s) using SAS data steps, ODS options, and/or procedures.</a:t>
            </a:r>
          </a:p>
          <a:p>
            <a:pPr defTabSz="685800"/>
            <a:r>
              <a:rPr lang="en-US" sz="4800" dirty="0">
                <a:solidFill>
                  <a:prstClr val="black"/>
                </a:solidFill>
                <a:latin typeface="Calibri"/>
              </a:rPr>
              <a:t>4. Report on your final data set(s).</a:t>
            </a:r>
          </a:p>
          <a:p>
            <a:pPr defTabSz="685800"/>
            <a:endParaRPr lang="en-US" sz="2700" dirty="0">
              <a:solidFill>
                <a:prstClr val="black"/>
              </a:solidFill>
              <a:latin typeface="Calibri"/>
            </a:endParaRPr>
          </a:p>
          <a:p>
            <a:pPr defTabSz="685800"/>
            <a:endParaRPr lang="en-US" sz="2700" dirty="0">
              <a:solidFill>
                <a:prstClr val="black"/>
              </a:solidFill>
              <a:latin typeface="Calibri"/>
            </a:endParaRPr>
          </a:p>
          <a:p>
            <a:pPr defTabSz="685800"/>
            <a:endParaRPr lang="en-US" sz="2700" dirty="0">
              <a:solidFill>
                <a:prstClr val="black"/>
              </a:solidFill>
              <a:latin typeface="Calibri"/>
            </a:endParaRPr>
          </a:p>
          <a:p>
            <a:pPr defTabSz="685800"/>
            <a:endParaRPr lang="en-US" sz="2700" dirty="0">
              <a:solidFill>
                <a:prstClr val="black"/>
              </a:solidFill>
              <a:latin typeface="Calibri"/>
            </a:endParaRPr>
          </a:p>
          <a:p>
            <a:pPr defTabSz="685800"/>
            <a:endParaRPr lang="en-US" sz="2700" dirty="0">
              <a:solidFill>
                <a:prstClr val="black"/>
              </a:solidFill>
              <a:latin typeface="Calibri"/>
            </a:endParaRPr>
          </a:p>
          <a:p>
            <a:pPr defTabSz="685800"/>
            <a:endParaRPr lang="en-US" sz="2700" dirty="0">
              <a:solidFill>
                <a:prstClr val="black"/>
              </a:solidFill>
              <a:latin typeface="Calibri"/>
            </a:endParaRPr>
          </a:p>
          <a:p>
            <a:pPr defTabSz="685800"/>
            <a:endParaRPr lang="en-US" sz="2700" dirty="0">
              <a:solidFill>
                <a:prstClr val="black"/>
              </a:solidFill>
              <a:latin typeface="Calibri"/>
            </a:endParaRPr>
          </a:p>
          <a:p>
            <a:pPr defTabSz="685800"/>
            <a:endParaRPr lang="en-US" sz="2700" dirty="0">
              <a:solidFill>
                <a:prstClr val="black"/>
              </a:solidFill>
              <a:latin typeface="Calibri"/>
            </a:endParaRPr>
          </a:p>
          <a:p>
            <a:pPr defTabSz="685800"/>
            <a:endParaRPr lang="en-US" sz="2700" dirty="0">
              <a:solidFill>
                <a:prstClr val="black"/>
              </a:solidFill>
              <a:latin typeface="Calibri"/>
            </a:endParaRPr>
          </a:p>
          <a:p>
            <a:pPr defTabSz="685800"/>
            <a:endParaRPr lang="en-US" sz="2700" dirty="0">
              <a:solidFill>
                <a:prstClr val="black"/>
              </a:solidFill>
              <a:latin typeface="Calibri"/>
            </a:endParaRPr>
          </a:p>
          <a:p>
            <a:pPr defTabSz="685800"/>
            <a:endParaRPr lang="en-US" sz="2700" dirty="0">
              <a:solidFill>
                <a:prstClr val="black"/>
              </a:solidFill>
              <a:latin typeface="Calibri"/>
            </a:endParaRPr>
          </a:p>
          <a:p>
            <a:pPr defTabSz="685800"/>
            <a:endParaRPr lang="en-US" sz="2700" dirty="0">
              <a:solidFill>
                <a:prstClr val="black"/>
              </a:solidFill>
              <a:latin typeface="Calibri"/>
            </a:endParaRPr>
          </a:p>
          <a:p>
            <a:pPr defTabSz="685800"/>
            <a:endParaRPr lang="en-US" sz="2700" dirty="0">
              <a:solidFill>
                <a:prstClr val="black"/>
              </a:solidFill>
              <a:latin typeface="Calibri"/>
            </a:endParaRPr>
          </a:p>
          <a:p>
            <a:pPr defTabSz="685800"/>
            <a:endParaRPr lang="en-US" sz="2700" dirty="0">
              <a:solidFill>
                <a:prstClr val="black"/>
              </a:solidFill>
              <a:latin typeface="Calibri"/>
            </a:endParaRPr>
          </a:p>
          <a:p>
            <a:pPr defTabSz="685800"/>
            <a:endParaRPr lang="en-US" sz="2700" dirty="0">
              <a:solidFill>
                <a:prstClr val="black"/>
              </a:solidFill>
              <a:latin typeface="Calibri"/>
            </a:endParaRPr>
          </a:p>
          <a:p>
            <a:pPr defTabSz="685800"/>
            <a:endParaRPr lang="en-US" sz="2700" dirty="0">
              <a:solidFill>
                <a:prstClr val="black"/>
              </a:solidFill>
              <a:latin typeface="Calibri"/>
            </a:endParaRPr>
          </a:p>
        </p:txBody>
      </p:sp>
      <p:cxnSp>
        <p:nvCxnSpPr>
          <p:cNvPr id="10" name="Straight Connector 9">
            <a:extLst>
              <a:ext uri="{FF2B5EF4-FFF2-40B4-BE49-F238E27FC236}">
                <a16:creationId xmlns:a16="http://schemas.microsoft.com/office/drawing/2014/main" id="{ECFA3B95-1C10-A790-8C92-670386F8DF34}"/>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754D591F-B811-12E6-029D-E6EDC4ABC874}"/>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Tree>
    <p:extLst>
      <p:ext uri="{BB962C8B-B14F-4D97-AF65-F5344CB8AC3E}">
        <p14:creationId xmlns:p14="http://schemas.microsoft.com/office/powerpoint/2010/main" val="2774494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AA331-D22D-E4D5-737E-160B7A5AAD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DCA803-0BF0-2D78-919A-7909A04A1E43}"/>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How to train your ODS Output Objects</a:t>
            </a:r>
          </a:p>
        </p:txBody>
      </p:sp>
      <p:sp>
        <p:nvSpPr>
          <p:cNvPr id="6" name="TextBox 5">
            <a:extLst>
              <a:ext uri="{FF2B5EF4-FFF2-40B4-BE49-F238E27FC236}">
                <a16:creationId xmlns:a16="http://schemas.microsoft.com/office/drawing/2014/main" id="{49AC8A27-3048-6F21-39E4-FC4862122F75}"/>
              </a:ext>
            </a:extLst>
          </p:cNvPr>
          <p:cNvSpPr txBox="1"/>
          <p:nvPr/>
        </p:nvSpPr>
        <p:spPr>
          <a:xfrm>
            <a:off x="3112264" y="2132588"/>
            <a:ext cx="12063470" cy="6047809"/>
          </a:xfrm>
          <a:prstGeom prst="rect">
            <a:avLst/>
          </a:prstGeom>
          <a:noFill/>
        </p:spPr>
        <p:txBody>
          <a:bodyPr wrap="square" rtlCol="0">
            <a:spAutoFit/>
          </a:bodyPr>
          <a:lstStyle/>
          <a:p>
            <a:pPr defTabSz="685800"/>
            <a:endParaRPr lang="en-US" b="1" dirty="0">
              <a:solidFill>
                <a:prstClr val="black"/>
              </a:solidFill>
              <a:latin typeface="Courier New" panose="02070309020205020404" pitchFamily="49" charset="0"/>
              <a:cs typeface="Courier New" panose="02070309020205020404" pitchFamily="49" charset="0"/>
            </a:endParaRPr>
          </a:p>
          <a:p>
            <a:pPr defTabSz="685800"/>
            <a:r>
              <a:rPr lang="en-US" b="1" dirty="0">
                <a:solidFill>
                  <a:prstClr val="black"/>
                </a:solidFill>
                <a:latin typeface="Courier New" panose="02070309020205020404" pitchFamily="49" charset="0"/>
                <a:cs typeface="Courier New" panose="02070309020205020404" pitchFamily="49" charset="0"/>
              </a:rPr>
              <a:t>ods trace on </a:t>
            </a:r>
            <a:r>
              <a:rPr lang="en-US" b="1" i="1" dirty="0">
                <a:solidFill>
                  <a:prstClr val="black"/>
                </a:solidFill>
                <a:latin typeface="Courier New" panose="02070309020205020404" pitchFamily="49" charset="0"/>
                <a:cs typeface="Courier New" panose="02070309020205020404" pitchFamily="49" charset="0"/>
              </a:rPr>
              <a:t>/ label listing;</a:t>
            </a:r>
          </a:p>
          <a:p>
            <a:pPr defTabSz="685800"/>
            <a:r>
              <a:rPr lang="en-US" b="1" i="1" dirty="0">
                <a:solidFill>
                  <a:prstClr val="black"/>
                </a:solidFill>
                <a:latin typeface="Courier New" panose="02070309020205020404" pitchFamily="49" charset="0"/>
                <a:cs typeface="Courier New" panose="02070309020205020404" pitchFamily="49" charset="0"/>
              </a:rPr>
              <a:t>    </a:t>
            </a:r>
            <a:r>
              <a:rPr lang="en-US" b="1" i="1" dirty="0">
                <a:solidFill>
                  <a:srgbClr val="4BACC6">
                    <a:lumMod val="75000"/>
                  </a:srgbClr>
                </a:solidFill>
                <a:latin typeface="Courier New" panose="02070309020205020404" pitchFamily="49" charset="0"/>
                <a:cs typeface="Courier New" panose="02070309020205020404" pitchFamily="49" charset="0"/>
              </a:rPr>
              <a:t>ods rtf file=yourfilename.rtf’ 							path=</a:t>
            </a:r>
            <a:r>
              <a:rPr lang="en-US" b="1" i="1" dirty="0" err="1">
                <a:solidFill>
                  <a:srgbClr val="4BACC6">
                    <a:lumMod val="75000"/>
                  </a:srgbClr>
                </a:solidFill>
                <a:latin typeface="Courier New" panose="02070309020205020404" pitchFamily="49" charset="0"/>
                <a:cs typeface="Courier New" panose="02070309020205020404" pitchFamily="49" charset="0"/>
              </a:rPr>
              <a:t>odsout</a:t>
            </a:r>
            <a:r>
              <a:rPr lang="en-US" b="1" i="1" dirty="0">
                <a:solidFill>
                  <a:srgbClr val="4BACC6">
                    <a:lumMod val="75000"/>
                  </a:srgbClr>
                </a:solidFill>
                <a:latin typeface="Courier New" panose="02070309020205020404" pitchFamily="49" charset="0"/>
                <a:cs typeface="Courier New" panose="02070309020205020404" pitchFamily="49" charset="0"/>
              </a:rPr>
              <a:t> style=styles.journal2;</a:t>
            </a:r>
          </a:p>
          <a:p>
            <a:pPr defTabSz="685800"/>
            <a:r>
              <a:rPr lang="en-US" b="1" dirty="0">
                <a:solidFill>
                  <a:srgbClr val="7030A0"/>
                </a:solidFill>
                <a:latin typeface="Courier New" panose="02070309020205020404" pitchFamily="49" charset="0"/>
                <a:cs typeface="Courier New" panose="02070309020205020404" pitchFamily="49" charset="0"/>
              </a:rPr>
              <a:t>    </a:t>
            </a:r>
            <a:r>
              <a:rPr lang="en-US" b="1" i="1" dirty="0">
                <a:solidFill>
                  <a:srgbClr val="7030A0"/>
                </a:solidFill>
                <a:latin typeface="Courier New" panose="02070309020205020404" pitchFamily="49" charset="0"/>
                <a:cs typeface="Courier New" panose="02070309020205020404" pitchFamily="49" charset="0"/>
              </a:rPr>
              <a:t>ods graphics on;</a:t>
            </a:r>
          </a:p>
          <a:p>
            <a:pPr defTabSz="685800"/>
            <a:r>
              <a:rPr lang="en-US" b="1" dirty="0">
                <a:solidFill>
                  <a:prstClr val="black"/>
                </a:solidFill>
                <a:latin typeface="Courier New" panose="02070309020205020404" pitchFamily="49" charset="0"/>
                <a:cs typeface="Courier New" panose="02070309020205020404" pitchFamily="49" charset="0"/>
              </a:rPr>
              <a:t>    		. . . your procedures here . . .</a:t>
            </a:r>
          </a:p>
          <a:p>
            <a:pPr defTabSz="685800"/>
            <a:r>
              <a:rPr lang="en-US" b="1" dirty="0">
                <a:solidFill>
                  <a:srgbClr val="4BACC6">
                    <a:lumMod val="75000"/>
                  </a:srgbClr>
                </a:solidFill>
                <a:latin typeface="Courier New" panose="02070309020205020404" pitchFamily="49" charset="0"/>
                <a:cs typeface="Courier New" panose="02070309020205020404" pitchFamily="49" charset="0"/>
              </a:rPr>
              <a:t>    </a:t>
            </a:r>
            <a:r>
              <a:rPr lang="en-US" b="1" i="1" dirty="0">
                <a:solidFill>
                  <a:srgbClr val="4BACC6">
                    <a:lumMod val="75000"/>
                  </a:srgbClr>
                </a:solidFill>
                <a:latin typeface="Courier New" panose="02070309020205020404" pitchFamily="49" charset="0"/>
                <a:cs typeface="Courier New" panose="02070309020205020404" pitchFamily="49" charset="0"/>
              </a:rPr>
              <a:t>ods rtf close;</a:t>
            </a:r>
          </a:p>
          <a:p>
            <a:pPr defTabSz="685800"/>
            <a:r>
              <a:rPr lang="en-US" b="1" i="1" dirty="0">
                <a:solidFill>
                  <a:srgbClr val="7030A0"/>
                </a:solidFill>
                <a:latin typeface="Courier New" panose="02070309020205020404" pitchFamily="49" charset="0"/>
                <a:cs typeface="Courier New" panose="02070309020205020404" pitchFamily="49" charset="0"/>
              </a:rPr>
              <a:t>    ods graphics off;</a:t>
            </a:r>
          </a:p>
          <a:p>
            <a:pPr defTabSz="685800"/>
            <a:r>
              <a:rPr lang="en-US" b="1" dirty="0">
                <a:solidFill>
                  <a:prstClr val="black"/>
                </a:solidFill>
                <a:latin typeface="Courier New" panose="02070309020205020404" pitchFamily="49" charset="0"/>
                <a:cs typeface="Courier New" panose="02070309020205020404" pitchFamily="49" charset="0"/>
              </a:rPr>
              <a:t>ods trace off;</a:t>
            </a:r>
            <a:endParaRPr lang="en-US" sz="2700" dirty="0">
              <a:solidFill>
                <a:prstClr val="black"/>
              </a:solidFill>
              <a:latin typeface="Calibri"/>
            </a:endParaRPr>
          </a:p>
          <a:p>
            <a:pPr defTabSz="685800"/>
            <a:endParaRPr lang="en-US" sz="2700" dirty="0">
              <a:solidFill>
                <a:prstClr val="black"/>
              </a:solidFill>
              <a:latin typeface="Calibri"/>
            </a:endParaRPr>
          </a:p>
        </p:txBody>
      </p:sp>
      <p:cxnSp>
        <p:nvCxnSpPr>
          <p:cNvPr id="10" name="Straight Connector 9">
            <a:extLst>
              <a:ext uri="{FF2B5EF4-FFF2-40B4-BE49-F238E27FC236}">
                <a16:creationId xmlns:a16="http://schemas.microsoft.com/office/drawing/2014/main" id="{B4A58897-AC56-E20E-8DE7-DECE2B0AA986}"/>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C5F6E8F6-45E7-6CCE-1AB5-2CFF35A8B0E0}"/>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Tree>
    <p:extLst>
      <p:ext uri="{BB962C8B-B14F-4D97-AF65-F5344CB8AC3E}">
        <p14:creationId xmlns:p14="http://schemas.microsoft.com/office/powerpoint/2010/main" val="2614494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EBABF-E76F-5749-A3CB-BB5D214194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E7C3AA-8B8B-65B8-C0C5-569A67CEFF9F}"/>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How to train your ODS Output Objects</a:t>
            </a:r>
          </a:p>
        </p:txBody>
      </p:sp>
      <p:sp>
        <p:nvSpPr>
          <p:cNvPr id="6" name="TextBox 5">
            <a:extLst>
              <a:ext uri="{FF2B5EF4-FFF2-40B4-BE49-F238E27FC236}">
                <a16:creationId xmlns:a16="http://schemas.microsoft.com/office/drawing/2014/main" id="{C298B197-3753-9A55-71DA-5980ED3FCB4B}"/>
              </a:ext>
            </a:extLst>
          </p:cNvPr>
          <p:cNvSpPr txBox="1"/>
          <p:nvPr/>
        </p:nvSpPr>
        <p:spPr>
          <a:xfrm>
            <a:off x="3112264" y="2132588"/>
            <a:ext cx="12063470" cy="6047809"/>
          </a:xfrm>
          <a:prstGeom prst="rect">
            <a:avLst/>
          </a:prstGeom>
          <a:noFill/>
        </p:spPr>
        <p:txBody>
          <a:bodyPr wrap="square" rtlCol="0">
            <a:spAutoFit/>
          </a:bodyPr>
          <a:lstStyle/>
          <a:p>
            <a:pPr defTabSz="685800"/>
            <a:endParaRPr lang="en-US" b="1" dirty="0">
              <a:solidFill>
                <a:prstClr val="black"/>
              </a:solidFill>
              <a:latin typeface="Courier New" panose="02070309020205020404" pitchFamily="49" charset="0"/>
              <a:cs typeface="Courier New" panose="02070309020205020404" pitchFamily="49" charset="0"/>
            </a:endParaRPr>
          </a:p>
          <a:p>
            <a:pPr defTabSz="685800"/>
            <a:r>
              <a:rPr lang="en-US" b="1" dirty="0">
                <a:solidFill>
                  <a:prstClr val="black"/>
                </a:solidFill>
                <a:latin typeface="Courier New" panose="02070309020205020404" pitchFamily="49" charset="0"/>
                <a:cs typeface="Courier New" panose="02070309020205020404" pitchFamily="49" charset="0"/>
              </a:rPr>
              <a:t>ods trace on / listing;</a:t>
            </a:r>
          </a:p>
          <a:p>
            <a:pPr defTabSz="685800"/>
            <a:endParaRPr lang="en-US" b="1" dirty="0">
              <a:solidFill>
                <a:prstClr val="black"/>
              </a:solidFill>
              <a:latin typeface="Courier New" panose="02070309020205020404" pitchFamily="49" charset="0"/>
              <a:cs typeface="Courier New" panose="02070309020205020404" pitchFamily="49" charset="0"/>
            </a:endParaRPr>
          </a:p>
          <a:p>
            <a:pPr defTabSz="685800"/>
            <a:r>
              <a:rPr lang="en-US" b="1" dirty="0">
                <a:solidFill>
                  <a:prstClr val="black"/>
                </a:solidFill>
                <a:latin typeface="Courier New" panose="02070309020205020404" pitchFamily="49" charset="0"/>
                <a:cs typeface="Courier New" panose="02070309020205020404" pitchFamily="49" charset="0"/>
              </a:rPr>
              <a:t>proc contents data=out1.heart 	</a:t>
            </a:r>
            <a:r>
              <a:rPr lang="en-US" b="1" dirty="0">
                <a:solidFill>
                  <a:srgbClr val="FF0000"/>
                </a:solidFill>
                <a:latin typeface="Courier New" panose="02070309020205020404" pitchFamily="49" charset="0"/>
                <a:cs typeface="Courier New" panose="02070309020205020404" pitchFamily="49" charset="0"/>
              </a:rPr>
              <a:t>order=collate;</a:t>
            </a:r>
          </a:p>
          <a:p>
            <a:pPr defTabSz="685800"/>
            <a:r>
              <a:rPr lang="en-US" b="1" dirty="0">
                <a:solidFill>
                  <a:prstClr val="black"/>
                </a:solidFill>
                <a:latin typeface="Courier New" panose="02070309020205020404" pitchFamily="49" charset="0"/>
                <a:cs typeface="Courier New" panose="02070309020205020404" pitchFamily="49" charset="0"/>
              </a:rPr>
              <a:t>title2 "Contents of modified Heart </a:t>
            </a:r>
            <a:r>
              <a:rPr lang="en-US" b="1" dirty="0" err="1">
                <a:solidFill>
                  <a:prstClr val="black"/>
                </a:solidFill>
                <a:latin typeface="Courier New" panose="02070309020205020404" pitchFamily="49" charset="0"/>
                <a:cs typeface="Courier New" panose="02070309020205020404" pitchFamily="49" charset="0"/>
              </a:rPr>
              <a:t>db</a:t>
            </a:r>
            <a:r>
              <a:rPr lang="en-US" b="1" dirty="0">
                <a:solidFill>
                  <a:prstClr val="black"/>
                </a:solidFill>
                <a:latin typeface="Courier New" panose="02070309020205020404" pitchFamily="49" charset="0"/>
                <a:cs typeface="Courier New" panose="02070309020205020404" pitchFamily="49" charset="0"/>
              </a:rPr>
              <a:t> - 	Order=Collate - ODS TRACE";</a:t>
            </a:r>
          </a:p>
          <a:p>
            <a:pPr defTabSz="685800"/>
            <a:r>
              <a:rPr lang="en-US" b="1" dirty="0">
                <a:solidFill>
                  <a:prstClr val="black"/>
                </a:solidFill>
                <a:latin typeface="Courier New" panose="02070309020205020404" pitchFamily="49" charset="0"/>
                <a:cs typeface="Courier New" panose="02070309020205020404" pitchFamily="49" charset="0"/>
              </a:rPr>
              <a:t>run;</a:t>
            </a:r>
          </a:p>
          <a:p>
            <a:pPr defTabSz="685800"/>
            <a:endParaRPr lang="en-US" b="1" dirty="0">
              <a:solidFill>
                <a:prstClr val="black"/>
              </a:solidFill>
              <a:latin typeface="Courier New" panose="02070309020205020404" pitchFamily="49" charset="0"/>
              <a:cs typeface="Courier New" panose="02070309020205020404" pitchFamily="49" charset="0"/>
            </a:endParaRPr>
          </a:p>
          <a:p>
            <a:pPr defTabSz="685800"/>
            <a:r>
              <a:rPr lang="en-US" b="1" dirty="0">
                <a:solidFill>
                  <a:prstClr val="black"/>
                </a:solidFill>
                <a:latin typeface="Courier New" panose="02070309020205020404" pitchFamily="49" charset="0"/>
                <a:cs typeface="Courier New" panose="02070309020205020404" pitchFamily="49" charset="0"/>
              </a:rPr>
              <a:t>ods trace off;</a:t>
            </a:r>
            <a:endParaRPr lang="en-US" sz="2700" dirty="0">
              <a:solidFill>
                <a:prstClr val="black"/>
              </a:solidFill>
              <a:latin typeface="Calibri"/>
            </a:endParaRPr>
          </a:p>
          <a:p>
            <a:pPr defTabSz="685800"/>
            <a:endParaRPr lang="en-US" sz="2700" dirty="0">
              <a:solidFill>
                <a:prstClr val="black"/>
              </a:solidFill>
              <a:latin typeface="Calibri"/>
            </a:endParaRPr>
          </a:p>
        </p:txBody>
      </p:sp>
      <p:cxnSp>
        <p:nvCxnSpPr>
          <p:cNvPr id="10" name="Straight Connector 9">
            <a:extLst>
              <a:ext uri="{FF2B5EF4-FFF2-40B4-BE49-F238E27FC236}">
                <a16:creationId xmlns:a16="http://schemas.microsoft.com/office/drawing/2014/main" id="{D938D9FB-62D5-00C9-CC34-FA7D13424F6C}"/>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53015AE2-2A3A-E0E5-AF6C-EFAE5A1BDEC7}"/>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Tree>
    <p:extLst>
      <p:ext uri="{BB962C8B-B14F-4D97-AF65-F5344CB8AC3E}">
        <p14:creationId xmlns:p14="http://schemas.microsoft.com/office/powerpoint/2010/main" val="2282639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11794-3A74-2E97-F074-61EDAB1C70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9307A0-869F-4E24-83C9-54601458E628}"/>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How to train your ODS Output Objects</a:t>
            </a:r>
          </a:p>
        </p:txBody>
      </p:sp>
      <p:cxnSp>
        <p:nvCxnSpPr>
          <p:cNvPr id="10" name="Straight Connector 9">
            <a:extLst>
              <a:ext uri="{FF2B5EF4-FFF2-40B4-BE49-F238E27FC236}">
                <a16:creationId xmlns:a16="http://schemas.microsoft.com/office/drawing/2014/main" id="{65F86FBC-48B1-03DF-AAB7-8AAB4C014DA0}"/>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43F884EA-4C48-A2C3-E15A-F42082899731}"/>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16" name="Picture 15" descr="A screenshot of a computer&#10;&#10;AI-generated content may be incorrect.">
            <a:extLst>
              <a:ext uri="{FF2B5EF4-FFF2-40B4-BE49-F238E27FC236}">
                <a16:creationId xmlns:a16="http://schemas.microsoft.com/office/drawing/2014/main" id="{07FBD3B4-EEBA-4DBD-35D7-18F819248C49}"/>
              </a:ext>
            </a:extLst>
          </p:cNvPr>
          <p:cNvPicPr>
            <a:picLocks noChangeAspect="1"/>
          </p:cNvPicPr>
          <p:nvPr/>
        </p:nvPicPr>
        <p:blipFill>
          <a:blip r:embed="rId3"/>
          <a:srcRect t="18435" r="75413" b="36756"/>
          <a:stretch>
            <a:fillRect/>
          </a:stretch>
        </p:blipFill>
        <p:spPr>
          <a:xfrm>
            <a:off x="1309633" y="2019420"/>
            <a:ext cx="4023535" cy="2724858"/>
          </a:xfrm>
          <a:prstGeom prst="rect">
            <a:avLst/>
          </a:prstGeom>
        </p:spPr>
      </p:pic>
    </p:spTree>
    <p:extLst>
      <p:ext uri="{BB962C8B-B14F-4D97-AF65-F5344CB8AC3E}">
        <p14:creationId xmlns:p14="http://schemas.microsoft.com/office/powerpoint/2010/main" val="2445057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B9F13-830F-E3E5-9B83-77D8B7E4B3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0D643E-5A36-96AD-3A42-EA20911D6458}"/>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How to train your ODS Output Objects</a:t>
            </a:r>
          </a:p>
        </p:txBody>
      </p:sp>
      <p:cxnSp>
        <p:nvCxnSpPr>
          <p:cNvPr id="10" name="Straight Connector 9">
            <a:extLst>
              <a:ext uri="{FF2B5EF4-FFF2-40B4-BE49-F238E27FC236}">
                <a16:creationId xmlns:a16="http://schemas.microsoft.com/office/drawing/2014/main" id="{823392B2-DC55-0227-D9B4-8BB2C495B731}"/>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AEB50A90-47D0-BB00-68CF-AA2893D98B61}"/>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13" name="Picture 12" descr="A screenshot of a computer&#10;&#10;AI-generated content may be incorrect.">
            <a:extLst>
              <a:ext uri="{FF2B5EF4-FFF2-40B4-BE49-F238E27FC236}">
                <a16:creationId xmlns:a16="http://schemas.microsoft.com/office/drawing/2014/main" id="{B54718CC-E288-0677-B4C5-25B3FBDA0F15}"/>
              </a:ext>
            </a:extLst>
          </p:cNvPr>
          <p:cNvPicPr>
            <a:picLocks noChangeAspect="1"/>
          </p:cNvPicPr>
          <p:nvPr/>
        </p:nvPicPr>
        <p:blipFill>
          <a:blip r:embed="rId3"/>
          <a:srcRect l="24798" t="18435"/>
          <a:stretch>
            <a:fillRect/>
          </a:stretch>
        </p:blipFill>
        <p:spPr>
          <a:xfrm>
            <a:off x="5996577" y="2019420"/>
            <a:ext cx="10858012" cy="4376295"/>
          </a:xfrm>
          <a:prstGeom prst="rect">
            <a:avLst/>
          </a:prstGeom>
        </p:spPr>
      </p:pic>
      <p:pic>
        <p:nvPicPr>
          <p:cNvPr id="16" name="Picture 15" descr="A screenshot of a computer&#10;&#10;AI-generated content may be incorrect.">
            <a:extLst>
              <a:ext uri="{FF2B5EF4-FFF2-40B4-BE49-F238E27FC236}">
                <a16:creationId xmlns:a16="http://schemas.microsoft.com/office/drawing/2014/main" id="{EA8FFD73-F2B4-42C5-2162-DFC478311671}"/>
              </a:ext>
            </a:extLst>
          </p:cNvPr>
          <p:cNvPicPr>
            <a:picLocks noChangeAspect="1"/>
          </p:cNvPicPr>
          <p:nvPr/>
        </p:nvPicPr>
        <p:blipFill>
          <a:blip r:embed="rId3"/>
          <a:srcRect t="18435" r="75413" b="36756"/>
          <a:stretch>
            <a:fillRect/>
          </a:stretch>
        </p:blipFill>
        <p:spPr>
          <a:xfrm>
            <a:off x="1309633" y="2019420"/>
            <a:ext cx="4023535" cy="2724858"/>
          </a:xfrm>
          <a:prstGeom prst="rect">
            <a:avLst/>
          </a:prstGeom>
        </p:spPr>
      </p:pic>
    </p:spTree>
    <p:extLst>
      <p:ext uri="{BB962C8B-B14F-4D97-AF65-F5344CB8AC3E}">
        <p14:creationId xmlns:p14="http://schemas.microsoft.com/office/powerpoint/2010/main" val="1911571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622F-CAAB-2BFC-208C-78CB9E36E9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419E8-98A7-DCF7-AD01-8B2C723774E6}"/>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How to train your ODS Output Objects</a:t>
            </a:r>
          </a:p>
        </p:txBody>
      </p:sp>
      <p:cxnSp>
        <p:nvCxnSpPr>
          <p:cNvPr id="10" name="Straight Connector 9">
            <a:extLst>
              <a:ext uri="{FF2B5EF4-FFF2-40B4-BE49-F238E27FC236}">
                <a16:creationId xmlns:a16="http://schemas.microsoft.com/office/drawing/2014/main" id="{6E822B79-E102-5A23-859B-09A8BEA4480D}"/>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BBC588B8-079D-92C8-E5B9-DED8732B57BC}"/>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15" name="Picture 14" descr="A screenshot of a computer&#10;&#10;AI-generated content may be incorrect.">
            <a:extLst>
              <a:ext uri="{FF2B5EF4-FFF2-40B4-BE49-F238E27FC236}">
                <a16:creationId xmlns:a16="http://schemas.microsoft.com/office/drawing/2014/main" id="{1F0B474F-EDD0-B3CF-7C8D-6E0F83ACC3B7}"/>
              </a:ext>
            </a:extLst>
          </p:cNvPr>
          <p:cNvPicPr>
            <a:picLocks noChangeAspect="1"/>
          </p:cNvPicPr>
          <p:nvPr/>
        </p:nvPicPr>
        <p:blipFill>
          <a:blip r:embed="rId3"/>
          <a:stretch>
            <a:fillRect/>
          </a:stretch>
        </p:blipFill>
        <p:spPr>
          <a:xfrm>
            <a:off x="5884380" y="2019420"/>
            <a:ext cx="10858012" cy="5395536"/>
          </a:xfrm>
          <a:prstGeom prst="rect">
            <a:avLst/>
          </a:prstGeom>
        </p:spPr>
      </p:pic>
      <p:pic>
        <p:nvPicPr>
          <p:cNvPr id="16" name="Picture 15" descr="A screenshot of a computer&#10;&#10;AI-generated content may be incorrect.">
            <a:extLst>
              <a:ext uri="{FF2B5EF4-FFF2-40B4-BE49-F238E27FC236}">
                <a16:creationId xmlns:a16="http://schemas.microsoft.com/office/drawing/2014/main" id="{D960C9F5-5153-D6EC-B60C-33E1CC02BA12}"/>
              </a:ext>
            </a:extLst>
          </p:cNvPr>
          <p:cNvPicPr>
            <a:picLocks noChangeAspect="1"/>
          </p:cNvPicPr>
          <p:nvPr/>
        </p:nvPicPr>
        <p:blipFill>
          <a:blip r:embed="rId4"/>
          <a:srcRect t="18435" r="75413" b="36756"/>
          <a:stretch>
            <a:fillRect/>
          </a:stretch>
        </p:blipFill>
        <p:spPr>
          <a:xfrm>
            <a:off x="1309633" y="2019420"/>
            <a:ext cx="4023535" cy="2724858"/>
          </a:xfrm>
          <a:prstGeom prst="rect">
            <a:avLst/>
          </a:prstGeom>
        </p:spPr>
      </p:pic>
    </p:spTree>
    <p:extLst>
      <p:ext uri="{BB962C8B-B14F-4D97-AF65-F5344CB8AC3E}">
        <p14:creationId xmlns:p14="http://schemas.microsoft.com/office/powerpoint/2010/main" val="19627993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9C6C7-6C8A-2BE7-1A45-2565150E3D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0343D2-934B-E8E5-51D2-DD0414C970DD}"/>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How to train your ODS Output Objects</a:t>
            </a:r>
          </a:p>
        </p:txBody>
      </p:sp>
      <p:cxnSp>
        <p:nvCxnSpPr>
          <p:cNvPr id="10" name="Straight Connector 9">
            <a:extLst>
              <a:ext uri="{FF2B5EF4-FFF2-40B4-BE49-F238E27FC236}">
                <a16:creationId xmlns:a16="http://schemas.microsoft.com/office/drawing/2014/main" id="{631BAABF-E55C-DAAD-6F93-5B4AF828F367}"/>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697F69EE-7A93-6F96-E48F-52913A99A6A2}"/>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6" name="Picture 5" descr="A screenshot of a computer screen&#10;&#10;AI-generated content may be incorrect.">
            <a:extLst>
              <a:ext uri="{FF2B5EF4-FFF2-40B4-BE49-F238E27FC236}">
                <a16:creationId xmlns:a16="http://schemas.microsoft.com/office/drawing/2014/main" id="{776969D3-0CCF-C9C6-2924-D80F4CC6FC20}"/>
              </a:ext>
            </a:extLst>
          </p:cNvPr>
          <p:cNvPicPr>
            <a:picLocks noChangeAspect="1"/>
          </p:cNvPicPr>
          <p:nvPr/>
        </p:nvPicPr>
        <p:blipFill>
          <a:blip r:embed="rId3"/>
          <a:srcRect l="24822" r="26377"/>
          <a:stretch>
            <a:fillRect/>
          </a:stretch>
        </p:blipFill>
        <p:spPr>
          <a:xfrm>
            <a:off x="7483106" y="2031421"/>
            <a:ext cx="6594874" cy="7230932"/>
          </a:xfrm>
          <a:prstGeom prst="rect">
            <a:avLst/>
          </a:prstGeom>
        </p:spPr>
      </p:pic>
      <p:pic>
        <p:nvPicPr>
          <p:cNvPr id="16" name="Picture 15" descr="A screenshot of a computer&#10;&#10;AI-generated content may be incorrect.">
            <a:extLst>
              <a:ext uri="{FF2B5EF4-FFF2-40B4-BE49-F238E27FC236}">
                <a16:creationId xmlns:a16="http://schemas.microsoft.com/office/drawing/2014/main" id="{04DE95F4-AEC1-8C24-9229-21D663691B8A}"/>
              </a:ext>
            </a:extLst>
          </p:cNvPr>
          <p:cNvPicPr>
            <a:picLocks noChangeAspect="1"/>
          </p:cNvPicPr>
          <p:nvPr/>
        </p:nvPicPr>
        <p:blipFill>
          <a:blip r:embed="rId4"/>
          <a:srcRect t="18435" r="75413" b="36756"/>
          <a:stretch>
            <a:fillRect/>
          </a:stretch>
        </p:blipFill>
        <p:spPr>
          <a:xfrm>
            <a:off x="1309633" y="2019420"/>
            <a:ext cx="4023535" cy="2724858"/>
          </a:xfrm>
          <a:prstGeom prst="rect">
            <a:avLst/>
          </a:prstGeom>
        </p:spPr>
      </p:pic>
    </p:spTree>
    <p:extLst>
      <p:ext uri="{BB962C8B-B14F-4D97-AF65-F5344CB8AC3E}">
        <p14:creationId xmlns:p14="http://schemas.microsoft.com/office/powerpoint/2010/main" val="1414942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A40F9-A051-A9C3-1968-5BD9C04FE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57B1B8-F3E4-6256-DCDE-82C542E39D98}"/>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How to train your ODS Output Objects</a:t>
            </a:r>
          </a:p>
        </p:txBody>
      </p:sp>
      <p:sp>
        <p:nvSpPr>
          <p:cNvPr id="6" name="TextBox 5">
            <a:extLst>
              <a:ext uri="{FF2B5EF4-FFF2-40B4-BE49-F238E27FC236}">
                <a16:creationId xmlns:a16="http://schemas.microsoft.com/office/drawing/2014/main" id="{B77095ED-7B0B-DCA2-BF8B-4C88A852B99B}"/>
              </a:ext>
            </a:extLst>
          </p:cNvPr>
          <p:cNvSpPr txBox="1"/>
          <p:nvPr/>
        </p:nvSpPr>
        <p:spPr>
          <a:xfrm>
            <a:off x="3112263" y="2132588"/>
            <a:ext cx="12203937" cy="6047809"/>
          </a:xfrm>
          <a:prstGeom prst="rect">
            <a:avLst/>
          </a:prstGeom>
          <a:noFill/>
        </p:spPr>
        <p:txBody>
          <a:bodyPr wrap="square" rtlCol="0">
            <a:spAutoFit/>
          </a:bodyPr>
          <a:lstStyle/>
          <a:p>
            <a:pPr defTabSz="685800"/>
            <a:endParaRPr lang="en-US" b="1" dirty="0">
              <a:solidFill>
                <a:prstClr val="black"/>
              </a:solidFill>
              <a:latin typeface="Courier New" panose="02070309020205020404" pitchFamily="49" charset="0"/>
              <a:cs typeface="Courier New" panose="02070309020205020404" pitchFamily="49" charset="0"/>
            </a:endParaRPr>
          </a:p>
          <a:p>
            <a:pPr defTabSz="685800"/>
            <a:r>
              <a:rPr lang="en-US" b="1" dirty="0">
                <a:solidFill>
                  <a:prstClr val="black"/>
                </a:solidFill>
                <a:latin typeface="Courier New" panose="02070309020205020404" pitchFamily="49" charset="0"/>
                <a:cs typeface="Courier New" panose="02070309020205020404" pitchFamily="49" charset="0"/>
              </a:rPr>
              <a:t>ods trace on / listing;</a:t>
            </a:r>
          </a:p>
          <a:p>
            <a:pPr defTabSz="685800"/>
            <a:endParaRPr lang="en-US" b="1" dirty="0">
              <a:solidFill>
                <a:prstClr val="black"/>
              </a:solidFill>
              <a:latin typeface="Courier New" panose="02070309020205020404" pitchFamily="49" charset="0"/>
              <a:cs typeface="Courier New" panose="02070309020205020404" pitchFamily="49" charset="0"/>
            </a:endParaRPr>
          </a:p>
          <a:p>
            <a:pPr defTabSz="685800"/>
            <a:r>
              <a:rPr lang="en-US" b="1" dirty="0">
                <a:solidFill>
                  <a:prstClr val="black"/>
                </a:solidFill>
                <a:latin typeface="Courier New" panose="02070309020205020404" pitchFamily="49" charset="0"/>
                <a:cs typeface="Courier New" panose="02070309020205020404" pitchFamily="49" charset="0"/>
              </a:rPr>
              <a:t>proc contents data=out1.heart 	</a:t>
            </a:r>
            <a:r>
              <a:rPr lang="en-US" b="1" dirty="0">
                <a:solidFill>
                  <a:srgbClr val="FF0000"/>
                </a:solidFill>
                <a:latin typeface="Courier New" panose="02070309020205020404" pitchFamily="49" charset="0"/>
                <a:cs typeface="Courier New" panose="02070309020205020404" pitchFamily="49" charset="0"/>
              </a:rPr>
              <a:t>order=varnum;</a:t>
            </a:r>
          </a:p>
          <a:p>
            <a:pPr defTabSz="685800"/>
            <a:r>
              <a:rPr lang="en-US" b="1" dirty="0">
                <a:solidFill>
                  <a:prstClr val="black"/>
                </a:solidFill>
                <a:latin typeface="Courier New" panose="02070309020205020404" pitchFamily="49" charset="0"/>
                <a:cs typeface="Courier New" panose="02070309020205020404" pitchFamily="49" charset="0"/>
              </a:rPr>
              <a:t>title2 "Contents of modified Heart </a:t>
            </a:r>
            <a:r>
              <a:rPr lang="en-US" b="1" dirty="0" err="1">
                <a:solidFill>
                  <a:prstClr val="black"/>
                </a:solidFill>
                <a:latin typeface="Courier New" panose="02070309020205020404" pitchFamily="49" charset="0"/>
                <a:cs typeface="Courier New" panose="02070309020205020404" pitchFamily="49" charset="0"/>
              </a:rPr>
              <a:t>db</a:t>
            </a:r>
            <a:r>
              <a:rPr lang="en-US" b="1" dirty="0">
                <a:solidFill>
                  <a:prstClr val="black"/>
                </a:solidFill>
                <a:latin typeface="Courier New" panose="02070309020205020404" pitchFamily="49" charset="0"/>
                <a:cs typeface="Courier New" panose="02070309020205020404" pitchFamily="49" charset="0"/>
              </a:rPr>
              <a:t> - 	Order=Varnum - ODS TRACE";</a:t>
            </a:r>
          </a:p>
          <a:p>
            <a:pPr defTabSz="685800"/>
            <a:r>
              <a:rPr lang="en-US" b="1" dirty="0">
                <a:solidFill>
                  <a:prstClr val="black"/>
                </a:solidFill>
                <a:latin typeface="Courier New" panose="02070309020205020404" pitchFamily="49" charset="0"/>
                <a:cs typeface="Courier New" panose="02070309020205020404" pitchFamily="49" charset="0"/>
              </a:rPr>
              <a:t>run;</a:t>
            </a:r>
          </a:p>
          <a:p>
            <a:pPr defTabSz="685800"/>
            <a:endParaRPr lang="en-US" b="1" dirty="0">
              <a:solidFill>
                <a:prstClr val="black"/>
              </a:solidFill>
              <a:latin typeface="Courier New" panose="02070309020205020404" pitchFamily="49" charset="0"/>
              <a:cs typeface="Courier New" panose="02070309020205020404" pitchFamily="49" charset="0"/>
            </a:endParaRPr>
          </a:p>
          <a:p>
            <a:pPr defTabSz="685800"/>
            <a:r>
              <a:rPr lang="en-US" b="1" dirty="0">
                <a:solidFill>
                  <a:prstClr val="black"/>
                </a:solidFill>
                <a:latin typeface="Courier New" panose="02070309020205020404" pitchFamily="49" charset="0"/>
                <a:cs typeface="Courier New" panose="02070309020205020404" pitchFamily="49" charset="0"/>
              </a:rPr>
              <a:t>ods trace off;</a:t>
            </a:r>
            <a:endParaRPr lang="en-US" sz="2700" dirty="0">
              <a:solidFill>
                <a:prstClr val="black"/>
              </a:solidFill>
              <a:latin typeface="Calibri"/>
            </a:endParaRPr>
          </a:p>
          <a:p>
            <a:pPr defTabSz="685800"/>
            <a:endParaRPr lang="en-US" sz="2700" dirty="0">
              <a:solidFill>
                <a:prstClr val="black"/>
              </a:solidFill>
              <a:latin typeface="Calibri"/>
            </a:endParaRPr>
          </a:p>
        </p:txBody>
      </p:sp>
      <p:cxnSp>
        <p:nvCxnSpPr>
          <p:cNvPr id="10" name="Straight Connector 9">
            <a:extLst>
              <a:ext uri="{FF2B5EF4-FFF2-40B4-BE49-F238E27FC236}">
                <a16:creationId xmlns:a16="http://schemas.microsoft.com/office/drawing/2014/main" id="{83FD224D-DE81-0A24-7DC3-15ED00F1FA9F}"/>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0FFDAA07-DA3A-30E6-EBCB-174929EB028D}"/>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Tree>
    <p:extLst>
      <p:ext uri="{BB962C8B-B14F-4D97-AF65-F5344CB8AC3E}">
        <p14:creationId xmlns:p14="http://schemas.microsoft.com/office/powerpoint/2010/main" val="23165911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C65EF-69FD-6359-F9CF-7B0545C62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17F475-02BC-E061-990B-DCD4EE1AD731}"/>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How to train your ODS Output Objects</a:t>
            </a:r>
          </a:p>
        </p:txBody>
      </p:sp>
      <p:cxnSp>
        <p:nvCxnSpPr>
          <p:cNvPr id="10" name="Straight Connector 9">
            <a:extLst>
              <a:ext uri="{FF2B5EF4-FFF2-40B4-BE49-F238E27FC236}">
                <a16:creationId xmlns:a16="http://schemas.microsoft.com/office/drawing/2014/main" id="{32A2C4B3-98EB-848F-23A7-32B9A8C93182}"/>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ED49760F-46EE-711A-F745-F4F9C009FC09}"/>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28" name="Picture 27" descr="A screenshot of a computer&#10;&#10;AI-generated content may be incorrect.">
            <a:extLst>
              <a:ext uri="{FF2B5EF4-FFF2-40B4-BE49-F238E27FC236}">
                <a16:creationId xmlns:a16="http://schemas.microsoft.com/office/drawing/2014/main" id="{D6410D7F-C50B-A8C8-B336-635A7D2AF322}"/>
              </a:ext>
            </a:extLst>
          </p:cNvPr>
          <p:cNvPicPr>
            <a:picLocks noChangeAspect="1"/>
          </p:cNvPicPr>
          <p:nvPr/>
        </p:nvPicPr>
        <p:blipFill>
          <a:blip r:embed="rId3"/>
          <a:stretch>
            <a:fillRect/>
          </a:stretch>
        </p:blipFill>
        <p:spPr>
          <a:xfrm>
            <a:off x="1245775" y="2161261"/>
            <a:ext cx="4758676" cy="4637104"/>
          </a:xfrm>
          <a:prstGeom prst="rect">
            <a:avLst/>
          </a:prstGeom>
        </p:spPr>
      </p:pic>
    </p:spTree>
    <p:extLst>
      <p:ext uri="{BB962C8B-B14F-4D97-AF65-F5344CB8AC3E}">
        <p14:creationId xmlns:p14="http://schemas.microsoft.com/office/powerpoint/2010/main" val="1649919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C35F2-42A4-7476-4259-09570E1113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58CC4D-0732-8471-4A06-4D23819B6F5F}"/>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How to train your ODS Output Objects</a:t>
            </a:r>
          </a:p>
        </p:txBody>
      </p:sp>
      <p:cxnSp>
        <p:nvCxnSpPr>
          <p:cNvPr id="10" name="Straight Connector 9">
            <a:extLst>
              <a:ext uri="{FF2B5EF4-FFF2-40B4-BE49-F238E27FC236}">
                <a16:creationId xmlns:a16="http://schemas.microsoft.com/office/drawing/2014/main" id="{F217537D-D416-4C7F-2249-55424545DE06}"/>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05AAAE92-ABE5-68B2-44AD-DADA1CAEE8CA}"/>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28" name="Picture 27" descr="A screenshot of a computer&#10;&#10;AI-generated content may be incorrect.">
            <a:extLst>
              <a:ext uri="{FF2B5EF4-FFF2-40B4-BE49-F238E27FC236}">
                <a16:creationId xmlns:a16="http://schemas.microsoft.com/office/drawing/2014/main" id="{2A96C511-190C-F205-ADFF-CAB32F24B710}"/>
              </a:ext>
            </a:extLst>
          </p:cNvPr>
          <p:cNvPicPr>
            <a:picLocks noChangeAspect="1"/>
          </p:cNvPicPr>
          <p:nvPr/>
        </p:nvPicPr>
        <p:blipFill>
          <a:blip r:embed="rId3"/>
          <a:stretch>
            <a:fillRect/>
          </a:stretch>
        </p:blipFill>
        <p:spPr>
          <a:xfrm>
            <a:off x="1245775" y="2161261"/>
            <a:ext cx="4758676" cy="4637104"/>
          </a:xfrm>
          <a:prstGeom prst="rect">
            <a:avLst/>
          </a:prstGeom>
        </p:spPr>
      </p:pic>
      <p:pic>
        <p:nvPicPr>
          <p:cNvPr id="30" name="Picture 29" descr="A screenshot of a computer&#10;&#10;AI-generated content may be incorrect.">
            <a:extLst>
              <a:ext uri="{FF2B5EF4-FFF2-40B4-BE49-F238E27FC236}">
                <a16:creationId xmlns:a16="http://schemas.microsoft.com/office/drawing/2014/main" id="{0264A356-6C75-208E-8114-CE812D8A7E8A}"/>
              </a:ext>
            </a:extLst>
          </p:cNvPr>
          <p:cNvPicPr>
            <a:picLocks noChangeAspect="1"/>
          </p:cNvPicPr>
          <p:nvPr/>
        </p:nvPicPr>
        <p:blipFill>
          <a:blip r:embed="rId4"/>
          <a:stretch>
            <a:fillRect/>
          </a:stretch>
        </p:blipFill>
        <p:spPr>
          <a:xfrm>
            <a:off x="7036035" y="2161261"/>
            <a:ext cx="9514431" cy="4094819"/>
          </a:xfrm>
          <a:prstGeom prst="rect">
            <a:avLst/>
          </a:prstGeom>
        </p:spPr>
      </p:pic>
    </p:spTree>
    <p:extLst>
      <p:ext uri="{BB962C8B-B14F-4D97-AF65-F5344CB8AC3E}">
        <p14:creationId xmlns:p14="http://schemas.microsoft.com/office/powerpoint/2010/main" val="10386427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38230-2325-21A6-E185-ABE289FE3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9979A2-9FF1-184A-117D-EB977C806350}"/>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How to train your ODS Output Objects</a:t>
            </a:r>
          </a:p>
        </p:txBody>
      </p:sp>
      <p:cxnSp>
        <p:nvCxnSpPr>
          <p:cNvPr id="10" name="Straight Connector 9">
            <a:extLst>
              <a:ext uri="{FF2B5EF4-FFF2-40B4-BE49-F238E27FC236}">
                <a16:creationId xmlns:a16="http://schemas.microsoft.com/office/drawing/2014/main" id="{4256F990-F2AC-1A27-8CCF-FC34B56E6350}"/>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FBCBFF7C-02F6-EB3F-FB25-C66842DC1B79}"/>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26" name="Picture 25" descr="A screenshot of a computer&#10;&#10;AI-generated content may be incorrect.">
            <a:extLst>
              <a:ext uri="{FF2B5EF4-FFF2-40B4-BE49-F238E27FC236}">
                <a16:creationId xmlns:a16="http://schemas.microsoft.com/office/drawing/2014/main" id="{856FB310-623E-9189-1380-16A02EFCE288}"/>
              </a:ext>
            </a:extLst>
          </p:cNvPr>
          <p:cNvPicPr>
            <a:picLocks noChangeAspect="1"/>
          </p:cNvPicPr>
          <p:nvPr/>
        </p:nvPicPr>
        <p:blipFill>
          <a:blip r:embed="rId3"/>
          <a:stretch>
            <a:fillRect/>
          </a:stretch>
        </p:blipFill>
        <p:spPr>
          <a:xfrm>
            <a:off x="6957391" y="2144569"/>
            <a:ext cx="9764348" cy="5236891"/>
          </a:xfrm>
          <a:prstGeom prst="rect">
            <a:avLst/>
          </a:prstGeom>
        </p:spPr>
      </p:pic>
      <p:pic>
        <p:nvPicPr>
          <p:cNvPr id="28" name="Picture 27" descr="A screenshot of a computer&#10;&#10;AI-generated content may be incorrect.">
            <a:extLst>
              <a:ext uri="{FF2B5EF4-FFF2-40B4-BE49-F238E27FC236}">
                <a16:creationId xmlns:a16="http://schemas.microsoft.com/office/drawing/2014/main" id="{868393B0-B998-1116-E22C-FAD4ABC684A0}"/>
              </a:ext>
            </a:extLst>
          </p:cNvPr>
          <p:cNvPicPr>
            <a:picLocks noChangeAspect="1"/>
          </p:cNvPicPr>
          <p:nvPr/>
        </p:nvPicPr>
        <p:blipFill>
          <a:blip r:embed="rId4"/>
          <a:stretch>
            <a:fillRect/>
          </a:stretch>
        </p:blipFill>
        <p:spPr>
          <a:xfrm>
            <a:off x="1245775" y="2161261"/>
            <a:ext cx="4758676" cy="4637104"/>
          </a:xfrm>
          <a:prstGeom prst="rect">
            <a:avLst/>
          </a:prstGeom>
        </p:spPr>
      </p:pic>
    </p:spTree>
    <p:extLst>
      <p:ext uri="{BB962C8B-B14F-4D97-AF65-F5344CB8AC3E}">
        <p14:creationId xmlns:p14="http://schemas.microsoft.com/office/powerpoint/2010/main" val="9847744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2B7D4-66C9-FD76-CBC3-246C2CE3DE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DDBB58-778F-B126-21B5-37A524BD85FF}"/>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How to train your ODS Output Objects</a:t>
            </a:r>
          </a:p>
        </p:txBody>
      </p:sp>
      <p:cxnSp>
        <p:nvCxnSpPr>
          <p:cNvPr id="10" name="Straight Connector 9">
            <a:extLst>
              <a:ext uri="{FF2B5EF4-FFF2-40B4-BE49-F238E27FC236}">
                <a16:creationId xmlns:a16="http://schemas.microsoft.com/office/drawing/2014/main" id="{97BDDD09-0180-E699-1116-5C8C01921A9D}"/>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62E83077-ACC9-B805-8B86-3156D68DC376}"/>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24" name="Picture 23" descr="A screenshot of a medical report&#10;&#10;AI-generated content may be incorrect.">
            <a:extLst>
              <a:ext uri="{FF2B5EF4-FFF2-40B4-BE49-F238E27FC236}">
                <a16:creationId xmlns:a16="http://schemas.microsoft.com/office/drawing/2014/main" id="{1A8B8AA8-FEA8-080F-5F89-5C54A8DBEC1E}"/>
              </a:ext>
            </a:extLst>
          </p:cNvPr>
          <p:cNvPicPr>
            <a:picLocks noChangeAspect="1"/>
          </p:cNvPicPr>
          <p:nvPr/>
        </p:nvPicPr>
        <p:blipFill>
          <a:blip r:embed="rId3"/>
          <a:stretch>
            <a:fillRect/>
          </a:stretch>
        </p:blipFill>
        <p:spPr>
          <a:xfrm>
            <a:off x="9615989" y="2144570"/>
            <a:ext cx="4038807" cy="7201271"/>
          </a:xfrm>
          <a:prstGeom prst="rect">
            <a:avLst/>
          </a:prstGeom>
        </p:spPr>
      </p:pic>
      <p:pic>
        <p:nvPicPr>
          <p:cNvPr id="28" name="Picture 27" descr="A screenshot of a computer&#10;&#10;AI-generated content may be incorrect.">
            <a:extLst>
              <a:ext uri="{FF2B5EF4-FFF2-40B4-BE49-F238E27FC236}">
                <a16:creationId xmlns:a16="http://schemas.microsoft.com/office/drawing/2014/main" id="{C96DC9FB-90B2-175E-4851-9625315F5F2B}"/>
              </a:ext>
            </a:extLst>
          </p:cNvPr>
          <p:cNvPicPr>
            <a:picLocks noChangeAspect="1"/>
          </p:cNvPicPr>
          <p:nvPr/>
        </p:nvPicPr>
        <p:blipFill>
          <a:blip r:embed="rId4"/>
          <a:stretch>
            <a:fillRect/>
          </a:stretch>
        </p:blipFill>
        <p:spPr>
          <a:xfrm>
            <a:off x="1245775" y="2161261"/>
            <a:ext cx="4758676" cy="4637104"/>
          </a:xfrm>
          <a:prstGeom prst="rect">
            <a:avLst/>
          </a:prstGeom>
        </p:spPr>
      </p:pic>
    </p:spTree>
    <p:extLst>
      <p:ext uri="{BB962C8B-B14F-4D97-AF65-F5344CB8AC3E}">
        <p14:creationId xmlns:p14="http://schemas.microsoft.com/office/powerpoint/2010/main" val="4112234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D728E-2424-F64E-908E-ED2520E1E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EF38ED-0722-1E07-1F42-DB2B5725CB3A}"/>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How to train your ODS Output Objects</a:t>
            </a:r>
          </a:p>
        </p:txBody>
      </p:sp>
      <p:sp>
        <p:nvSpPr>
          <p:cNvPr id="6" name="TextBox 5">
            <a:extLst>
              <a:ext uri="{FF2B5EF4-FFF2-40B4-BE49-F238E27FC236}">
                <a16:creationId xmlns:a16="http://schemas.microsoft.com/office/drawing/2014/main" id="{62A60CD2-B251-7D04-5994-1A823EDD3CDA}"/>
              </a:ext>
            </a:extLst>
          </p:cNvPr>
          <p:cNvSpPr txBox="1"/>
          <p:nvPr/>
        </p:nvSpPr>
        <p:spPr>
          <a:xfrm>
            <a:off x="3112264" y="2132588"/>
            <a:ext cx="12063470" cy="7709803"/>
          </a:xfrm>
          <a:prstGeom prst="rect">
            <a:avLst/>
          </a:prstGeom>
          <a:noFill/>
        </p:spPr>
        <p:txBody>
          <a:bodyPr wrap="square" rtlCol="0">
            <a:spAutoFit/>
          </a:bodyPr>
          <a:lstStyle/>
          <a:p>
            <a:pPr defTabSz="685800"/>
            <a:r>
              <a:rPr lang="en-US" b="1" dirty="0">
                <a:solidFill>
                  <a:srgbClr val="FF0000"/>
                </a:solidFill>
                <a:latin typeface="Courier New" panose="02070309020205020404" pitchFamily="49" charset="0"/>
                <a:cs typeface="Courier New" panose="02070309020205020404" pitchFamily="49" charset="0"/>
              </a:rPr>
              <a:t>proc sort data=out1.heart 	out=out1.heart_sorted;</a:t>
            </a:r>
          </a:p>
          <a:p>
            <a:pPr marL="685800" lvl="1" defTabSz="685800"/>
            <a:r>
              <a:rPr lang="en-US" b="1" dirty="0">
                <a:solidFill>
                  <a:srgbClr val="FF0000"/>
                </a:solidFill>
                <a:latin typeface="Courier New" panose="02070309020205020404" pitchFamily="49" charset="0"/>
                <a:cs typeface="Courier New" panose="02070309020205020404" pitchFamily="49" charset="0"/>
              </a:rPr>
              <a:t>by seqnum;</a:t>
            </a:r>
          </a:p>
          <a:p>
            <a:pPr defTabSz="685800"/>
            <a:r>
              <a:rPr lang="en-US" b="1" dirty="0">
                <a:solidFill>
                  <a:srgbClr val="FF0000"/>
                </a:solidFill>
                <a:latin typeface="Courier New" panose="02070309020205020404" pitchFamily="49" charset="0"/>
                <a:cs typeface="Courier New" panose="02070309020205020404" pitchFamily="49" charset="0"/>
              </a:rPr>
              <a:t>run;</a:t>
            </a:r>
          </a:p>
          <a:p>
            <a:pPr defTabSz="685800"/>
            <a:endParaRPr lang="en-US" b="1" dirty="0">
              <a:solidFill>
                <a:prstClr val="black"/>
              </a:solidFill>
              <a:latin typeface="Courier New" panose="02070309020205020404" pitchFamily="49" charset="0"/>
              <a:cs typeface="Courier New" panose="02070309020205020404" pitchFamily="49" charset="0"/>
            </a:endParaRPr>
          </a:p>
          <a:p>
            <a:pPr defTabSz="685800"/>
            <a:r>
              <a:rPr lang="en-US" b="1" dirty="0">
                <a:solidFill>
                  <a:prstClr val="black"/>
                </a:solidFill>
                <a:latin typeface="Courier New" panose="02070309020205020404" pitchFamily="49" charset="0"/>
                <a:cs typeface="Courier New" panose="02070309020205020404" pitchFamily="49" charset="0"/>
              </a:rPr>
              <a:t>ods trace on;</a:t>
            </a:r>
          </a:p>
          <a:p>
            <a:pPr defTabSz="685800"/>
            <a:endParaRPr lang="en-US" b="1" dirty="0">
              <a:solidFill>
                <a:prstClr val="black"/>
              </a:solidFill>
              <a:latin typeface="Courier New" panose="02070309020205020404" pitchFamily="49" charset="0"/>
              <a:cs typeface="Courier New" panose="02070309020205020404" pitchFamily="49" charset="0"/>
            </a:endParaRPr>
          </a:p>
          <a:p>
            <a:pPr defTabSz="685800"/>
            <a:r>
              <a:rPr lang="en-US" b="1" dirty="0">
                <a:solidFill>
                  <a:prstClr val="black"/>
                </a:solidFill>
                <a:latin typeface="Courier New" panose="02070309020205020404" pitchFamily="49" charset="0"/>
                <a:cs typeface="Courier New" panose="02070309020205020404" pitchFamily="49" charset="0"/>
              </a:rPr>
              <a:t>proc contents </a:t>
            </a:r>
            <a:r>
              <a:rPr lang="en-US" b="1" dirty="0">
                <a:solidFill>
                  <a:srgbClr val="FF0000"/>
                </a:solidFill>
                <a:latin typeface="Courier New" panose="02070309020205020404" pitchFamily="49" charset="0"/>
                <a:cs typeface="Courier New" panose="02070309020205020404" pitchFamily="49" charset="0"/>
              </a:rPr>
              <a:t>data=out1.heart_sorted varnum;</a:t>
            </a:r>
          </a:p>
          <a:p>
            <a:pPr defTabSz="685800"/>
            <a:r>
              <a:rPr lang="en-US" b="1" dirty="0">
                <a:solidFill>
                  <a:prstClr val="black"/>
                </a:solidFill>
                <a:latin typeface="Courier New" panose="02070309020205020404" pitchFamily="49" charset="0"/>
                <a:cs typeface="Courier New" panose="02070309020205020404" pitchFamily="49" charset="0"/>
              </a:rPr>
              <a:t>title2 "Contents on Sorted Data Set";</a:t>
            </a:r>
          </a:p>
          <a:p>
            <a:pPr defTabSz="685800"/>
            <a:r>
              <a:rPr lang="en-US" b="1" dirty="0">
                <a:solidFill>
                  <a:prstClr val="black"/>
                </a:solidFill>
                <a:latin typeface="Courier New" panose="02070309020205020404" pitchFamily="49" charset="0"/>
                <a:cs typeface="Courier New" panose="02070309020205020404" pitchFamily="49" charset="0"/>
              </a:rPr>
              <a:t>run;</a:t>
            </a:r>
          </a:p>
          <a:p>
            <a:pPr defTabSz="685800"/>
            <a:endParaRPr lang="en-US" b="1" dirty="0">
              <a:solidFill>
                <a:prstClr val="black"/>
              </a:solidFill>
              <a:latin typeface="Courier New" panose="02070309020205020404" pitchFamily="49" charset="0"/>
              <a:cs typeface="Courier New" panose="02070309020205020404" pitchFamily="49" charset="0"/>
            </a:endParaRPr>
          </a:p>
          <a:p>
            <a:pPr defTabSz="685800"/>
            <a:r>
              <a:rPr lang="en-US" b="1" dirty="0">
                <a:solidFill>
                  <a:prstClr val="black"/>
                </a:solidFill>
                <a:latin typeface="Courier New" panose="02070309020205020404" pitchFamily="49" charset="0"/>
                <a:cs typeface="Courier New" panose="02070309020205020404" pitchFamily="49" charset="0"/>
              </a:rPr>
              <a:t>ods trace off;</a:t>
            </a:r>
          </a:p>
          <a:p>
            <a:pPr defTabSz="685800"/>
            <a:endParaRPr lang="en-US" sz="2700" dirty="0">
              <a:solidFill>
                <a:prstClr val="black"/>
              </a:solidFill>
              <a:latin typeface="Calibri"/>
            </a:endParaRPr>
          </a:p>
        </p:txBody>
      </p:sp>
      <p:cxnSp>
        <p:nvCxnSpPr>
          <p:cNvPr id="10" name="Straight Connector 9">
            <a:extLst>
              <a:ext uri="{FF2B5EF4-FFF2-40B4-BE49-F238E27FC236}">
                <a16:creationId xmlns:a16="http://schemas.microsoft.com/office/drawing/2014/main" id="{D10411AE-FCA5-23B3-A989-25F660F7D8C1}"/>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AAED6C05-71DA-7A02-B479-4433142E5DA2}"/>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Tree>
    <p:extLst>
      <p:ext uri="{BB962C8B-B14F-4D97-AF65-F5344CB8AC3E}">
        <p14:creationId xmlns:p14="http://schemas.microsoft.com/office/powerpoint/2010/main" val="2928947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AF59E-349C-76F0-1427-20200FAD9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DA418-469D-B7CB-6453-8D6D81D7DCF6}"/>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How to train your ODS Output Objects</a:t>
            </a:r>
          </a:p>
        </p:txBody>
      </p:sp>
      <p:cxnSp>
        <p:nvCxnSpPr>
          <p:cNvPr id="10" name="Straight Connector 9">
            <a:extLst>
              <a:ext uri="{FF2B5EF4-FFF2-40B4-BE49-F238E27FC236}">
                <a16:creationId xmlns:a16="http://schemas.microsoft.com/office/drawing/2014/main" id="{12283284-1218-E04F-64C6-85C4287ACF63}"/>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58045AFF-2B14-5953-1060-04973AE5A7AF}"/>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11" name="Picture 10" descr="A screenshot of a computer&#10;&#10;AI-generated content may be incorrect.">
            <a:extLst>
              <a:ext uri="{FF2B5EF4-FFF2-40B4-BE49-F238E27FC236}">
                <a16:creationId xmlns:a16="http://schemas.microsoft.com/office/drawing/2014/main" id="{882B0D55-C65C-1C9F-BF8A-F400FA4B36BF}"/>
              </a:ext>
            </a:extLst>
          </p:cNvPr>
          <p:cNvPicPr>
            <a:picLocks noChangeAspect="1"/>
          </p:cNvPicPr>
          <p:nvPr/>
        </p:nvPicPr>
        <p:blipFill>
          <a:blip r:embed="rId3"/>
          <a:stretch>
            <a:fillRect/>
          </a:stretch>
        </p:blipFill>
        <p:spPr>
          <a:xfrm>
            <a:off x="9312114" y="1924262"/>
            <a:ext cx="5164077" cy="3880189"/>
          </a:xfrm>
          <a:prstGeom prst="rect">
            <a:avLst/>
          </a:prstGeom>
        </p:spPr>
      </p:pic>
      <p:pic>
        <p:nvPicPr>
          <p:cNvPr id="22" name="Picture 21" descr="A screenshot of a computer&#10;&#10;AI-generated content may be incorrect.">
            <a:extLst>
              <a:ext uri="{FF2B5EF4-FFF2-40B4-BE49-F238E27FC236}">
                <a16:creationId xmlns:a16="http://schemas.microsoft.com/office/drawing/2014/main" id="{B43CE00B-0118-B89D-0BB6-ED17E9E63E41}"/>
              </a:ext>
            </a:extLst>
          </p:cNvPr>
          <p:cNvPicPr>
            <a:picLocks noChangeAspect="1"/>
          </p:cNvPicPr>
          <p:nvPr/>
        </p:nvPicPr>
        <p:blipFill>
          <a:blip r:embed="rId4"/>
          <a:stretch>
            <a:fillRect/>
          </a:stretch>
        </p:blipFill>
        <p:spPr>
          <a:xfrm>
            <a:off x="3150008" y="1924263"/>
            <a:ext cx="5405389" cy="7299250"/>
          </a:xfrm>
          <a:prstGeom prst="rect">
            <a:avLst/>
          </a:prstGeom>
        </p:spPr>
      </p:pic>
      <p:sp>
        <p:nvSpPr>
          <p:cNvPr id="4" name="Arrow: Left 3">
            <a:extLst>
              <a:ext uri="{FF2B5EF4-FFF2-40B4-BE49-F238E27FC236}">
                <a16:creationId xmlns:a16="http://schemas.microsoft.com/office/drawing/2014/main" id="{C478D663-08A1-0A6F-B5D3-8617F91A193F}"/>
              </a:ext>
            </a:extLst>
          </p:cNvPr>
          <p:cNvSpPr/>
          <p:nvPr/>
        </p:nvSpPr>
        <p:spPr>
          <a:xfrm rot="19527567">
            <a:off x="5647407" y="7011479"/>
            <a:ext cx="5472088" cy="724590"/>
          </a:xfrm>
          <a:prstGeom prst="lef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lang="en-US" sz="2700">
              <a:solidFill>
                <a:prstClr val="white"/>
              </a:solidFill>
              <a:latin typeface="Calibri"/>
            </a:endParaRPr>
          </a:p>
        </p:txBody>
      </p:sp>
    </p:spTree>
    <p:extLst>
      <p:ext uri="{BB962C8B-B14F-4D97-AF65-F5344CB8AC3E}">
        <p14:creationId xmlns:p14="http://schemas.microsoft.com/office/powerpoint/2010/main" val="34185814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BBEE8-1C0E-6FF5-F01D-4F1D14A9E7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A96FA0-91F2-1BC6-7CF1-A6874B23AB10}"/>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How to train your ODS Output Objects</a:t>
            </a:r>
          </a:p>
        </p:txBody>
      </p:sp>
      <p:sp>
        <p:nvSpPr>
          <p:cNvPr id="6" name="TextBox 5">
            <a:extLst>
              <a:ext uri="{FF2B5EF4-FFF2-40B4-BE49-F238E27FC236}">
                <a16:creationId xmlns:a16="http://schemas.microsoft.com/office/drawing/2014/main" id="{4FDF55E0-CF3B-5A9D-C1E6-982198B3DEA0}"/>
              </a:ext>
            </a:extLst>
          </p:cNvPr>
          <p:cNvSpPr txBox="1"/>
          <p:nvPr/>
        </p:nvSpPr>
        <p:spPr>
          <a:xfrm>
            <a:off x="3112264" y="2132588"/>
            <a:ext cx="12063470" cy="7294305"/>
          </a:xfrm>
          <a:prstGeom prst="rect">
            <a:avLst/>
          </a:prstGeom>
          <a:noFill/>
        </p:spPr>
        <p:txBody>
          <a:bodyPr wrap="square" rtlCol="0">
            <a:spAutoFit/>
          </a:bodyPr>
          <a:lstStyle/>
          <a:p>
            <a:pPr defTabSz="685800"/>
            <a:r>
              <a:rPr lang="en-US" b="1" dirty="0">
                <a:solidFill>
                  <a:srgbClr val="FF0000"/>
                </a:solidFill>
                <a:latin typeface="Courier New" panose="02070309020205020404" pitchFamily="49" charset="0"/>
                <a:cs typeface="Courier New" panose="02070309020205020404" pitchFamily="49" charset="0"/>
              </a:rPr>
              <a:t>proc datasets library=out1 nolist;</a:t>
            </a:r>
          </a:p>
          <a:p>
            <a:pPr defTabSz="685800"/>
            <a:r>
              <a:rPr lang="en-US" b="1" dirty="0">
                <a:solidFill>
                  <a:srgbClr val="FF0000"/>
                </a:solidFill>
                <a:latin typeface="Courier New" panose="02070309020205020404" pitchFamily="49" charset="0"/>
                <a:cs typeface="Courier New" panose="02070309020205020404" pitchFamily="49" charset="0"/>
              </a:rPr>
              <a:t>	modify heart;</a:t>
            </a:r>
          </a:p>
          <a:p>
            <a:pPr defTabSz="685800"/>
            <a:r>
              <a:rPr lang="en-US" b="1" dirty="0">
                <a:solidFill>
                  <a:srgbClr val="FF0000"/>
                </a:solidFill>
                <a:latin typeface="Courier New" panose="02070309020205020404" pitchFamily="49" charset="0"/>
                <a:cs typeface="Courier New" panose="02070309020205020404" pitchFamily="49" charset="0"/>
              </a:rPr>
              <a:t>	index create id=(seqnum heartid) / 	nomiss unique;</a:t>
            </a:r>
          </a:p>
          <a:p>
            <a:pPr defTabSz="685800"/>
            <a:r>
              <a:rPr lang="en-US" b="1" dirty="0">
                <a:solidFill>
                  <a:srgbClr val="FF0000"/>
                </a:solidFill>
                <a:latin typeface="Courier New" panose="02070309020205020404" pitchFamily="49" charset="0"/>
                <a:cs typeface="Courier New" panose="02070309020205020404" pitchFamily="49" charset="0"/>
              </a:rPr>
              <a:t>quit;</a:t>
            </a:r>
          </a:p>
          <a:p>
            <a:pPr defTabSz="685800"/>
            <a:endParaRPr lang="en-US" b="1" dirty="0">
              <a:solidFill>
                <a:prstClr val="black"/>
              </a:solidFill>
              <a:latin typeface="Courier New" panose="02070309020205020404" pitchFamily="49" charset="0"/>
              <a:cs typeface="Courier New" panose="02070309020205020404" pitchFamily="49" charset="0"/>
            </a:endParaRPr>
          </a:p>
          <a:p>
            <a:pPr defTabSz="685800"/>
            <a:r>
              <a:rPr lang="en-US" b="1" dirty="0">
                <a:solidFill>
                  <a:prstClr val="black"/>
                </a:solidFill>
                <a:latin typeface="Courier New" panose="02070309020205020404" pitchFamily="49" charset="0"/>
                <a:cs typeface="Courier New" panose="02070309020205020404" pitchFamily="49" charset="0"/>
              </a:rPr>
              <a:t>ods trace on;</a:t>
            </a:r>
          </a:p>
          <a:p>
            <a:pPr defTabSz="685800"/>
            <a:endParaRPr lang="en-US" b="1" dirty="0">
              <a:solidFill>
                <a:prstClr val="black"/>
              </a:solidFill>
              <a:latin typeface="Courier New" panose="02070309020205020404" pitchFamily="49" charset="0"/>
              <a:cs typeface="Courier New" panose="02070309020205020404" pitchFamily="49" charset="0"/>
            </a:endParaRPr>
          </a:p>
          <a:p>
            <a:pPr defTabSz="685800"/>
            <a:r>
              <a:rPr lang="en-US" b="1" dirty="0">
                <a:solidFill>
                  <a:prstClr val="black"/>
                </a:solidFill>
                <a:latin typeface="Courier New" panose="02070309020205020404" pitchFamily="49" charset="0"/>
                <a:cs typeface="Courier New" panose="02070309020205020404" pitchFamily="49" charset="0"/>
              </a:rPr>
              <a:t>proc contents data=out1.heart varnum;</a:t>
            </a:r>
          </a:p>
          <a:p>
            <a:pPr defTabSz="685800"/>
            <a:r>
              <a:rPr lang="en-US" b="1" dirty="0">
                <a:solidFill>
                  <a:prstClr val="black"/>
                </a:solidFill>
                <a:latin typeface="Courier New" panose="02070309020205020404" pitchFamily="49" charset="0"/>
                <a:cs typeface="Courier New" panose="02070309020205020404" pitchFamily="49" charset="0"/>
              </a:rPr>
              <a:t>title2 "Contents - Add Index";</a:t>
            </a:r>
          </a:p>
          <a:p>
            <a:pPr defTabSz="685800"/>
            <a:r>
              <a:rPr lang="en-US" b="1" dirty="0">
                <a:solidFill>
                  <a:prstClr val="black"/>
                </a:solidFill>
                <a:latin typeface="Courier New" panose="02070309020205020404" pitchFamily="49" charset="0"/>
                <a:cs typeface="Courier New" panose="02070309020205020404" pitchFamily="49" charset="0"/>
              </a:rPr>
              <a:t>run;</a:t>
            </a:r>
          </a:p>
          <a:p>
            <a:pPr defTabSz="685800"/>
            <a:endParaRPr lang="en-US" b="1" dirty="0">
              <a:solidFill>
                <a:prstClr val="black"/>
              </a:solidFill>
              <a:latin typeface="Courier New" panose="02070309020205020404" pitchFamily="49" charset="0"/>
              <a:cs typeface="Courier New" panose="02070309020205020404" pitchFamily="49" charset="0"/>
            </a:endParaRPr>
          </a:p>
          <a:p>
            <a:pPr defTabSz="685800"/>
            <a:r>
              <a:rPr lang="en-US" b="1" dirty="0">
                <a:solidFill>
                  <a:prstClr val="black"/>
                </a:solidFill>
                <a:latin typeface="Courier New" panose="02070309020205020404" pitchFamily="49" charset="0"/>
                <a:cs typeface="Courier New" panose="02070309020205020404" pitchFamily="49" charset="0"/>
              </a:rPr>
              <a:t>ods trace off;</a:t>
            </a:r>
            <a:endParaRPr lang="en-US" sz="2700" dirty="0">
              <a:solidFill>
                <a:prstClr val="black"/>
              </a:solidFill>
              <a:latin typeface="Calibri"/>
            </a:endParaRPr>
          </a:p>
        </p:txBody>
      </p:sp>
      <p:cxnSp>
        <p:nvCxnSpPr>
          <p:cNvPr id="10" name="Straight Connector 9">
            <a:extLst>
              <a:ext uri="{FF2B5EF4-FFF2-40B4-BE49-F238E27FC236}">
                <a16:creationId xmlns:a16="http://schemas.microsoft.com/office/drawing/2014/main" id="{82AAFDD9-D12A-93DB-0381-DCE0B201AD85}"/>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4AFBE665-9894-B071-5F14-175D4DED2914}"/>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Tree>
    <p:extLst>
      <p:ext uri="{BB962C8B-B14F-4D97-AF65-F5344CB8AC3E}">
        <p14:creationId xmlns:p14="http://schemas.microsoft.com/office/powerpoint/2010/main" val="35600775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A5E99-3E27-6E33-442B-BD9060A348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78C980-9D6D-28E9-F97C-8E14CAFD1697}"/>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How to train your ODS Output Objects</a:t>
            </a:r>
          </a:p>
        </p:txBody>
      </p:sp>
      <p:cxnSp>
        <p:nvCxnSpPr>
          <p:cNvPr id="10" name="Straight Connector 9">
            <a:extLst>
              <a:ext uri="{FF2B5EF4-FFF2-40B4-BE49-F238E27FC236}">
                <a16:creationId xmlns:a16="http://schemas.microsoft.com/office/drawing/2014/main" id="{86273150-2AC3-47F0-B1A2-B2BAFC71981B}"/>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D1AD6081-C50A-C2F6-99F9-065C18201F11}"/>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8" name="Picture 7" descr="A screenshot of a computer&#10;&#10;AI-generated content may be incorrect.">
            <a:extLst>
              <a:ext uri="{FF2B5EF4-FFF2-40B4-BE49-F238E27FC236}">
                <a16:creationId xmlns:a16="http://schemas.microsoft.com/office/drawing/2014/main" id="{B6FD2DC7-C1C9-6D6C-4C67-581C94DCF7EC}"/>
              </a:ext>
            </a:extLst>
          </p:cNvPr>
          <p:cNvPicPr>
            <a:picLocks noChangeAspect="1"/>
          </p:cNvPicPr>
          <p:nvPr/>
        </p:nvPicPr>
        <p:blipFill>
          <a:blip r:embed="rId3"/>
          <a:stretch>
            <a:fillRect/>
          </a:stretch>
        </p:blipFill>
        <p:spPr>
          <a:xfrm>
            <a:off x="3112265" y="2059228"/>
            <a:ext cx="4481231" cy="7768559"/>
          </a:xfrm>
          <a:prstGeom prst="rect">
            <a:avLst/>
          </a:prstGeom>
        </p:spPr>
      </p:pic>
      <p:pic>
        <p:nvPicPr>
          <p:cNvPr id="5" name="Picture 4" descr="A white box with black text&#10;&#10;AI-generated content may be incorrect.">
            <a:extLst>
              <a:ext uri="{FF2B5EF4-FFF2-40B4-BE49-F238E27FC236}">
                <a16:creationId xmlns:a16="http://schemas.microsoft.com/office/drawing/2014/main" id="{0B6B5539-0677-1DE2-9CB1-6F84CB37C2C0}"/>
              </a:ext>
            </a:extLst>
          </p:cNvPr>
          <p:cNvPicPr>
            <a:picLocks noChangeAspect="1"/>
          </p:cNvPicPr>
          <p:nvPr/>
        </p:nvPicPr>
        <p:blipFill>
          <a:blip r:embed="rId4"/>
          <a:stretch>
            <a:fillRect/>
          </a:stretch>
        </p:blipFill>
        <p:spPr>
          <a:xfrm>
            <a:off x="8139780" y="4357221"/>
            <a:ext cx="7036537" cy="2560414"/>
          </a:xfrm>
          <a:prstGeom prst="rect">
            <a:avLst/>
          </a:prstGeom>
        </p:spPr>
      </p:pic>
      <p:sp>
        <p:nvSpPr>
          <p:cNvPr id="4" name="Arrow: Left 3">
            <a:extLst>
              <a:ext uri="{FF2B5EF4-FFF2-40B4-BE49-F238E27FC236}">
                <a16:creationId xmlns:a16="http://schemas.microsoft.com/office/drawing/2014/main" id="{842B67A0-79CF-0E2D-F51D-7094F1B65D78}"/>
              </a:ext>
            </a:extLst>
          </p:cNvPr>
          <p:cNvSpPr/>
          <p:nvPr/>
        </p:nvSpPr>
        <p:spPr>
          <a:xfrm rot="19724769">
            <a:off x="5525680" y="7874146"/>
            <a:ext cx="4940457" cy="724590"/>
          </a:xfrm>
          <a:prstGeom prst="lef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lang="en-US" sz="2700" dirty="0">
              <a:solidFill>
                <a:prstClr val="white"/>
              </a:solidFill>
              <a:latin typeface="Calibri"/>
            </a:endParaRPr>
          </a:p>
        </p:txBody>
      </p:sp>
    </p:spTree>
    <p:extLst>
      <p:ext uri="{BB962C8B-B14F-4D97-AF65-F5344CB8AC3E}">
        <p14:creationId xmlns:p14="http://schemas.microsoft.com/office/powerpoint/2010/main" val="5664604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E2CCC-FBCF-C117-AF02-BC9E297E50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3CB58B-7F86-1B2F-4160-67A8F158B349}"/>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How to train your ODS Output Objects</a:t>
            </a:r>
          </a:p>
        </p:txBody>
      </p:sp>
      <p:cxnSp>
        <p:nvCxnSpPr>
          <p:cNvPr id="10" name="Straight Connector 9">
            <a:extLst>
              <a:ext uri="{FF2B5EF4-FFF2-40B4-BE49-F238E27FC236}">
                <a16:creationId xmlns:a16="http://schemas.microsoft.com/office/drawing/2014/main" id="{95E3D088-9965-C6B3-99AF-43E9FD8F12C5}"/>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6FAD8984-30DD-D789-79DB-59E3DCA795EC}"/>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8" name="Picture 7" descr="A screenshot of a computer&#10;&#10;AI-generated content may be incorrect.">
            <a:extLst>
              <a:ext uri="{FF2B5EF4-FFF2-40B4-BE49-F238E27FC236}">
                <a16:creationId xmlns:a16="http://schemas.microsoft.com/office/drawing/2014/main" id="{9AF4BA61-9C6F-8271-43BB-FD55BF733407}"/>
              </a:ext>
            </a:extLst>
          </p:cNvPr>
          <p:cNvPicPr>
            <a:picLocks noChangeAspect="1"/>
          </p:cNvPicPr>
          <p:nvPr/>
        </p:nvPicPr>
        <p:blipFill>
          <a:blip r:embed="rId3"/>
          <a:stretch>
            <a:fillRect/>
          </a:stretch>
        </p:blipFill>
        <p:spPr>
          <a:xfrm>
            <a:off x="3112265" y="2059227"/>
            <a:ext cx="4242692" cy="7355033"/>
          </a:xfrm>
          <a:prstGeom prst="rect">
            <a:avLst/>
          </a:prstGeom>
        </p:spPr>
      </p:pic>
      <p:pic>
        <p:nvPicPr>
          <p:cNvPr id="12" name="Picture 11" descr="A close-up of a logo&#10;&#10;AI-generated content may be incorrect.">
            <a:extLst>
              <a:ext uri="{FF2B5EF4-FFF2-40B4-BE49-F238E27FC236}">
                <a16:creationId xmlns:a16="http://schemas.microsoft.com/office/drawing/2014/main" id="{48C7BE2F-774F-05E7-B682-1D3F0944D7C2}"/>
              </a:ext>
            </a:extLst>
          </p:cNvPr>
          <p:cNvPicPr>
            <a:picLocks noChangeAspect="1"/>
          </p:cNvPicPr>
          <p:nvPr/>
        </p:nvPicPr>
        <p:blipFill>
          <a:blip r:embed="rId4"/>
          <a:srcRect r="11828"/>
          <a:stretch>
            <a:fillRect/>
          </a:stretch>
        </p:blipFill>
        <p:spPr>
          <a:xfrm>
            <a:off x="8348332" y="8244974"/>
            <a:ext cx="5467631" cy="1266890"/>
          </a:xfrm>
          <a:prstGeom prst="rect">
            <a:avLst/>
          </a:prstGeom>
        </p:spPr>
      </p:pic>
      <p:pic>
        <p:nvPicPr>
          <p:cNvPr id="14" name="Picture 13" descr="A close-up of a computer&#10;&#10;AI-generated content may be incorrect.">
            <a:extLst>
              <a:ext uri="{FF2B5EF4-FFF2-40B4-BE49-F238E27FC236}">
                <a16:creationId xmlns:a16="http://schemas.microsoft.com/office/drawing/2014/main" id="{E805F93A-1F57-88FB-79DC-77EB17F82262}"/>
              </a:ext>
            </a:extLst>
          </p:cNvPr>
          <p:cNvPicPr>
            <a:picLocks noChangeAspect="1"/>
          </p:cNvPicPr>
          <p:nvPr/>
        </p:nvPicPr>
        <p:blipFill>
          <a:blip r:embed="rId5"/>
          <a:srcRect r="7568"/>
          <a:stretch>
            <a:fillRect/>
          </a:stretch>
        </p:blipFill>
        <p:spPr>
          <a:xfrm>
            <a:off x="8348333" y="6690420"/>
            <a:ext cx="5467631" cy="1381196"/>
          </a:xfrm>
          <a:prstGeom prst="rect">
            <a:avLst/>
          </a:prstGeom>
        </p:spPr>
      </p:pic>
      <p:pic>
        <p:nvPicPr>
          <p:cNvPr id="16" name="Picture 15" descr="A screenshot of a computer program&#10;&#10;AI-generated content may be incorrect.">
            <a:extLst>
              <a:ext uri="{FF2B5EF4-FFF2-40B4-BE49-F238E27FC236}">
                <a16:creationId xmlns:a16="http://schemas.microsoft.com/office/drawing/2014/main" id="{2316704F-6E5E-E2E8-7FAF-B55051F77A08}"/>
              </a:ext>
            </a:extLst>
          </p:cNvPr>
          <p:cNvPicPr>
            <a:picLocks noChangeAspect="1"/>
          </p:cNvPicPr>
          <p:nvPr/>
        </p:nvPicPr>
        <p:blipFill>
          <a:blip r:embed="rId6"/>
          <a:stretch>
            <a:fillRect/>
          </a:stretch>
        </p:blipFill>
        <p:spPr>
          <a:xfrm>
            <a:off x="8348333" y="2099231"/>
            <a:ext cx="5467631" cy="4438878"/>
          </a:xfrm>
          <a:prstGeom prst="rect">
            <a:avLst/>
          </a:prstGeom>
        </p:spPr>
      </p:pic>
      <p:sp>
        <p:nvSpPr>
          <p:cNvPr id="17" name="Arrow: Left 16">
            <a:extLst>
              <a:ext uri="{FF2B5EF4-FFF2-40B4-BE49-F238E27FC236}">
                <a16:creationId xmlns:a16="http://schemas.microsoft.com/office/drawing/2014/main" id="{0CC3DFCB-3DA7-C3EB-6649-3DC0F141D038}"/>
              </a:ext>
            </a:extLst>
          </p:cNvPr>
          <p:cNvSpPr/>
          <p:nvPr/>
        </p:nvSpPr>
        <p:spPr>
          <a:xfrm rot="20346579">
            <a:off x="6121740" y="4410571"/>
            <a:ext cx="2289954" cy="724590"/>
          </a:xfrm>
          <a:prstGeom prst="lef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lang="en-US" sz="2700" dirty="0">
              <a:solidFill>
                <a:prstClr val="white"/>
              </a:solidFill>
              <a:latin typeface="Calibri"/>
            </a:endParaRPr>
          </a:p>
        </p:txBody>
      </p:sp>
      <p:sp>
        <p:nvSpPr>
          <p:cNvPr id="18" name="Arrow: Left 17">
            <a:extLst>
              <a:ext uri="{FF2B5EF4-FFF2-40B4-BE49-F238E27FC236}">
                <a16:creationId xmlns:a16="http://schemas.microsoft.com/office/drawing/2014/main" id="{31FE0176-F110-2D7F-B8A8-8F322312EC91}"/>
              </a:ext>
            </a:extLst>
          </p:cNvPr>
          <p:cNvSpPr/>
          <p:nvPr/>
        </p:nvSpPr>
        <p:spPr>
          <a:xfrm rot="1482203">
            <a:off x="6003638" y="6506756"/>
            <a:ext cx="2421364" cy="724590"/>
          </a:xfrm>
          <a:prstGeom prst="lef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lang="en-US" sz="2700" dirty="0">
              <a:solidFill>
                <a:prstClr val="white"/>
              </a:solidFill>
              <a:latin typeface="Calibri"/>
            </a:endParaRPr>
          </a:p>
        </p:txBody>
      </p:sp>
      <p:sp>
        <p:nvSpPr>
          <p:cNvPr id="19" name="Arrow: Left 18">
            <a:extLst>
              <a:ext uri="{FF2B5EF4-FFF2-40B4-BE49-F238E27FC236}">
                <a16:creationId xmlns:a16="http://schemas.microsoft.com/office/drawing/2014/main" id="{FAE81274-B72F-D954-0F6A-DF238E29DB5B}"/>
              </a:ext>
            </a:extLst>
          </p:cNvPr>
          <p:cNvSpPr/>
          <p:nvPr/>
        </p:nvSpPr>
        <p:spPr>
          <a:xfrm rot="1251930">
            <a:off x="5625052" y="8156496"/>
            <a:ext cx="2446109" cy="724590"/>
          </a:xfrm>
          <a:prstGeom prst="lef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lang="en-US" sz="2700" dirty="0">
              <a:solidFill>
                <a:prstClr val="white"/>
              </a:solidFill>
              <a:latin typeface="Calibri"/>
            </a:endParaRPr>
          </a:p>
        </p:txBody>
      </p:sp>
    </p:spTree>
    <p:extLst>
      <p:ext uri="{BB962C8B-B14F-4D97-AF65-F5344CB8AC3E}">
        <p14:creationId xmlns:p14="http://schemas.microsoft.com/office/powerpoint/2010/main" val="34319313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l="-6000" r="-6000"/>
          </a:stretch>
        </a:blipFill>
        <a:effectLst/>
      </p:bgPr>
    </p:bg>
    <p:spTree>
      <p:nvGrpSpPr>
        <p:cNvPr id="1" name="">
          <a:extLst>
            <a:ext uri="{FF2B5EF4-FFF2-40B4-BE49-F238E27FC236}">
              <a16:creationId xmlns:a16="http://schemas.microsoft.com/office/drawing/2014/main" id="{7267EAF1-BA29-8682-CFDD-72F8B0F7941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C950D4B-897E-1E92-7E1E-6A94861DDBDB}"/>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
        <p:nvSpPr>
          <p:cNvPr id="2" name="Rectangle 1">
            <a:extLst>
              <a:ext uri="{FF2B5EF4-FFF2-40B4-BE49-F238E27FC236}">
                <a16:creationId xmlns:a16="http://schemas.microsoft.com/office/drawing/2014/main" id="{938E3F62-1C19-AAB0-DA35-998A9DB7237F}"/>
              </a:ext>
            </a:extLst>
          </p:cNvPr>
          <p:cNvSpPr/>
          <p:nvPr/>
        </p:nvSpPr>
        <p:spPr>
          <a:xfrm>
            <a:off x="2286000" y="7739744"/>
            <a:ext cx="13716000" cy="2498271"/>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lang="en-US" sz="2700" dirty="0">
              <a:solidFill>
                <a:prstClr val="white"/>
              </a:solidFill>
              <a:latin typeface="Calibri"/>
            </a:endParaRPr>
          </a:p>
        </p:txBody>
      </p:sp>
      <p:sp>
        <p:nvSpPr>
          <p:cNvPr id="4" name="TextBox 3">
            <a:extLst>
              <a:ext uri="{FF2B5EF4-FFF2-40B4-BE49-F238E27FC236}">
                <a16:creationId xmlns:a16="http://schemas.microsoft.com/office/drawing/2014/main" id="{54CE02F6-D09C-F55F-47B1-D4C1DF5A28EC}"/>
              </a:ext>
            </a:extLst>
          </p:cNvPr>
          <p:cNvSpPr txBox="1"/>
          <p:nvPr/>
        </p:nvSpPr>
        <p:spPr>
          <a:xfrm>
            <a:off x="2555422" y="8318739"/>
            <a:ext cx="13128173" cy="1015663"/>
          </a:xfrm>
          <a:prstGeom prst="rect">
            <a:avLst/>
          </a:prstGeom>
          <a:noFill/>
        </p:spPr>
        <p:txBody>
          <a:bodyPr wrap="square" rtlCol="0">
            <a:spAutoFit/>
          </a:bodyPr>
          <a:lstStyle/>
          <a:p>
            <a:pPr algn="ctr" defTabSz="685800"/>
            <a:r>
              <a:rPr lang="en-US" sz="6000" b="1" dirty="0">
                <a:solidFill>
                  <a:prstClr val="white"/>
                </a:solidFill>
                <a:latin typeface="Calibri"/>
              </a:rPr>
              <a:t>ODS SHOW, SELECT, EXCLUDE</a:t>
            </a:r>
          </a:p>
        </p:txBody>
      </p:sp>
    </p:spTree>
    <p:extLst>
      <p:ext uri="{BB962C8B-B14F-4D97-AF65-F5344CB8AC3E}">
        <p14:creationId xmlns:p14="http://schemas.microsoft.com/office/powerpoint/2010/main" val="23973338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D9926-C407-E68A-872A-1314CBAA46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C8BB9-BAED-FC84-385A-8271FD414D4A}"/>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ODS SELECT, SHOW</a:t>
            </a:r>
          </a:p>
        </p:txBody>
      </p:sp>
      <p:cxnSp>
        <p:nvCxnSpPr>
          <p:cNvPr id="10" name="Straight Connector 9">
            <a:extLst>
              <a:ext uri="{FF2B5EF4-FFF2-40B4-BE49-F238E27FC236}">
                <a16:creationId xmlns:a16="http://schemas.microsoft.com/office/drawing/2014/main" id="{C00303CE-8AF2-7311-DDE3-0CA78EC7496E}"/>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0F44EEAA-A559-F629-BDBC-72B37BED393C}"/>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5" name="Picture 4" descr="A screenshot of a computer program&#10;&#10;AI-generated content may be incorrect.">
            <a:extLst>
              <a:ext uri="{FF2B5EF4-FFF2-40B4-BE49-F238E27FC236}">
                <a16:creationId xmlns:a16="http://schemas.microsoft.com/office/drawing/2014/main" id="{FF5B4A1D-C63D-4EBF-FDBA-084D7A07C84F}"/>
              </a:ext>
            </a:extLst>
          </p:cNvPr>
          <p:cNvPicPr>
            <a:picLocks noChangeAspect="1"/>
          </p:cNvPicPr>
          <p:nvPr/>
        </p:nvPicPr>
        <p:blipFill>
          <a:blip r:embed="rId3"/>
          <a:srcRect t="38138"/>
          <a:stretch>
            <a:fillRect/>
          </a:stretch>
        </p:blipFill>
        <p:spPr>
          <a:xfrm>
            <a:off x="8521147" y="5783966"/>
            <a:ext cx="8244849" cy="3609996"/>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5C1ECB45-AE82-C6F0-3B90-B2EF1A39165B}"/>
              </a:ext>
            </a:extLst>
          </p:cNvPr>
          <p:cNvPicPr>
            <a:picLocks noChangeAspect="1"/>
          </p:cNvPicPr>
          <p:nvPr/>
        </p:nvPicPr>
        <p:blipFill>
          <a:blip r:embed="rId4"/>
          <a:stretch>
            <a:fillRect/>
          </a:stretch>
        </p:blipFill>
        <p:spPr>
          <a:xfrm>
            <a:off x="1709530" y="5775992"/>
            <a:ext cx="5105426" cy="3576388"/>
          </a:xfrm>
          <a:prstGeom prst="rect">
            <a:avLst/>
          </a:prstGeom>
        </p:spPr>
      </p:pic>
      <p:pic>
        <p:nvPicPr>
          <p:cNvPr id="4" name="Picture 3">
            <a:extLst>
              <a:ext uri="{FF2B5EF4-FFF2-40B4-BE49-F238E27FC236}">
                <a16:creationId xmlns:a16="http://schemas.microsoft.com/office/drawing/2014/main" id="{27CD4AD5-C5D8-3E45-B80C-BAA8CFE403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53774" y="2219093"/>
            <a:ext cx="6973441" cy="3166946"/>
          </a:xfrm>
          <a:prstGeom prst="rect">
            <a:avLst/>
          </a:prstGeom>
        </p:spPr>
      </p:pic>
      <p:pic>
        <p:nvPicPr>
          <p:cNvPr id="8" name="Picture 7" descr="The image shows a SAS (Statistical Analysis System) log file displaying the results of a linear regression analysis, including an ANOVA (Analysis of Variance) and fit statistics for a model predicting 'bmi' based on 'weight', 'ageatstart', and 'height'.&#10;&#10;AI-generated content may be incorrect.">
            <a:extLst>
              <a:ext uri="{FF2B5EF4-FFF2-40B4-BE49-F238E27FC236}">
                <a16:creationId xmlns:a16="http://schemas.microsoft.com/office/drawing/2014/main" id="{ED340D9E-B64D-6042-42BA-66736D861E70}"/>
              </a:ext>
            </a:extLst>
          </p:cNvPr>
          <p:cNvPicPr>
            <a:picLocks noChangeAspect="1"/>
          </p:cNvPicPr>
          <p:nvPr/>
        </p:nvPicPr>
        <p:blipFill>
          <a:blip r:embed="rId6"/>
          <a:srcRect l="24257" t="15155" r="26893" b="61235"/>
          <a:stretch>
            <a:fillRect/>
          </a:stretch>
        </p:blipFill>
        <p:spPr>
          <a:xfrm>
            <a:off x="9123440" y="2279065"/>
            <a:ext cx="7490226" cy="2129092"/>
          </a:xfrm>
          <a:prstGeom prst="rect">
            <a:avLst/>
          </a:prstGeom>
        </p:spPr>
      </p:pic>
    </p:spTree>
    <p:extLst>
      <p:ext uri="{BB962C8B-B14F-4D97-AF65-F5344CB8AC3E}">
        <p14:creationId xmlns:p14="http://schemas.microsoft.com/office/powerpoint/2010/main" val="24439088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A9F45-DDCF-21D7-660C-FBF6FEF887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BCA30B-827D-A879-5CAA-367EF3273B1E}"/>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ODS EXCLUDE, SHOW</a:t>
            </a:r>
          </a:p>
        </p:txBody>
      </p:sp>
      <p:cxnSp>
        <p:nvCxnSpPr>
          <p:cNvPr id="10" name="Straight Connector 9">
            <a:extLst>
              <a:ext uri="{FF2B5EF4-FFF2-40B4-BE49-F238E27FC236}">
                <a16:creationId xmlns:a16="http://schemas.microsoft.com/office/drawing/2014/main" id="{AA1AF795-F2D3-414F-402B-20C67CCEBDAF}"/>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E1FE1334-49BF-9F9C-D74E-535A9586FF31}"/>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11" name="Picture 10">
            <a:extLst>
              <a:ext uri="{FF2B5EF4-FFF2-40B4-BE49-F238E27FC236}">
                <a16:creationId xmlns:a16="http://schemas.microsoft.com/office/drawing/2014/main" id="{BBD8C258-784C-D101-DFB2-D9EF63BC96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8460" y="2161027"/>
            <a:ext cx="5027459" cy="2723207"/>
          </a:xfrm>
          <a:prstGeom prst="rect">
            <a:avLst/>
          </a:prstGeom>
        </p:spPr>
      </p:pic>
      <p:pic>
        <p:nvPicPr>
          <p:cNvPr id="13" name="Picture 12">
            <a:extLst>
              <a:ext uri="{FF2B5EF4-FFF2-40B4-BE49-F238E27FC236}">
                <a16:creationId xmlns:a16="http://schemas.microsoft.com/office/drawing/2014/main" id="{AF48DE3F-C2DC-5324-076F-5C0CBA0FCA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3056" y="2161026"/>
            <a:ext cx="4024542" cy="2982473"/>
          </a:xfrm>
          <a:prstGeom prst="rect">
            <a:avLst/>
          </a:prstGeom>
        </p:spPr>
      </p:pic>
      <p:pic>
        <p:nvPicPr>
          <p:cNvPr id="15" name="Picture 14">
            <a:extLst>
              <a:ext uri="{FF2B5EF4-FFF2-40B4-BE49-F238E27FC236}">
                <a16:creationId xmlns:a16="http://schemas.microsoft.com/office/drawing/2014/main" id="{B101EA0C-9585-3773-0038-C80D41F0C29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31700" y="2161027"/>
            <a:ext cx="5514676" cy="6481167"/>
          </a:xfrm>
          <a:prstGeom prst="rect">
            <a:avLst/>
          </a:prstGeom>
        </p:spPr>
      </p:pic>
    </p:spTree>
    <p:extLst>
      <p:ext uri="{BB962C8B-B14F-4D97-AF65-F5344CB8AC3E}">
        <p14:creationId xmlns:p14="http://schemas.microsoft.com/office/powerpoint/2010/main" val="23903409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1000"/>
            <a:lum/>
          </a:blip>
          <a:srcRect/>
          <a:stretch>
            <a:fillRect l="-6000" r="-6000"/>
          </a:stretch>
        </a:blipFill>
        <a:effectLst/>
      </p:bgPr>
    </p:bg>
    <p:spTree>
      <p:nvGrpSpPr>
        <p:cNvPr id="1" name="">
          <a:extLst>
            <a:ext uri="{FF2B5EF4-FFF2-40B4-BE49-F238E27FC236}">
              <a16:creationId xmlns:a16="http://schemas.microsoft.com/office/drawing/2014/main" id="{7BDBAD5E-A94D-2308-84BF-7A1444C5410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D4D1881-4785-C1FD-23AE-96FD9A769BA9}"/>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
        <p:nvSpPr>
          <p:cNvPr id="2" name="Rectangle 1">
            <a:extLst>
              <a:ext uri="{FF2B5EF4-FFF2-40B4-BE49-F238E27FC236}">
                <a16:creationId xmlns:a16="http://schemas.microsoft.com/office/drawing/2014/main" id="{BEC59AC3-1630-874F-4515-2944456BDBA2}"/>
              </a:ext>
            </a:extLst>
          </p:cNvPr>
          <p:cNvSpPr/>
          <p:nvPr/>
        </p:nvSpPr>
        <p:spPr>
          <a:xfrm>
            <a:off x="2286000" y="8406962"/>
            <a:ext cx="13716000" cy="1831052"/>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lang="en-US" sz="2700" dirty="0">
              <a:solidFill>
                <a:prstClr val="white"/>
              </a:solidFill>
              <a:latin typeface="Calibri"/>
            </a:endParaRPr>
          </a:p>
        </p:txBody>
      </p:sp>
      <p:sp>
        <p:nvSpPr>
          <p:cNvPr id="4" name="TextBox 3">
            <a:extLst>
              <a:ext uri="{FF2B5EF4-FFF2-40B4-BE49-F238E27FC236}">
                <a16:creationId xmlns:a16="http://schemas.microsoft.com/office/drawing/2014/main" id="{4AF953D0-0225-FD03-5090-BEBE14CD6F2D}"/>
              </a:ext>
            </a:extLst>
          </p:cNvPr>
          <p:cNvSpPr txBox="1"/>
          <p:nvPr/>
        </p:nvSpPr>
        <p:spPr>
          <a:xfrm>
            <a:off x="2579914" y="8702135"/>
            <a:ext cx="13128173" cy="1015663"/>
          </a:xfrm>
          <a:prstGeom prst="rect">
            <a:avLst/>
          </a:prstGeom>
          <a:noFill/>
        </p:spPr>
        <p:txBody>
          <a:bodyPr wrap="square" rtlCol="0">
            <a:spAutoFit/>
          </a:bodyPr>
          <a:lstStyle/>
          <a:p>
            <a:pPr algn="ctr" defTabSz="685800"/>
            <a:r>
              <a:rPr lang="en-US" sz="6000" b="1" dirty="0">
                <a:solidFill>
                  <a:prstClr val="white"/>
                </a:solidFill>
                <a:latin typeface="Calibri"/>
              </a:rPr>
              <a:t>Harvesting your ODS Output Objects</a:t>
            </a:r>
          </a:p>
        </p:txBody>
      </p:sp>
    </p:spTree>
    <p:extLst>
      <p:ext uri="{BB962C8B-B14F-4D97-AF65-F5344CB8AC3E}">
        <p14:creationId xmlns:p14="http://schemas.microsoft.com/office/powerpoint/2010/main" val="24994939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5075E-47E4-1AF8-F8DD-88A13DCB7C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B38663-6AB2-63FB-6588-EEF0257498B5}"/>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Harvesting ODS Output Objects</a:t>
            </a:r>
          </a:p>
        </p:txBody>
      </p:sp>
      <p:cxnSp>
        <p:nvCxnSpPr>
          <p:cNvPr id="10" name="Straight Connector 9">
            <a:extLst>
              <a:ext uri="{FF2B5EF4-FFF2-40B4-BE49-F238E27FC236}">
                <a16:creationId xmlns:a16="http://schemas.microsoft.com/office/drawing/2014/main" id="{60FCA028-69FA-C777-870F-416EB6A69806}"/>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E91506D0-CD30-A2A9-31FA-A532D359D833}"/>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
        <p:nvSpPr>
          <p:cNvPr id="4" name="TextBox 3">
            <a:extLst>
              <a:ext uri="{FF2B5EF4-FFF2-40B4-BE49-F238E27FC236}">
                <a16:creationId xmlns:a16="http://schemas.microsoft.com/office/drawing/2014/main" id="{9FA00051-B8E3-6BD4-C4F1-AF607278C8F9}"/>
              </a:ext>
            </a:extLst>
          </p:cNvPr>
          <p:cNvSpPr txBox="1"/>
          <p:nvPr/>
        </p:nvSpPr>
        <p:spPr>
          <a:xfrm>
            <a:off x="3112264" y="2132588"/>
            <a:ext cx="12063470" cy="6740307"/>
          </a:xfrm>
          <a:prstGeom prst="rect">
            <a:avLst/>
          </a:prstGeom>
          <a:noFill/>
        </p:spPr>
        <p:txBody>
          <a:bodyPr wrap="square" rtlCol="0">
            <a:spAutoFit/>
          </a:bodyPr>
          <a:lstStyle/>
          <a:p>
            <a:pPr defTabSz="685800"/>
            <a:r>
              <a:rPr lang="en-US" b="1" dirty="0">
                <a:solidFill>
                  <a:srgbClr val="FF0000"/>
                </a:solidFill>
                <a:latin typeface="Courier New" panose="02070309020205020404" pitchFamily="49" charset="0"/>
                <a:cs typeface="Courier New" panose="02070309020205020404" pitchFamily="49" charset="0"/>
              </a:rPr>
              <a:t>ods output </a:t>
            </a:r>
          </a:p>
          <a:p>
            <a:pPr defTabSz="685800"/>
            <a:r>
              <a:rPr lang="en-US" b="1" dirty="0">
                <a:solidFill>
                  <a:srgbClr val="FF0000"/>
                </a:solidFill>
                <a:latin typeface="Courier New" panose="02070309020205020404" pitchFamily="49" charset="0"/>
                <a:cs typeface="Courier New" panose="02070309020205020404" pitchFamily="49" charset="0"/>
              </a:rPr>
              <a:t>	attributes=attributes1 	enginehost=enginehost1 	variables=variables1;</a:t>
            </a:r>
          </a:p>
          <a:p>
            <a:pPr defTabSz="685800"/>
            <a:endParaRPr lang="en-US" b="1" dirty="0">
              <a:solidFill>
                <a:prstClr val="black"/>
              </a:solidFill>
              <a:latin typeface="Courier New" panose="02070309020205020404" pitchFamily="49" charset="0"/>
              <a:cs typeface="Courier New" panose="02070309020205020404" pitchFamily="49" charset="0"/>
            </a:endParaRPr>
          </a:p>
          <a:p>
            <a:pPr defTabSz="685800"/>
            <a:r>
              <a:rPr lang="en-US" b="1" dirty="0">
                <a:solidFill>
                  <a:prstClr val="black"/>
                </a:solidFill>
                <a:latin typeface="Courier New" panose="02070309020205020404" pitchFamily="49" charset="0"/>
                <a:cs typeface="Courier New" panose="02070309020205020404" pitchFamily="49" charset="0"/>
              </a:rPr>
              <a:t>proc contents data=out1.heart 	order=collate;</a:t>
            </a:r>
          </a:p>
          <a:p>
            <a:pPr defTabSz="685800"/>
            <a:r>
              <a:rPr lang="en-US" b="1" dirty="0">
                <a:solidFill>
                  <a:prstClr val="black"/>
                </a:solidFill>
                <a:latin typeface="Courier New" panose="02070309020205020404" pitchFamily="49" charset="0"/>
                <a:cs typeface="Courier New" panose="02070309020205020404" pitchFamily="49" charset="0"/>
              </a:rPr>
              <a:t>title2 "Collate contents with ODS OUTPUT objects";</a:t>
            </a:r>
          </a:p>
          <a:p>
            <a:pPr defTabSz="685800"/>
            <a:r>
              <a:rPr lang="en-US" b="1" dirty="0">
                <a:solidFill>
                  <a:prstClr val="black"/>
                </a:solidFill>
                <a:latin typeface="Courier New" panose="02070309020205020404" pitchFamily="49" charset="0"/>
                <a:cs typeface="Courier New" panose="02070309020205020404" pitchFamily="49" charset="0"/>
              </a:rPr>
              <a:t>run;</a:t>
            </a:r>
          </a:p>
          <a:p>
            <a:pPr defTabSz="685800"/>
            <a:endParaRPr lang="en-US" b="1" dirty="0">
              <a:solidFill>
                <a:prstClr val="black"/>
              </a:solidFill>
              <a:latin typeface="Courier New" panose="02070309020205020404" pitchFamily="49" charset="0"/>
              <a:cs typeface="Courier New" panose="02070309020205020404" pitchFamily="49" charset="0"/>
            </a:endParaRPr>
          </a:p>
          <a:p>
            <a:pPr defTabSz="685800"/>
            <a:r>
              <a:rPr lang="en-US" b="1" dirty="0">
                <a:solidFill>
                  <a:srgbClr val="FF0000"/>
                </a:solidFill>
                <a:latin typeface="Courier New" panose="02070309020205020404" pitchFamily="49" charset="0"/>
                <a:cs typeface="Courier New" panose="02070309020205020404" pitchFamily="49" charset="0"/>
              </a:rPr>
              <a:t>ods output close;</a:t>
            </a:r>
            <a:endParaRPr lang="en-US" sz="2700" dirty="0">
              <a:solidFill>
                <a:srgbClr val="FF0000"/>
              </a:solidFill>
              <a:latin typeface="Calibri"/>
            </a:endParaRPr>
          </a:p>
        </p:txBody>
      </p:sp>
    </p:spTree>
    <p:extLst>
      <p:ext uri="{BB962C8B-B14F-4D97-AF65-F5344CB8AC3E}">
        <p14:creationId xmlns:p14="http://schemas.microsoft.com/office/powerpoint/2010/main" val="3192873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76121-0213-3561-3D14-B31E03668B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38E46E-DB9F-BE1A-214B-0F0CBDD5624A}"/>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Harvesting ODS Output Objects</a:t>
            </a:r>
          </a:p>
        </p:txBody>
      </p:sp>
      <p:cxnSp>
        <p:nvCxnSpPr>
          <p:cNvPr id="10" name="Straight Connector 9">
            <a:extLst>
              <a:ext uri="{FF2B5EF4-FFF2-40B4-BE49-F238E27FC236}">
                <a16:creationId xmlns:a16="http://schemas.microsoft.com/office/drawing/2014/main" id="{2D803F67-C526-ADFE-E5CA-AED3DAA8C371}"/>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5670B8DE-7541-BAD7-8535-165E7ED4A474}"/>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6" name="Picture 5" descr="A screenshot of a computer&#10;&#10;AI-generated content may be incorrect.">
            <a:extLst>
              <a:ext uri="{FF2B5EF4-FFF2-40B4-BE49-F238E27FC236}">
                <a16:creationId xmlns:a16="http://schemas.microsoft.com/office/drawing/2014/main" id="{4C05DBE7-697F-8A5A-F247-FF15C843C1A6}"/>
              </a:ext>
            </a:extLst>
          </p:cNvPr>
          <p:cNvPicPr>
            <a:picLocks noChangeAspect="1"/>
          </p:cNvPicPr>
          <p:nvPr/>
        </p:nvPicPr>
        <p:blipFill>
          <a:blip r:embed="rId3"/>
          <a:srcRect r="22508"/>
          <a:stretch>
            <a:fillRect/>
          </a:stretch>
        </p:blipFill>
        <p:spPr>
          <a:xfrm>
            <a:off x="3112264" y="4189268"/>
            <a:ext cx="7436384" cy="4805336"/>
          </a:xfrm>
          <a:prstGeom prst="rect">
            <a:avLst/>
          </a:prstGeom>
        </p:spPr>
      </p:pic>
      <p:pic>
        <p:nvPicPr>
          <p:cNvPr id="8" name="Picture 7" descr="A screenshot of a computer program&#10;&#10;AI-generated content may be incorrect.">
            <a:extLst>
              <a:ext uri="{FF2B5EF4-FFF2-40B4-BE49-F238E27FC236}">
                <a16:creationId xmlns:a16="http://schemas.microsoft.com/office/drawing/2014/main" id="{20583708-4069-E972-452C-738C54B27652}"/>
              </a:ext>
            </a:extLst>
          </p:cNvPr>
          <p:cNvPicPr>
            <a:picLocks noChangeAspect="1"/>
          </p:cNvPicPr>
          <p:nvPr/>
        </p:nvPicPr>
        <p:blipFill>
          <a:blip r:embed="rId4"/>
          <a:srcRect b="11695"/>
          <a:stretch>
            <a:fillRect/>
          </a:stretch>
        </p:blipFill>
        <p:spPr>
          <a:xfrm>
            <a:off x="10933257" y="2129052"/>
            <a:ext cx="4324572" cy="6865551"/>
          </a:xfrm>
          <a:prstGeom prst="rect">
            <a:avLst/>
          </a:prstGeom>
        </p:spPr>
      </p:pic>
      <p:sp>
        <p:nvSpPr>
          <p:cNvPr id="9" name="TextBox 8">
            <a:extLst>
              <a:ext uri="{FF2B5EF4-FFF2-40B4-BE49-F238E27FC236}">
                <a16:creationId xmlns:a16="http://schemas.microsoft.com/office/drawing/2014/main" id="{87394B8C-A789-569B-0CA7-17B334FC10DF}"/>
              </a:ext>
            </a:extLst>
          </p:cNvPr>
          <p:cNvSpPr txBox="1"/>
          <p:nvPr/>
        </p:nvSpPr>
        <p:spPr>
          <a:xfrm>
            <a:off x="3112264" y="2129052"/>
            <a:ext cx="7436384" cy="1569660"/>
          </a:xfrm>
          <a:prstGeom prst="rect">
            <a:avLst/>
          </a:prstGeom>
          <a:noFill/>
        </p:spPr>
        <p:txBody>
          <a:bodyPr wrap="square" rtlCol="0">
            <a:spAutoFit/>
          </a:bodyPr>
          <a:lstStyle/>
          <a:p>
            <a:pPr algn="ctr" defTabSz="685800"/>
            <a:r>
              <a:rPr lang="en-US" sz="3200" b="1" dirty="0">
                <a:solidFill>
                  <a:prstClr val="black"/>
                </a:solidFill>
                <a:latin typeface="Calibri"/>
              </a:rPr>
              <a:t>What you see in the Results Window </a:t>
            </a:r>
          </a:p>
          <a:p>
            <a:pPr algn="ctr" defTabSz="685800"/>
            <a:r>
              <a:rPr lang="en-US" sz="3200" b="1" dirty="0">
                <a:solidFill>
                  <a:prstClr val="black"/>
                </a:solidFill>
                <a:latin typeface="Calibri"/>
              </a:rPr>
              <a:t>(ODS outputs) and SAS libraries </a:t>
            </a:r>
          </a:p>
          <a:p>
            <a:pPr algn="ctr" defTabSz="685800"/>
            <a:r>
              <a:rPr lang="en-US" sz="3200" b="1" dirty="0">
                <a:solidFill>
                  <a:prstClr val="black"/>
                </a:solidFill>
                <a:latin typeface="Calibri"/>
              </a:rPr>
              <a:t>(for example WORK) is NOT the same.</a:t>
            </a:r>
          </a:p>
        </p:txBody>
      </p:sp>
    </p:spTree>
    <p:extLst>
      <p:ext uri="{BB962C8B-B14F-4D97-AF65-F5344CB8AC3E}">
        <p14:creationId xmlns:p14="http://schemas.microsoft.com/office/powerpoint/2010/main" val="5158778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27BB2-C9D6-7D10-A9B7-302177D32C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944CE3-6A2D-1E05-6A84-43527C5A1A6F}"/>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Harvesting ODS Output Objects</a:t>
            </a:r>
          </a:p>
        </p:txBody>
      </p:sp>
      <p:cxnSp>
        <p:nvCxnSpPr>
          <p:cNvPr id="10" name="Straight Connector 9">
            <a:extLst>
              <a:ext uri="{FF2B5EF4-FFF2-40B4-BE49-F238E27FC236}">
                <a16:creationId xmlns:a16="http://schemas.microsoft.com/office/drawing/2014/main" id="{11B9823D-0A2B-8736-9D71-1FC12FA8780D}"/>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EAA78959-6F9B-5DA6-B2C7-1D49666DDA19}"/>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9" name="Picture 8" descr="A screenshot of a data&#10;&#10;AI-generated content may be incorrect.">
            <a:extLst>
              <a:ext uri="{FF2B5EF4-FFF2-40B4-BE49-F238E27FC236}">
                <a16:creationId xmlns:a16="http://schemas.microsoft.com/office/drawing/2014/main" id="{65038F3E-3343-4FCB-8701-171E74B68C0E}"/>
              </a:ext>
            </a:extLst>
          </p:cNvPr>
          <p:cNvPicPr>
            <a:picLocks noChangeAspect="1"/>
          </p:cNvPicPr>
          <p:nvPr/>
        </p:nvPicPr>
        <p:blipFill>
          <a:blip r:embed="rId3"/>
          <a:stretch>
            <a:fillRect/>
          </a:stretch>
        </p:blipFill>
        <p:spPr>
          <a:xfrm>
            <a:off x="9534228" y="5025788"/>
            <a:ext cx="5781972" cy="2438526"/>
          </a:xfrm>
          <a:prstGeom prst="rect">
            <a:avLst/>
          </a:prstGeom>
        </p:spPr>
      </p:pic>
      <p:sp>
        <p:nvSpPr>
          <p:cNvPr id="13" name="TextBox 12">
            <a:extLst>
              <a:ext uri="{FF2B5EF4-FFF2-40B4-BE49-F238E27FC236}">
                <a16:creationId xmlns:a16="http://schemas.microsoft.com/office/drawing/2014/main" id="{7EC08966-B216-1C96-BBFC-BE3D4007A1A8}"/>
              </a:ext>
            </a:extLst>
          </p:cNvPr>
          <p:cNvSpPr txBox="1"/>
          <p:nvPr/>
        </p:nvSpPr>
        <p:spPr>
          <a:xfrm>
            <a:off x="10255819" y="3544616"/>
            <a:ext cx="4057859" cy="1200329"/>
          </a:xfrm>
          <a:prstGeom prst="rect">
            <a:avLst/>
          </a:prstGeom>
          <a:noFill/>
        </p:spPr>
        <p:txBody>
          <a:bodyPr wrap="square" rtlCol="0">
            <a:spAutoFit/>
          </a:bodyPr>
          <a:lstStyle/>
          <a:p>
            <a:pPr algn="ctr" defTabSz="685800"/>
            <a:r>
              <a:rPr lang="en-US" b="1" dirty="0">
                <a:solidFill>
                  <a:prstClr val="black"/>
                </a:solidFill>
                <a:latin typeface="Calibri"/>
              </a:rPr>
              <a:t>Test Print 5 Observations</a:t>
            </a:r>
          </a:p>
        </p:txBody>
      </p:sp>
      <p:sp>
        <p:nvSpPr>
          <p:cNvPr id="14" name="TextBox 13">
            <a:extLst>
              <a:ext uri="{FF2B5EF4-FFF2-40B4-BE49-F238E27FC236}">
                <a16:creationId xmlns:a16="http://schemas.microsoft.com/office/drawing/2014/main" id="{AAF76184-7260-3D09-4538-F74C8CFF4712}"/>
              </a:ext>
            </a:extLst>
          </p:cNvPr>
          <p:cNvSpPr txBox="1"/>
          <p:nvPr/>
        </p:nvSpPr>
        <p:spPr>
          <a:xfrm>
            <a:off x="5233917" y="2564164"/>
            <a:ext cx="2284224" cy="646331"/>
          </a:xfrm>
          <a:prstGeom prst="rect">
            <a:avLst/>
          </a:prstGeom>
          <a:noFill/>
        </p:spPr>
        <p:txBody>
          <a:bodyPr wrap="square" rtlCol="0">
            <a:spAutoFit/>
          </a:bodyPr>
          <a:lstStyle/>
          <a:p>
            <a:pPr algn="ctr" defTabSz="685800"/>
            <a:r>
              <a:rPr lang="en-US" b="1" dirty="0">
                <a:solidFill>
                  <a:prstClr val="black"/>
                </a:solidFill>
                <a:latin typeface="Calibri"/>
              </a:rPr>
              <a:t>Contents</a:t>
            </a:r>
          </a:p>
        </p:txBody>
      </p:sp>
      <p:pic>
        <p:nvPicPr>
          <p:cNvPr id="16" name="Picture 15" descr="A table with numbers and letters&#10;&#10;AI-generated content may be incorrect.">
            <a:extLst>
              <a:ext uri="{FF2B5EF4-FFF2-40B4-BE49-F238E27FC236}">
                <a16:creationId xmlns:a16="http://schemas.microsoft.com/office/drawing/2014/main" id="{ECA63009-B9F0-AAF4-30C3-2CE690C512E5}"/>
              </a:ext>
            </a:extLst>
          </p:cNvPr>
          <p:cNvPicPr>
            <a:picLocks noChangeAspect="1"/>
          </p:cNvPicPr>
          <p:nvPr/>
        </p:nvPicPr>
        <p:blipFill>
          <a:blip r:embed="rId4"/>
          <a:stretch>
            <a:fillRect/>
          </a:stretch>
        </p:blipFill>
        <p:spPr>
          <a:xfrm>
            <a:off x="3744091" y="3544616"/>
            <a:ext cx="5009684" cy="2946173"/>
          </a:xfrm>
          <a:prstGeom prst="rect">
            <a:avLst/>
          </a:prstGeom>
        </p:spPr>
      </p:pic>
    </p:spTree>
    <p:extLst>
      <p:ext uri="{BB962C8B-B14F-4D97-AF65-F5344CB8AC3E}">
        <p14:creationId xmlns:p14="http://schemas.microsoft.com/office/powerpoint/2010/main" val="35992913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943DE-69B6-375D-0B76-DC7837B2CD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6E50AB-552C-8DCA-E078-3C9A6CF12A0A}"/>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Harvesting ODS Output Objects</a:t>
            </a:r>
          </a:p>
        </p:txBody>
      </p:sp>
      <p:cxnSp>
        <p:nvCxnSpPr>
          <p:cNvPr id="10" name="Straight Connector 9">
            <a:extLst>
              <a:ext uri="{FF2B5EF4-FFF2-40B4-BE49-F238E27FC236}">
                <a16:creationId xmlns:a16="http://schemas.microsoft.com/office/drawing/2014/main" id="{F76D362F-0930-2314-7062-7270D89F7E96}"/>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ABCB49AC-0B66-6937-3036-255F67A2E972}"/>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
        <p:nvSpPr>
          <p:cNvPr id="4" name="TextBox 3">
            <a:extLst>
              <a:ext uri="{FF2B5EF4-FFF2-40B4-BE49-F238E27FC236}">
                <a16:creationId xmlns:a16="http://schemas.microsoft.com/office/drawing/2014/main" id="{FD1B8FC3-DBB8-BFEE-C790-F28C6FF55235}"/>
              </a:ext>
            </a:extLst>
          </p:cNvPr>
          <p:cNvSpPr txBox="1"/>
          <p:nvPr/>
        </p:nvSpPr>
        <p:spPr>
          <a:xfrm>
            <a:off x="8629972" y="5372761"/>
            <a:ext cx="4057859" cy="1200329"/>
          </a:xfrm>
          <a:prstGeom prst="rect">
            <a:avLst/>
          </a:prstGeom>
          <a:noFill/>
        </p:spPr>
        <p:txBody>
          <a:bodyPr wrap="square" rtlCol="0">
            <a:spAutoFit/>
          </a:bodyPr>
          <a:lstStyle/>
          <a:p>
            <a:pPr algn="ctr" defTabSz="685800"/>
            <a:r>
              <a:rPr lang="en-US" b="1" dirty="0">
                <a:solidFill>
                  <a:prstClr val="black"/>
                </a:solidFill>
                <a:latin typeface="Calibri"/>
              </a:rPr>
              <a:t>Test Print 5 Observations</a:t>
            </a:r>
          </a:p>
        </p:txBody>
      </p:sp>
      <p:sp>
        <p:nvSpPr>
          <p:cNvPr id="5" name="TextBox 4">
            <a:extLst>
              <a:ext uri="{FF2B5EF4-FFF2-40B4-BE49-F238E27FC236}">
                <a16:creationId xmlns:a16="http://schemas.microsoft.com/office/drawing/2014/main" id="{F830CBF0-75CF-9AF3-E7EF-2BB99311BF2A}"/>
              </a:ext>
            </a:extLst>
          </p:cNvPr>
          <p:cNvSpPr txBox="1"/>
          <p:nvPr/>
        </p:nvSpPr>
        <p:spPr>
          <a:xfrm>
            <a:off x="3085790" y="2081006"/>
            <a:ext cx="4057859" cy="646331"/>
          </a:xfrm>
          <a:prstGeom prst="rect">
            <a:avLst/>
          </a:prstGeom>
          <a:noFill/>
        </p:spPr>
        <p:txBody>
          <a:bodyPr wrap="square" rtlCol="0">
            <a:spAutoFit/>
          </a:bodyPr>
          <a:lstStyle/>
          <a:p>
            <a:pPr algn="ctr" defTabSz="685800"/>
            <a:r>
              <a:rPr lang="en-US" b="1" dirty="0">
                <a:solidFill>
                  <a:prstClr val="black"/>
                </a:solidFill>
                <a:latin typeface="Calibri"/>
              </a:rPr>
              <a:t>Contents</a:t>
            </a:r>
          </a:p>
        </p:txBody>
      </p:sp>
      <p:pic>
        <p:nvPicPr>
          <p:cNvPr id="7" name="Picture 6" descr="A table with numbers and letters&#10;&#10;AI-generated content may be incorrect.">
            <a:extLst>
              <a:ext uri="{FF2B5EF4-FFF2-40B4-BE49-F238E27FC236}">
                <a16:creationId xmlns:a16="http://schemas.microsoft.com/office/drawing/2014/main" id="{B4004C2D-D79B-50C1-6969-BD5FD0292A1B}"/>
              </a:ext>
            </a:extLst>
          </p:cNvPr>
          <p:cNvPicPr>
            <a:picLocks noChangeAspect="1"/>
          </p:cNvPicPr>
          <p:nvPr/>
        </p:nvPicPr>
        <p:blipFill>
          <a:blip r:embed="rId3"/>
          <a:stretch>
            <a:fillRect/>
          </a:stretch>
        </p:blipFill>
        <p:spPr>
          <a:xfrm>
            <a:off x="3085790" y="2810202"/>
            <a:ext cx="4038807" cy="3553008"/>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C12FAE64-0ECD-E186-9C2C-4220C635DF2F}"/>
              </a:ext>
            </a:extLst>
          </p:cNvPr>
          <p:cNvPicPr>
            <a:picLocks noChangeAspect="1"/>
          </p:cNvPicPr>
          <p:nvPr/>
        </p:nvPicPr>
        <p:blipFill>
          <a:blip r:embed="rId4"/>
          <a:stretch>
            <a:fillRect/>
          </a:stretch>
        </p:blipFill>
        <p:spPr>
          <a:xfrm>
            <a:off x="5743750" y="6875303"/>
            <a:ext cx="9830306" cy="2343270"/>
          </a:xfrm>
          <a:prstGeom prst="rect">
            <a:avLst/>
          </a:prstGeom>
        </p:spPr>
      </p:pic>
    </p:spTree>
    <p:extLst>
      <p:ext uri="{BB962C8B-B14F-4D97-AF65-F5344CB8AC3E}">
        <p14:creationId xmlns:p14="http://schemas.microsoft.com/office/powerpoint/2010/main" val="19470024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3C0D6-4F4C-E112-DB94-13E96ED4E7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F7BFC6-2D7A-1ABC-0DC5-BC35D10354C8}"/>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Harvesting ODS Output Objects</a:t>
            </a:r>
          </a:p>
        </p:txBody>
      </p:sp>
      <p:cxnSp>
        <p:nvCxnSpPr>
          <p:cNvPr id="10" name="Straight Connector 9">
            <a:extLst>
              <a:ext uri="{FF2B5EF4-FFF2-40B4-BE49-F238E27FC236}">
                <a16:creationId xmlns:a16="http://schemas.microsoft.com/office/drawing/2014/main" id="{F9D8A84A-8614-3138-D169-56B184F9758A}"/>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6A316F00-2DCE-7F87-4C4C-D3F1520C0E02}"/>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7" name="Picture 6" descr="A table with numbers and letters&#10;&#10;AI-generated content may be incorrect.">
            <a:extLst>
              <a:ext uri="{FF2B5EF4-FFF2-40B4-BE49-F238E27FC236}">
                <a16:creationId xmlns:a16="http://schemas.microsoft.com/office/drawing/2014/main" id="{0415B075-2C66-0E3C-7951-FD7CF58DF313}"/>
              </a:ext>
            </a:extLst>
          </p:cNvPr>
          <p:cNvPicPr>
            <a:picLocks noChangeAspect="1"/>
          </p:cNvPicPr>
          <p:nvPr/>
        </p:nvPicPr>
        <p:blipFill>
          <a:blip r:embed="rId3"/>
          <a:stretch>
            <a:fillRect/>
          </a:stretch>
        </p:blipFill>
        <p:spPr>
          <a:xfrm>
            <a:off x="3112265" y="3124460"/>
            <a:ext cx="4057859" cy="3467279"/>
          </a:xfrm>
          <a:prstGeom prst="rect">
            <a:avLst/>
          </a:prstGeom>
        </p:spPr>
      </p:pic>
      <p:pic>
        <p:nvPicPr>
          <p:cNvPr id="12" name="Picture 11" descr="A screenshot of a table&#10;&#10;AI-generated content may be incorrect.">
            <a:extLst>
              <a:ext uri="{FF2B5EF4-FFF2-40B4-BE49-F238E27FC236}">
                <a16:creationId xmlns:a16="http://schemas.microsoft.com/office/drawing/2014/main" id="{F6E606FC-3CFA-8406-DD31-DFE508DE060D}"/>
              </a:ext>
            </a:extLst>
          </p:cNvPr>
          <p:cNvPicPr>
            <a:picLocks noChangeAspect="1"/>
          </p:cNvPicPr>
          <p:nvPr/>
        </p:nvPicPr>
        <p:blipFill>
          <a:blip r:embed="rId4"/>
          <a:stretch>
            <a:fillRect/>
          </a:stretch>
        </p:blipFill>
        <p:spPr>
          <a:xfrm>
            <a:off x="7534458" y="5143501"/>
            <a:ext cx="7641276" cy="2738306"/>
          </a:xfrm>
          <a:prstGeom prst="rect">
            <a:avLst/>
          </a:prstGeom>
        </p:spPr>
      </p:pic>
      <p:sp>
        <p:nvSpPr>
          <p:cNvPr id="4" name="TextBox 3">
            <a:extLst>
              <a:ext uri="{FF2B5EF4-FFF2-40B4-BE49-F238E27FC236}">
                <a16:creationId xmlns:a16="http://schemas.microsoft.com/office/drawing/2014/main" id="{38B8198B-FCBB-69F6-FA87-A510D6A36CB4}"/>
              </a:ext>
            </a:extLst>
          </p:cNvPr>
          <p:cNvSpPr txBox="1"/>
          <p:nvPr/>
        </p:nvSpPr>
        <p:spPr>
          <a:xfrm>
            <a:off x="3112265" y="2333768"/>
            <a:ext cx="4057859" cy="646331"/>
          </a:xfrm>
          <a:prstGeom prst="rect">
            <a:avLst/>
          </a:prstGeom>
          <a:noFill/>
        </p:spPr>
        <p:txBody>
          <a:bodyPr wrap="square" rtlCol="0">
            <a:spAutoFit/>
          </a:bodyPr>
          <a:lstStyle/>
          <a:p>
            <a:pPr algn="ctr" defTabSz="685800"/>
            <a:r>
              <a:rPr lang="en-US" b="1" dirty="0">
                <a:solidFill>
                  <a:prstClr val="black"/>
                </a:solidFill>
                <a:latin typeface="Calibri"/>
              </a:rPr>
              <a:t>Contents</a:t>
            </a:r>
          </a:p>
        </p:txBody>
      </p:sp>
      <p:sp>
        <p:nvSpPr>
          <p:cNvPr id="5" name="TextBox 4">
            <a:extLst>
              <a:ext uri="{FF2B5EF4-FFF2-40B4-BE49-F238E27FC236}">
                <a16:creationId xmlns:a16="http://schemas.microsoft.com/office/drawing/2014/main" id="{02E3A18C-ED7A-EFC3-C13B-E7BD0A125682}"/>
              </a:ext>
            </a:extLst>
          </p:cNvPr>
          <p:cNvSpPr txBox="1"/>
          <p:nvPr/>
        </p:nvSpPr>
        <p:spPr>
          <a:xfrm>
            <a:off x="9088951" y="3815605"/>
            <a:ext cx="4057859" cy="1200329"/>
          </a:xfrm>
          <a:prstGeom prst="rect">
            <a:avLst/>
          </a:prstGeom>
          <a:noFill/>
        </p:spPr>
        <p:txBody>
          <a:bodyPr wrap="square" rtlCol="0">
            <a:spAutoFit/>
          </a:bodyPr>
          <a:lstStyle/>
          <a:p>
            <a:pPr algn="ctr" defTabSz="685800"/>
            <a:r>
              <a:rPr lang="en-US" b="1" dirty="0">
                <a:solidFill>
                  <a:prstClr val="black"/>
                </a:solidFill>
                <a:latin typeface="Calibri"/>
              </a:rPr>
              <a:t>Test Print 5 Observations</a:t>
            </a:r>
          </a:p>
        </p:txBody>
      </p:sp>
    </p:spTree>
    <p:extLst>
      <p:ext uri="{BB962C8B-B14F-4D97-AF65-F5344CB8AC3E}">
        <p14:creationId xmlns:p14="http://schemas.microsoft.com/office/powerpoint/2010/main" val="27466845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blip>
          <a:srcRect/>
          <a:stretch>
            <a:fillRect t="-2000" b="-2000"/>
          </a:stretch>
        </a:blipFill>
        <a:effectLst/>
      </p:bgPr>
    </p:bg>
    <p:spTree>
      <p:nvGrpSpPr>
        <p:cNvPr id="1" name="">
          <a:extLst>
            <a:ext uri="{FF2B5EF4-FFF2-40B4-BE49-F238E27FC236}">
              <a16:creationId xmlns:a16="http://schemas.microsoft.com/office/drawing/2014/main" id="{D38D905E-798F-0B21-70EE-D436DB4AF4D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1F710F5-1977-E6CD-C0D1-0945E1BEA9EC}"/>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
        <p:nvSpPr>
          <p:cNvPr id="7" name="Rectangle 6">
            <a:extLst>
              <a:ext uri="{FF2B5EF4-FFF2-40B4-BE49-F238E27FC236}">
                <a16:creationId xmlns:a16="http://schemas.microsoft.com/office/drawing/2014/main" id="{D737CF17-B379-B06E-93F5-B885818D4AE8}"/>
              </a:ext>
            </a:extLst>
          </p:cNvPr>
          <p:cNvSpPr/>
          <p:nvPr/>
        </p:nvSpPr>
        <p:spPr>
          <a:xfrm>
            <a:off x="2286000" y="3086100"/>
            <a:ext cx="13716000" cy="4114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lang="en-US" sz="2700" dirty="0">
              <a:solidFill>
                <a:prstClr val="white"/>
              </a:solidFill>
              <a:latin typeface="Calibri"/>
            </a:endParaRPr>
          </a:p>
        </p:txBody>
      </p:sp>
      <p:sp>
        <p:nvSpPr>
          <p:cNvPr id="8" name="Title 1">
            <a:extLst>
              <a:ext uri="{FF2B5EF4-FFF2-40B4-BE49-F238E27FC236}">
                <a16:creationId xmlns:a16="http://schemas.microsoft.com/office/drawing/2014/main" id="{1A963137-E3DD-CB58-40F8-D8C75BC0F4E1}"/>
              </a:ext>
            </a:extLst>
          </p:cNvPr>
          <p:cNvSpPr txBox="1">
            <a:spLocks/>
          </p:cNvSpPr>
          <p:nvPr/>
        </p:nvSpPr>
        <p:spPr>
          <a:xfrm>
            <a:off x="2286001" y="2473779"/>
            <a:ext cx="13544549" cy="5314950"/>
          </a:xfrm>
          <a:prstGeom prst="rect">
            <a:avLst/>
          </a:prstGeom>
        </p:spPr>
        <p:txBody>
          <a:bodyPr vert="horz" lIns="91440" tIns="45720" rIns="91440" bIns="45720" rtlCol="0" anchor="ctr">
            <a:noAutofit/>
          </a:bodyPr>
          <a:lstStyle>
            <a:lvl1pPr algn="ctr" defTabSz="685800" rtl="0" eaLnBrk="1" latinLnBrk="0" hangingPunct="1">
              <a:spcBef>
                <a:spcPct val="0"/>
              </a:spcBef>
              <a:buNone/>
              <a:defRPr sz="6600" kern="1200">
                <a:solidFill>
                  <a:schemeClr val="tx1"/>
                </a:solidFill>
                <a:latin typeface="+mj-lt"/>
                <a:ea typeface="+mj-ea"/>
                <a:cs typeface="+mj-cs"/>
              </a:defRPr>
            </a:lvl1pPr>
          </a:lstStyle>
          <a:p>
            <a:r>
              <a:rPr lang="en-US" sz="6000" b="1" dirty="0">
                <a:solidFill>
                  <a:schemeClr val="bg1"/>
                </a:solidFill>
                <a:latin typeface="Calibri" panose="020F0502020204030204" pitchFamily="34" charset="0"/>
                <a:cs typeface="Calibri" panose="020F0502020204030204" pitchFamily="34" charset="0"/>
              </a:rPr>
              <a:t>ODS Output Use Case: </a:t>
            </a:r>
            <a:br>
              <a:rPr lang="en-US" sz="6000" b="1" dirty="0">
                <a:solidFill>
                  <a:schemeClr val="bg1"/>
                </a:solidFill>
                <a:latin typeface="Calibri" panose="020F0502020204030204" pitchFamily="34" charset="0"/>
                <a:cs typeface="Calibri" panose="020F0502020204030204" pitchFamily="34" charset="0"/>
              </a:rPr>
            </a:br>
            <a:r>
              <a:rPr lang="en-US" sz="6000" b="1" dirty="0">
                <a:solidFill>
                  <a:schemeClr val="bg1"/>
                </a:solidFill>
                <a:latin typeface="Calibri" panose="020F0502020204030204" pitchFamily="34" charset="0"/>
                <a:cs typeface="Calibri" panose="020F0502020204030204" pitchFamily="34" charset="0"/>
              </a:rPr>
              <a:t>ODS GRAPHICS and PROC UNIVARIATE</a:t>
            </a:r>
          </a:p>
        </p:txBody>
      </p:sp>
    </p:spTree>
    <p:extLst>
      <p:ext uri="{BB962C8B-B14F-4D97-AF65-F5344CB8AC3E}">
        <p14:creationId xmlns:p14="http://schemas.microsoft.com/office/powerpoint/2010/main" val="11497701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65B38-EA4F-7FF9-7EE8-8A85A3A4BF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F7AE54-53F9-76C5-F093-7E408B665A83}"/>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PROC UNIVARIATE ODS Output Objects</a:t>
            </a:r>
          </a:p>
        </p:txBody>
      </p:sp>
      <p:cxnSp>
        <p:nvCxnSpPr>
          <p:cNvPr id="10" name="Straight Connector 9">
            <a:extLst>
              <a:ext uri="{FF2B5EF4-FFF2-40B4-BE49-F238E27FC236}">
                <a16:creationId xmlns:a16="http://schemas.microsoft.com/office/drawing/2014/main" id="{B7897685-1D89-88EE-D2B6-0C50CBB8E365}"/>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525E4538-45F2-4010-704B-FF8C260400C7}"/>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
        <p:nvSpPr>
          <p:cNvPr id="4" name="TextBox 3">
            <a:extLst>
              <a:ext uri="{FF2B5EF4-FFF2-40B4-BE49-F238E27FC236}">
                <a16:creationId xmlns:a16="http://schemas.microsoft.com/office/drawing/2014/main" id="{7E7C000E-572D-4C26-7026-7E1289598A2D}"/>
              </a:ext>
            </a:extLst>
          </p:cNvPr>
          <p:cNvSpPr txBox="1"/>
          <p:nvPr/>
        </p:nvSpPr>
        <p:spPr>
          <a:xfrm>
            <a:off x="3112265" y="2002769"/>
            <a:ext cx="12063470" cy="646331"/>
          </a:xfrm>
          <a:prstGeom prst="rect">
            <a:avLst/>
          </a:prstGeom>
          <a:noFill/>
        </p:spPr>
        <p:txBody>
          <a:bodyPr wrap="square" rtlCol="0">
            <a:spAutoFit/>
          </a:bodyPr>
          <a:lstStyle/>
          <a:p>
            <a:pPr algn="ctr" defTabSz="685800"/>
            <a:r>
              <a:rPr lang="en-US" b="1" dirty="0">
                <a:solidFill>
                  <a:prstClr val="black"/>
                </a:solidFill>
                <a:latin typeface="Calibri"/>
              </a:rPr>
              <a:t>Plots are ODS Output Objects Too!</a:t>
            </a:r>
          </a:p>
        </p:txBody>
      </p:sp>
      <p:pic>
        <p:nvPicPr>
          <p:cNvPr id="6" name="Picture 5" descr="A screenshot of a computer program&#10;&#10;AI-generated content may be incorrect.">
            <a:extLst>
              <a:ext uri="{FF2B5EF4-FFF2-40B4-BE49-F238E27FC236}">
                <a16:creationId xmlns:a16="http://schemas.microsoft.com/office/drawing/2014/main" id="{A59DC031-56B8-5ED9-89EC-91B8A1A05D48}"/>
              </a:ext>
            </a:extLst>
          </p:cNvPr>
          <p:cNvPicPr>
            <a:picLocks noChangeAspect="1"/>
          </p:cNvPicPr>
          <p:nvPr/>
        </p:nvPicPr>
        <p:blipFill>
          <a:blip r:embed="rId3"/>
          <a:stretch>
            <a:fillRect/>
          </a:stretch>
        </p:blipFill>
        <p:spPr>
          <a:xfrm>
            <a:off x="5018768" y="2751459"/>
            <a:ext cx="8250464" cy="5314532"/>
          </a:xfrm>
          <a:prstGeom prst="rect">
            <a:avLst/>
          </a:prstGeom>
        </p:spPr>
      </p:pic>
    </p:spTree>
    <p:extLst>
      <p:ext uri="{BB962C8B-B14F-4D97-AF65-F5344CB8AC3E}">
        <p14:creationId xmlns:p14="http://schemas.microsoft.com/office/powerpoint/2010/main" val="22949682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1B30A-8761-57A8-5D0F-23C8B33696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E64F7-3B97-BC13-4C6A-C7EF1F49AFF2}"/>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PROC UNIVARIATE ODS Output Objects</a:t>
            </a:r>
          </a:p>
        </p:txBody>
      </p:sp>
      <p:cxnSp>
        <p:nvCxnSpPr>
          <p:cNvPr id="10" name="Straight Connector 9">
            <a:extLst>
              <a:ext uri="{FF2B5EF4-FFF2-40B4-BE49-F238E27FC236}">
                <a16:creationId xmlns:a16="http://schemas.microsoft.com/office/drawing/2014/main" id="{6EA9D23C-972F-6B11-CCCA-89D0FD2EEE77}"/>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75A1CD24-3E50-3905-122B-0AD8F643B2E3}"/>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
        <p:nvSpPr>
          <p:cNvPr id="4" name="TextBox 3">
            <a:extLst>
              <a:ext uri="{FF2B5EF4-FFF2-40B4-BE49-F238E27FC236}">
                <a16:creationId xmlns:a16="http://schemas.microsoft.com/office/drawing/2014/main" id="{CA97C530-8918-1FC3-68B8-57BC193C834F}"/>
              </a:ext>
            </a:extLst>
          </p:cNvPr>
          <p:cNvSpPr txBox="1"/>
          <p:nvPr/>
        </p:nvSpPr>
        <p:spPr>
          <a:xfrm>
            <a:off x="3112265" y="2002769"/>
            <a:ext cx="12063470" cy="646331"/>
          </a:xfrm>
          <a:prstGeom prst="rect">
            <a:avLst/>
          </a:prstGeom>
          <a:noFill/>
        </p:spPr>
        <p:txBody>
          <a:bodyPr wrap="square" rtlCol="0">
            <a:spAutoFit/>
          </a:bodyPr>
          <a:lstStyle/>
          <a:p>
            <a:pPr algn="ctr" defTabSz="685800"/>
            <a:r>
              <a:rPr lang="en-US" b="1" dirty="0">
                <a:solidFill>
                  <a:prstClr val="black"/>
                </a:solidFill>
                <a:latin typeface="Calibri"/>
              </a:rPr>
              <a:t>Plots are ODS Output Objects Too!</a:t>
            </a:r>
          </a:p>
        </p:txBody>
      </p:sp>
      <p:pic>
        <p:nvPicPr>
          <p:cNvPr id="6" name="Picture 5" descr="A screenshot of a computer&#10;&#10;AI-generated content may be incorrect.">
            <a:extLst>
              <a:ext uri="{FF2B5EF4-FFF2-40B4-BE49-F238E27FC236}">
                <a16:creationId xmlns:a16="http://schemas.microsoft.com/office/drawing/2014/main" id="{E998B3B0-BA8C-A692-B945-7C35315A5039}"/>
              </a:ext>
            </a:extLst>
          </p:cNvPr>
          <p:cNvPicPr>
            <a:picLocks noChangeAspect="1"/>
          </p:cNvPicPr>
          <p:nvPr/>
        </p:nvPicPr>
        <p:blipFill>
          <a:blip r:embed="rId3"/>
          <a:srcRect r="18507"/>
          <a:stretch>
            <a:fillRect/>
          </a:stretch>
        </p:blipFill>
        <p:spPr>
          <a:xfrm>
            <a:off x="3691054" y="2751459"/>
            <a:ext cx="10665916" cy="5693547"/>
          </a:xfrm>
          <a:prstGeom prst="rect">
            <a:avLst/>
          </a:prstGeom>
        </p:spPr>
      </p:pic>
    </p:spTree>
    <p:extLst>
      <p:ext uri="{BB962C8B-B14F-4D97-AF65-F5344CB8AC3E}">
        <p14:creationId xmlns:p14="http://schemas.microsoft.com/office/powerpoint/2010/main" val="17594561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90712-7067-4FA6-333A-A45D26D874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32E977-A140-E529-946B-77E5089AC822}"/>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PROC UNIVARIATE ODS Output Objects</a:t>
            </a:r>
          </a:p>
        </p:txBody>
      </p:sp>
      <p:cxnSp>
        <p:nvCxnSpPr>
          <p:cNvPr id="10" name="Straight Connector 9">
            <a:extLst>
              <a:ext uri="{FF2B5EF4-FFF2-40B4-BE49-F238E27FC236}">
                <a16:creationId xmlns:a16="http://schemas.microsoft.com/office/drawing/2014/main" id="{2335F7F1-221F-B70C-7FDB-BD65316EE4EF}"/>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0559878B-1F12-5EE5-3B66-D7F386396AAC}"/>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
        <p:nvSpPr>
          <p:cNvPr id="4" name="TextBox 3">
            <a:extLst>
              <a:ext uri="{FF2B5EF4-FFF2-40B4-BE49-F238E27FC236}">
                <a16:creationId xmlns:a16="http://schemas.microsoft.com/office/drawing/2014/main" id="{EB9CDCA5-1067-2199-EB83-3BE6F0C82694}"/>
              </a:ext>
            </a:extLst>
          </p:cNvPr>
          <p:cNvSpPr txBox="1"/>
          <p:nvPr/>
        </p:nvSpPr>
        <p:spPr>
          <a:xfrm>
            <a:off x="3050851" y="1900410"/>
            <a:ext cx="12063470" cy="646331"/>
          </a:xfrm>
          <a:prstGeom prst="rect">
            <a:avLst/>
          </a:prstGeom>
          <a:noFill/>
        </p:spPr>
        <p:txBody>
          <a:bodyPr wrap="square" rtlCol="0">
            <a:spAutoFit/>
          </a:bodyPr>
          <a:lstStyle/>
          <a:p>
            <a:pPr algn="ctr" defTabSz="685800"/>
            <a:r>
              <a:rPr lang="en-US" b="1" dirty="0">
                <a:solidFill>
                  <a:prstClr val="black"/>
                </a:solidFill>
                <a:latin typeface="Calibri"/>
              </a:rPr>
              <a:t>Plots are ODS Output Objects Too!</a:t>
            </a:r>
          </a:p>
        </p:txBody>
      </p:sp>
      <p:pic>
        <p:nvPicPr>
          <p:cNvPr id="7" name="Picture 6" descr="A screenshot of a computer&#10;&#10;AI-generated content may be incorrect.">
            <a:extLst>
              <a:ext uri="{FF2B5EF4-FFF2-40B4-BE49-F238E27FC236}">
                <a16:creationId xmlns:a16="http://schemas.microsoft.com/office/drawing/2014/main" id="{3197C359-BF80-94F9-76F5-C69AFF1A0A4C}"/>
              </a:ext>
            </a:extLst>
          </p:cNvPr>
          <p:cNvPicPr>
            <a:picLocks noChangeAspect="1"/>
          </p:cNvPicPr>
          <p:nvPr/>
        </p:nvPicPr>
        <p:blipFill>
          <a:blip r:embed="rId3"/>
          <a:stretch>
            <a:fillRect/>
          </a:stretch>
        </p:blipFill>
        <p:spPr>
          <a:xfrm>
            <a:off x="4080183" y="2678942"/>
            <a:ext cx="9826388" cy="6368955"/>
          </a:xfrm>
          <a:prstGeom prst="rect">
            <a:avLst/>
          </a:prstGeom>
        </p:spPr>
      </p:pic>
    </p:spTree>
    <p:extLst>
      <p:ext uri="{BB962C8B-B14F-4D97-AF65-F5344CB8AC3E}">
        <p14:creationId xmlns:p14="http://schemas.microsoft.com/office/powerpoint/2010/main" val="42711972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6000" r="-16000"/>
          </a:stretch>
        </a:blipFill>
        <a:effectLst/>
      </p:bgPr>
    </p:bg>
    <p:spTree>
      <p:nvGrpSpPr>
        <p:cNvPr id="1" name="">
          <a:extLst>
            <a:ext uri="{FF2B5EF4-FFF2-40B4-BE49-F238E27FC236}">
              <a16:creationId xmlns:a16="http://schemas.microsoft.com/office/drawing/2014/main" id="{18E08D5E-F408-EC29-D3FA-908FCA841E8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EC12704-11F0-8F0A-4FE4-E1FE2672DFBF}"/>
              </a:ext>
            </a:extLst>
          </p:cNvPr>
          <p:cNvSpPr/>
          <p:nvPr/>
        </p:nvSpPr>
        <p:spPr>
          <a:xfrm>
            <a:off x="2286000" y="3086100"/>
            <a:ext cx="13716000" cy="4114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lang="en-US" sz="2700" dirty="0">
              <a:solidFill>
                <a:prstClr val="white"/>
              </a:solidFill>
              <a:latin typeface="Calibri"/>
            </a:endParaRPr>
          </a:p>
        </p:txBody>
      </p:sp>
      <p:sp>
        <p:nvSpPr>
          <p:cNvPr id="2" name="Title 1">
            <a:extLst>
              <a:ext uri="{FF2B5EF4-FFF2-40B4-BE49-F238E27FC236}">
                <a16:creationId xmlns:a16="http://schemas.microsoft.com/office/drawing/2014/main" id="{899DDCBC-0B04-EA35-1B3D-A02CA1C918A8}"/>
              </a:ext>
            </a:extLst>
          </p:cNvPr>
          <p:cNvSpPr>
            <a:spLocks noGrp="1"/>
          </p:cNvSpPr>
          <p:nvPr>
            <p:ph type="ctrTitle"/>
          </p:nvPr>
        </p:nvSpPr>
        <p:spPr>
          <a:xfrm>
            <a:off x="2286001" y="2473779"/>
            <a:ext cx="13544549" cy="5314950"/>
          </a:xfrm>
        </p:spPr>
        <p:txBody>
          <a:bodyPr>
            <a:noAutofit/>
          </a:bodyPr>
          <a:lstStyle/>
          <a:p>
            <a:r>
              <a:rPr lang="en-US" sz="6000" b="1" dirty="0">
                <a:solidFill>
                  <a:schemeClr val="bg1"/>
                </a:solidFill>
                <a:latin typeface="Calibri" panose="020F0502020204030204" pitchFamily="34" charset="0"/>
                <a:cs typeface="Calibri" panose="020F0502020204030204" pitchFamily="34" charset="0"/>
              </a:rPr>
              <a:t>ODS Output Use Case: </a:t>
            </a:r>
            <a:br>
              <a:rPr lang="en-US" sz="6000" b="1" dirty="0">
                <a:solidFill>
                  <a:schemeClr val="bg1"/>
                </a:solidFill>
                <a:latin typeface="Calibri" panose="020F0502020204030204" pitchFamily="34" charset="0"/>
                <a:cs typeface="Calibri" panose="020F0502020204030204" pitchFamily="34" charset="0"/>
              </a:rPr>
            </a:br>
            <a:r>
              <a:rPr lang="en-US" sz="6000" b="1" dirty="0">
                <a:solidFill>
                  <a:schemeClr val="bg1"/>
                </a:solidFill>
                <a:latin typeface="Calibri" panose="020F0502020204030204" pitchFamily="34" charset="0"/>
                <a:cs typeface="Calibri" panose="020F0502020204030204" pitchFamily="34" charset="0"/>
              </a:rPr>
              <a:t>PROC SURVEYFREQ</a:t>
            </a:r>
            <a:endParaRPr sz="6000" b="1" dirty="0">
              <a:solidFill>
                <a:schemeClr val="bg1"/>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B640323B-49E8-754A-E6AA-AB828713F5B3}"/>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Tree>
    <p:extLst>
      <p:ext uri="{BB962C8B-B14F-4D97-AF65-F5344CB8AC3E}">
        <p14:creationId xmlns:p14="http://schemas.microsoft.com/office/powerpoint/2010/main" val="42217028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401C5-4367-77AB-4B4F-282C2F3CCE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FC1321-6B8D-CFF6-5580-A4D56721028A}"/>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PROC SURVEYFREQ ODS Output Objects</a:t>
            </a:r>
          </a:p>
        </p:txBody>
      </p:sp>
      <p:cxnSp>
        <p:nvCxnSpPr>
          <p:cNvPr id="10" name="Straight Connector 9">
            <a:extLst>
              <a:ext uri="{FF2B5EF4-FFF2-40B4-BE49-F238E27FC236}">
                <a16:creationId xmlns:a16="http://schemas.microsoft.com/office/drawing/2014/main" id="{87827650-3DD8-B1DC-93A5-39E5EDD8B53E}"/>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35D463E8-208D-0125-1583-3005B7A01626}"/>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
        <p:nvSpPr>
          <p:cNvPr id="4" name="TextBox 3">
            <a:extLst>
              <a:ext uri="{FF2B5EF4-FFF2-40B4-BE49-F238E27FC236}">
                <a16:creationId xmlns:a16="http://schemas.microsoft.com/office/drawing/2014/main" id="{CD0905BB-2EB4-3F61-809E-BD86B0A4F01A}"/>
              </a:ext>
            </a:extLst>
          </p:cNvPr>
          <p:cNvSpPr txBox="1"/>
          <p:nvPr/>
        </p:nvSpPr>
        <p:spPr>
          <a:xfrm>
            <a:off x="3112265" y="2002769"/>
            <a:ext cx="12063470" cy="646331"/>
          </a:xfrm>
          <a:prstGeom prst="rect">
            <a:avLst/>
          </a:prstGeom>
          <a:noFill/>
        </p:spPr>
        <p:txBody>
          <a:bodyPr wrap="square" rtlCol="0">
            <a:spAutoFit/>
          </a:bodyPr>
          <a:lstStyle/>
          <a:p>
            <a:pPr algn="ctr" defTabSz="685800"/>
            <a:r>
              <a:rPr lang="en-US" b="1" dirty="0">
                <a:solidFill>
                  <a:prstClr val="black"/>
                </a:solidFill>
                <a:latin typeface="Calibri"/>
              </a:rPr>
              <a:t>What a Difference an Option Makes</a:t>
            </a:r>
          </a:p>
        </p:txBody>
      </p:sp>
      <p:pic>
        <p:nvPicPr>
          <p:cNvPr id="8" name="Picture 7" descr="A screenshot of a computer code&#10;&#10;AI-generated content may be incorrect.">
            <a:extLst>
              <a:ext uri="{FF2B5EF4-FFF2-40B4-BE49-F238E27FC236}">
                <a16:creationId xmlns:a16="http://schemas.microsoft.com/office/drawing/2014/main" id="{1A9335B4-26D1-155A-4399-14CACEFE8632}"/>
              </a:ext>
            </a:extLst>
          </p:cNvPr>
          <p:cNvPicPr>
            <a:picLocks noChangeAspect="1"/>
          </p:cNvPicPr>
          <p:nvPr/>
        </p:nvPicPr>
        <p:blipFill>
          <a:blip r:embed="rId3"/>
          <a:stretch>
            <a:fillRect/>
          </a:stretch>
        </p:blipFill>
        <p:spPr>
          <a:xfrm>
            <a:off x="3112265" y="2797625"/>
            <a:ext cx="5210444" cy="2238491"/>
          </a:xfrm>
          <a:prstGeom prst="rect">
            <a:avLst/>
          </a:prstGeom>
        </p:spPr>
      </p:pic>
      <p:pic>
        <p:nvPicPr>
          <p:cNvPr id="11" name="Picture 10" descr="A screenshot of a computer code&#10;&#10;AI-generated content may be incorrect.">
            <a:extLst>
              <a:ext uri="{FF2B5EF4-FFF2-40B4-BE49-F238E27FC236}">
                <a16:creationId xmlns:a16="http://schemas.microsoft.com/office/drawing/2014/main" id="{A9C93F96-19EA-3A9E-5259-B11C8956A079}"/>
              </a:ext>
            </a:extLst>
          </p:cNvPr>
          <p:cNvPicPr>
            <a:picLocks noChangeAspect="1"/>
          </p:cNvPicPr>
          <p:nvPr/>
        </p:nvPicPr>
        <p:blipFill>
          <a:blip r:embed="rId4"/>
          <a:stretch>
            <a:fillRect/>
          </a:stretch>
        </p:blipFill>
        <p:spPr>
          <a:xfrm>
            <a:off x="9598621" y="2784898"/>
            <a:ext cx="5115188" cy="2238491"/>
          </a:xfrm>
          <a:prstGeom prst="rect">
            <a:avLst/>
          </a:prstGeom>
        </p:spPr>
      </p:pic>
    </p:spTree>
    <p:extLst>
      <p:ext uri="{BB962C8B-B14F-4D97-AF65-F5344CB8AC3E}">
        <p14:creationId xmlns:p14="http://schemas.microsoft.com/office/powerpoint/2010/main" val="37440195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BB2DF-31E1-6BD2-71BC-763FA06421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22A57A-C423-DCAC-3054-7968B619F8C5}"/>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PROC SURVEYFREQ ODS Output Objects</a:t>
            </a:r>
          </a:p>
        </p:txBody>
      </p:sp>
      <p:cxnSp>
        <p:nvCxnSpPr>
          <p:cNvPr id="10" name="Straight Connector 9">
            <a:extLst>
              <a:ext uri="{FF2B5EF4-FFF2-40B4-BE49-F238E27FC236}">
                <a16:creationId xmlns:a16="http://schemas.microsoft.com/office/drawing/2014/main" id="{84CC6C6B-F304-D23D-3119-25CE26FA4108}"/>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55C930BD-439C-ED23-194D-7100799E4C72}"/>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
        <p:nvSpPr>
          <p:cNvPr id="4" name="TextBox 3">
            <a:extLst>
              <a:ext uri="{FF2B5EF4-FFF2-40B4-BE49-F238E27FC236}">
                <a16:creationId xmlns:a16="http://schemas.microsoft.com/office/drawing/2014/main" id="{7FCA11A0-04AE-6CD6-1932-4FCA25FF85CD}"/>
              </a:ext>
            </a:extLst>
          </p:cNvPr>
          <p:cNvSpPr txBox="1"/>
          <p:nvPr/>
        </p:nvSpPr>
        <p:spPr>
          <a:xfrm>
            <a:off x="3112265" y="2002769"/>
            <a:ext cx="12063470" cy="646331"/>
          </a:xfrm>
          <a:prstGeom prst="rect">
            <a:avLst/>
          </a:prstGeom>
          <a:noFill/>
        </p:spPr>
        <p:txBody>
          <a:bodyPr wrap="square" rtlCol="0">
            <a:spAutoFit/>
          </a:bodyPr>
          <a:lstStyle/>
          <a:p>
            <a:pPr algn="ctr" defTabSz="685800"/>
            <a:r>
              <a:rPr lang="en-US" b="1" dirty="0">
                <a:solidFill>
                  <a:prstClr val="black"/>
                </a:solidFill>
                <a:latin typeface="Calibri"/>
              </a:rPr>
              <a:t>What a Difference an Option Makes</a:t>
            </a:r>
          </a:p>
        </p:txBody>
      </p:sp>
      <p:pic>
        <p:nvPicPr>
          <p:cNvPr id="17" name="Picture 16" descr="A screenshot of a computer&#10;&#10;AI-generated content may be incorrect.">
            <a:extLst>
              <a:ext uri="{FF2B5EF4-FFF2-40B4-BE49-F238E27FC236}">
                <a16:creationId xmlns:a16="http://schemas.microsoft.com/office/drawing/2014/main" id="{D8B52173-9660-EC47-A34F-92087BD153FF}"/>
              </a:ext>
            </a:extLst>
          </p:cNvPr>
          <p:cNvPicPr>
            <a:picLocks noChangeAspect="1"/>
          </p:cNvPicPr>
          <p:nvPr/>
        </p:nvPicPr>
        <p:blipFill>
          <a:blip r:embed="rId3"/>
          <a:stretch>
            <a:fillRect/>
          </a:stretch>
        </p:blipFill>
        <p:spPr>
          <a:xfrm>
            <a:off x="3112265" y="3114935"/>
            <a:ext cx="4981832" cy="4353149"/>
          </a:xfrm>
          <a:prstGeom prst="rect">
            <a:avLst/>
          </a:prstGeom>
        </p:spPr>
      </p:pic>
      <p:pic>
        <p:nvPicPr>
          <p:cNvPr id="19" name="Picture 18" descr="A screenshot of a computer&#10;&#10;AI-generated content may be incorrect.">
            <a:extLst>
              <a:ext uri="{FF2B5EF4-FFF2-40B4-BE49-F238E27FC236}">
                <a16:creationId xmlns:a16="http://schemas.microsoft.com/office/drawing/2014/main" id="{D881C125-4BD4-2AC4-4507-933FB9568249}"/>
              </a:ext>
            </a:extLst>
          </p:cNvPr>
          <p:cNvPicPr>
            <a:picLocks noChangeAspect="1"/>
          </p:cNvPicPr>
          <p:nvPr/>
        </p:nvPicPr>
        <p:blipFill>
          <a:blip r:embed="rId4"/>
          <a:stretch>
            <a:fillRect/>
          </a:stretch>
        </p:blipFill>
        <p:spPr>
          <a:xfrm>
            <a:off x="10334368" y="3124460"/>
            <a:ext cx="4981832" cy="4343624"/>
          </a:xfrm>
          <a:prstGeom prst="rect">
            <a:avLst/>
          </a:prstGeom>
        </p:spPr>
      </p:pic>
    </p:spTree>
    <p:extLst>
      <p:ext uri="{BB962C8B-B14F-4D97-AF65-F5344CB8AC3E}">
        <p14:creationId xmlns:p14="http://schemas.microsoft.com/office/powerpoint/2010/main" val="11477324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820F7-8B1E-A231-0649-3F4134B818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47B653-7DC8-D162-9288-98606CA87250}"/>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PROC SURVEYFREQ ODS Output Objects</a:t>
            </a:r>
          </a:p>
        </p:txBody>
      </p:sp>
      <p:cxnSp>
        <p:nvCxnSpPr>
          <p:cNvPr id="10" name="Straight Connector 9">
            <a:extLst>
              <a:ext uri="{FF2B5EF4-FFF2-40B4-BE49-F238E27FC236}">
                <a16:creationId xmlns:a16="http://schemas.microsoft.com/office/drawing/2014/main" id="{55413E4E-1B5D-E8AD-6BE9-D6826BA5171F}"/>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A8131D13-7CC9-B0A7-02C1-419C00450925}"/>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
        <p:nvSpPr>
          <p:cNvPr id="4" name="TextBox 3">
            <a:extLst>
              <a:ext uri="{FF2B5EF4-FFF2-40B4-BE49-F238E27FC236}">
                <a16:creationId xmlns:a16="http://schemas.microsoft.com/office/drawing/2014/main" id="{6FB0F458-C914-11DB-A430-396EB45791CD}"/>
              </a:ext>
            </a:extLst>
          </p:cNvPr>
          <p:cNvSpPr txBox="1"/>
          <p:nvPr/>
        </p:nvSpPr>
        <p:spPr>
          <a:xfrm>
            <a:off x="3112265" y="2002769"/>
            <a:ext cx="12063470" cy="646331"/>
          </a:xfrm>
          <a:prstGeom prst="rect">
            <a:avLst/>
          </a:prstGeom>
          <a:noFill/>
        </p:spPr>
        <p:txBody>
          <a:bodyPr wrap="square" rtlCol="0">
            <a:spAutoFit/>
          </a:bodyPr>
          <a:lstStyle/>
          <a:p>
            <a:pPr algn="ctr" defTabSz="685800"/>
            <a:r>
              <a:rPr lang="en-US" b="1" dirty="0">
                <a:solidFill>
                  <a:prstClr val="black"/>
                </a:solidFill>
                <a:latin typeface="Calibri"/>
              </a:rPr>
              <a:t>What a Difference an Option Makes</a:t>
            </a:r>
          </a:p>
        </p:txBody>
      </p:sp>
      <p:pic>
        <p:nvPicPr>
          <p:cNvPr id="13" name="Picture 12" descr="A screenshot of a computer&#10;&#10;AI-generated content may be incorrect.">
            <a:extLst>
              <a:ext uri="{FF2B5EF4-FFF2-40B4-BE49-F238E27FC236}">
                <a16:creationId xmlns:a16="http://schemas.microsoft.com/office/drawing/2014/main" id="{C6C6B059-2FF5-0847-358D-FE3A8EEAE075}"/>
              </a:ext>
            </a:extLst>
          </p:cNvPr>
          <p:cNvPicPr>
            <a:picLocks noChangeAspect="1"/>
          </p:cNvPicPr>
          <p:nvPr/>
        </p:nvPicPr>
        <p:blipFill>
          <a:blip r:embed="rId3"/>
          <a:stretch>
            <a:fillRect/>
          </a:stretch>
        </p:blipFill>
        <p:spPr>
          <a:xfrm>
            <a:off x="9709718" y="2757859"/>
            <a:ext cx="6810725" cy="6982184"/>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08255BB5-B92B-A618-5D48-12A88E97CC81}"/>
              </a:ext>
            </a:extLst>
          </p:cNvPr>
          <p:cNvPicPr>
            <a:picLocks noChangeAspect="1"/>
          </p:cNvPicPr>
          <p:nvPr/>
        </p:nvPicPr>
        <p:blipFill>
          <a:blip r:embed="rId4"/>
          <a:stretch>
            <a:fillRect/>
          </a:stretch>
        </p:blipFill>
        <p:spPr>
          <a:xfrm>
            <a:off x="1574689" y="2751459"/>
            <a:ext cx="6439232" cy="5924855"/>
          </a:xfrm>
          <a:prstGeom prst="rect">
            <a:avLst/>
          </a:prstGeom>
        </p:spPr>
      </p:pic>
    </p:spTree>
    <p:extLst>
      <p:ext uri="{BB962C8B-B14F-4D97-AF65-F5344CB8AC3E}">
        <p14:creationId xmlns:p14="http://schemas.microsoft.com/office/powerpoint/2010/main" val="3720833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273F4-3E77-29AA-A912-DF010B1D24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22184F-812C-CFC3-09A3-3F3A4D82CA7E}"/>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PROC SURVEYFREQ ODS Output Objects</a:t>
            </a:r>
          </a:p>
        </p:txBody>
      </p:sp>
      <p:cxnSp>
        <p:nvCxnSpPr>
          <p:cNvPr id="10" name="Straight Connector 9">
            <a:extLst>
              <a:ext uri="{FF2B5EF4-FFF2-40B4-BE49-F238E27FC236}">
                <a16:creationId xmlns:a16="http://schemas.microsoft.com/office/drawing/2014/main" id="{E62D7BEE-AA0A-3E9B-C54F-F571D7CD1CE5}"/>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90D1CA60-92DC-297C-B0BA-BA05380B0940}"/>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5" name="Picture 4" descr="A screenshot of a computer&#10;&#10;AI-generated content may be incorrect.">
            <a:extLst>
              <a:ext uri="{FF2B5EF4-FFF2-40B4-BE49-F238E27FC236}">
                <a16:creationId xmlns:a16="http://schemas.microsoft.com/office/drawing/2014/main" id="{6E5B727E-5E69-1494-8F7A-34E32A75530E}"/>
              </a:ext>
            </a:extLst>
          </p:cNvPr>
          <p:cNvPicPr>
            <a:picLocks noChangeAspect="1"/>
          </p:cNvPicPr>
          <p:nvPr/>
        </p:nvPicPr>
        <p:blipFill>
          <a:blip r:embed="rId3"/>
          <a:stretch>
            <a:fillRect/>
          </a:stretch>
        </p:blipFill>
        <p:spPr>
          <a:xfrm>
            <a:off x="585925" y="2149831"/>
            <a:ext cx="16768409" cy="5384866"/>
          </a:xfrm>
          <a:prstGeom prst="rect">
            <a:avLst/>
          </a:prstGeom>
        </p:spPr>
      </p:pic>
    </p:spTree>
    <p:extLst>
      <p:ext uri="{BB962C8B-B14F-4D97-AF65-F5344CB8AC3E}">
        <p14:creationId xmlns:p14="http://schemas.microsoft.com/office/powerpoint/2010/main" val="4752376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F9ABC-3A8A-C3A5-9FF5-146A95A8E5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9E87B1-C36B-B5AD-589D-436B6355746C}"/>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PROC SURVEYFREQ ODS Output Objects</a:t>
            </a:r>
          </a:p>
        </p:txBody>
      </p:sp>
      <p:cxnSp>
        <p:nvCxnSpPr>
          <p:cNvPr id="10" name="Straight Connector 9">
            <a:extLst>
              <a:ext uri="{FF2B5EF4-FFF2-40B4-BE49-F238E27FC236}">
                <a16:creationId xmlns:a16="http://schemas.microsoft.com/office/drawing/2014/main" id="{4953EEA4-9689-ED13-6E60-87DAF094F59A}"/>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FBA654CC-34CA-B58B-3551-F5F43BC5C1B9}"/>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graphicFrame>
        <p:nvGraphicFramePr>
          <p:cNvPr id="4" name="Diagram 3">
            <a:extLst>
              <a:ext uri="{FF2B5EF4-FFF2-40B4-BE49-F238E27FC236}">
                <a16:creationId xmlns:a16="http://schemas.microsoft.com/office/drawing/2014/main" id="{A6A6D6B2-18D9-8C37-D08D-438CE7D26D82}"/>
              </a:ext>
            </a:extLst>
          </p:cNvPr>
          <p:cNvGraphicFramePr/>
          <p:nvPr/>
        </p:nvGraphicFramePr>
        <p:xfrm>
          <a:off x="3112265" y="2430185"/>
          <a:ext cx="12063470" cy="6096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208091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2CDF6-F41F-BE0B-DCC7-307CEDD516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3BACB4-7B7A-DAB2-95E7-0B1054F80DD2}"/>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PROC SURVEYFREQ ODS Output Objects</a:t>
            </a:r>
          </a:p>
        </p:txBody>
      </p:sp>
      <p:cxnSp>
        <p:nvCxnSpPr>
          <p:cNvPr id="10" name="Straight Connector 9">
            <a:extLst>
              <a:ext uri="{FF2B5EF4-FFF2-40B4-BE49-F238E27FC236}">
                <a16:creationId xmlns:a16="http://schemas.microsoft.com/office/drawing/2014/main" id="{35CA4FEF-87C4-BC03-8D90-F5C108CCAA26}"/>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DA503281-A321-261E-7D28-F40FB896495F}"/>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12" name="Picture 11" descr="A screenshot of a computer screen&#10;&#10;AI-generated content may be incorrect.">
            <a:extLst>
              <a:ext uri="{FF2B5EF4-FFF2-40B4-BE49-F238E27FC236}">
                <a16:creationId xmlns:a16="http://schemas.microsoft.com/office/drawing/2014/main" id="{4AF146E5-63FB-56FE-EA53-6F49743D68D3}"/>
              </a:ext>
            </a:extLst>
          </p:cNvPr>
          <p:cNvPicPr>
            <a:picLocks noChangeAspect="1"/>
          </p:cNvPicPr>
          <p:nvPr/>
        </p:nvPicPr>
        <p:blipFill>
          <a:blip r:embed="rId3"/>
          <a:srcRect r="4491"/>
          <a:stretch>
            <a:fillRect/>
          </a:stretch>
        </p:blipFill>
        <p:spPr>
          <a:xfrm>
            <a:off x="1284239" y="2181297"/>
            <a:ext cx="15506266" cy="6710912"/>
          </a:xfrm>
          <a:prstGeom prst="rect">
            <a:avLst/>
          </a:prstGeom>
        </p:spPr>
      </p:pic>
    </p:spTree>
    <p:extLst>
      <p:ext uri="{BB962C8B-B14F-4D97-AF65-F5344CB8AC3E}">
        <p14:creationId xmlns:p14="http://schemas.microsoft.com/office/powerpoint/2010/main" val="5482108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6D6EB-9FE5-E639-985A-7FA088D716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B49420-E666-1E21-368F-3896BD0B5F79}"/>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PROC SURVEYFREQ ODS Output Objects</a:t>
            </a:r>
          </a:p>
        </p:txBody>
      </p:sp>
      <p:cxnSp>
        <p:nvCxnSpPr>
          <p:cNvPr id="10" name="Straight Connector 9">
            <a:extLst>
              <a:ext uri="{FF2B5EF4-FFF2-40B4-BE49-F238E27FC236}">
                <a16:creationId xmlns:a16="http://schemas.microsoft.com/office/drawing/2014/main" id="{B197250B-297A-BAED-EFC6-18259F23BDED}"/>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B4FEBC59-91D2-0B7C-E512-E9DE0DD6B127}"/>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9" name="Picture 8" descr="A screenshot of a computer screen&#10;&#10;AI-generated content may be incorrect.">
            <a:extLst>
              <a:ext uri="{FF2B5EF4-FFF2-40B4-BE49-F238E27FC236}">
                <a16:creationId xmlns:a16="http://schemas.microsoft.com/office/drawing/2014/main" id="{820CC77E-AD95-A2BB-434A-FACF60FF9BCF}"/>
              </a:ext>
            </a:extLst>
          </p:cNvPr>
          <p:cNvPicPr>
            <a:picLocks noChangeAspect="1"/>
          </p:cNvPicPr>
          <p:nvPr/>
        </p:nvPicPr>
        <p:blipFill>
          <a:blip r:embed="rId3"/>
          <a:stretch>
            <a:fillRect/>
          </a:stretch>
        </p:blipFill>
        <p:spPr>
          <a:xfrm>
            <a:off x="1620462" y="2200491"/>
            <a:ext cx="14745061" cy="7124319"/>
          </a:xfrm>
          <a:prstGeom prst="rect">
            <a:avLst/>
          </a:prstGeom>
        </p:spPr>
      </p:pic>
    </p:spTree>
    <p:extLst>
      <p:ext uri="{BB962C8B-B14F-4D97-AF65-F5344CB8AC3E}">
        <p14:creationId xmlns:p14="http://schemas.microsoft.com/office/powerpoint/2010/main" val="3798883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3B3CC-F366-520D-B51C-DC287290B5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EAB5B-FF95-3E92-D491-15BFD7C45288}"/>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PROC SURVEYFREQ ODS Output Objects</a:t>
            </a:r>
          </a:p>
        </p:txBody>
      </p:sp>
      <p:cxnSp>
        <p:nvCxnSpPr>
          <p:cNvPr id="10" name="Straight Connector 9">
            <a:extLst>
              <a:ext uri="{FF2B5EF4-FFF2-40B4-BE49-F238E27FC236}">
                <a16:creationId xmlns:a16="http://schemas.microsoft.com/office/drawing/2014/main" id="{C82A62C7-13B1-1997-672D-D1A934D2A344}"/>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C75968AE-C1B2-BE65-3FC7-7E4811D35F60}"/>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7" name="Picture 6" descr="A screenshot of a computer&#10;&#10;AI-generated content may be incorrect.">
            <a:extLst>
              <a:ext uri="{FF2B5EF4-FFF2-40B4-BE49-F238E27FC236}">
                <a16:creationId xmlns:a16="http://schemas.microsoft.com/office/drawing/2014/main" id="{21D88185-7736-156B-5731-7D5E387F2B1B}"/>
              </a:ext>
            </a:extLst>
          </p:cNvPr>
          <p:cNvPicPr>
            <a:picLocks noChangeAspect="1"/>
          </p:cNvPicPr>
          <p:nvPr/>
        </p:nvPicPr>
        <p:blipFill>
          <a:blip r:embed="rId3"/>
          <a:stretch>
            <a:fillRect/>
          </a:stretch>
        </p:blipFill>
        <p:spPr>
          <a:xfrm>
            <a:off x="1407521" y="2083880"/>
            <a:ext cx="15164324" cy="7322652"/>
          </a:xfrm>
          <a:prstGeom prst="rect">
            <a:avLst/>
          </a:prstGeom>
        </p:spPr>
      </p:pic>
    </p:spTree>
    <p:extLst>
      <p:ext uri="{BB962C8B-B14F-4D97-AF65-F5344CB8AC3E}">
        <p14:creationId xmlns:p14="http://schemas.microsoft.com/office/powerpoint/2010/main" val="4838874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8DE16-B76A-CA86-A4E1-C7AF2F9777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8C31DB-06BC-8E0F-D029-F2081F6C768A}"/>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PROC SURVEYFREQ ODS Output Objects</a:t>
            </a:r>
          </a:p>
        </p:txBody>
      </p:sp>
      <p:cxnSp>
        <p:nvCxnSpPr>
          <p:cNvPr id="10" name="Straight Connector 9">
            <a:extLst>
              <a:ext uri="{FF2B5EF4-FFF2-40B4-BE49-F238E27FC236}">
                <a16:creationId xmlns:a16="http://schemas.microsoft.com/office/drawing/2014/main" id="{19E720DA-362F-E9EB-554F-4D100615BAD0}"/>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1D2A7144-22BD-07BC-91E6-259F928762CE}"/>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5" name="Picture 4" descr="A table with numbers and letters&#10;&#10;AI-generated content may be incorrect.">
            <a:extLst>
              <a:ext uri="{FF2B5EF4-FFF2-40B4-BE49-F238E27FC236}">
                <a16:creationId xmlns:a16="http://schemas.microsoft.com/office/drawing/2014/main" id="{8481983B-845E-4C87-C451-C75E3039FCDB}"/>
              </a:ext>
            </a:extLst>
          </p:cNvPr>
          <p:cNvPicPr>
            <a:picLocks noChangeAspect="1"/>
          </p:cNvPicPr>
          <p:nvPr/>
        </p:nvPicPr>
        <p:blipFill>
          <a:blip r:embed="rId3"/>
          <a:srcRect r="2746"/>
          <a:stretch>
            <a:fillRect/>
          </a:stretch>
        </p:blipFill>
        <p:spPr>
          <a:xfrm>
            <a:off x="744612" y="2396919"/>
            <a:ext cx="16337440" cy="6121873"/>
          </a:xfrm>
          <a:prstGeom prst="rect">
            <a:avLst/>
          </a:prstGeom>
        </p:spPr>
      </p:pic>
    </p:spTree>
    <p:extLst>
      <p:ext uri="{BB962C8B-B14F-4D97-AF65-F5344CB8AC3E}">
        <p14:creationId xmlns:p14="http://schemas.microsoft.com/office/powerpoint/2010/main" val="8891960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9F261-A03E-9550-BF54-AE17521263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437B80-091A-5D01-9E41-3F4EC676ECD5}"/>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PROC SURVEYFREQ ODS Output Objects</a:t>
            </a:r>
          </a:p>
        </p:txBody>
      </p:sp>
      <p:cxnSp>
        <p:nvCxnSpPr>
          <p:cNvPr id="10" name="Straight Connector 9">
            <a:extLst>
              <a:ext uri="{FF2B5EF4-FFF2-40B4-BE49-F238E27FC236}">
                <a16:creationId xmlns:a16="http://schemas.microsoft.com/office/drawing/2014/main" id="{4E5E6D82-4795-6C59-9C89-AAA164F969D0}"/>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72D2797B-0336-847F-375A-697A621B09FC}"/>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5" name="Picture 4" descr="The image displays a SAS (Statistical Analysis System) code window, showing various SAS code snippets, ODS (Output Delivery System) commands, and print statements related to data analysis and crosstabs.&#10;&#10;AI-generated content may be incorrect.">
            <a:extLst>
              <a:ext uri="{FF2B5EF4-FFF2-40B4-BE49-F238E27FC236}">
                <a16:creationId xmlns:a16="http://schemas.microsoft.com/office/drawing/2014/main" id="{7FE3E724-6C5C-567B-8669-B0823EB6B166}"/>
              </a:ext>
            </a:extLst>
          </p:cNvPr>
          <p:cNvPicPr>
            <a:picLocks noChangeAspect="1"/>
          </p:cNvPicPr>
          <p:nvPr/>
        </p:nvPicPr>
        <p:blipFill>
          <a:blip r:embed="rId3"/>
          <a:srcRect l="20105" t="27955" r="23586" b="14976"/>
          <a:stretch>
            <a:fillRect/>
          </a:stretch>
        </p:blipFill>
        <p:spPr>
          <a:xfrm>
            <a:off x="2918675" y="2075942"/>
            <a:ext cx="12397525" cy="7381859"/>
          </a:xfrm>
          <a:prstGeom prst="rect">
            <a:avLst/>
          </a:prstGeom>
        </p:spPr>
      </p:pic>
    </p:spTree>
    <p:extLst>
      <p:ext uri="{BB962C8B-B14F-4D97-AF65-F5344CB8AC3E}">
        <p14:creationId xmlns:p14="http://schemas.microsoft.com/office/powerpoint/2010/main" val="30306428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53F37-DE04-1586-1870-C35B366D0C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651D88-CAC6-7454-8BEE-8C84D550268D}"/>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PROC SURVEYFREQ ODS Output Objects</a:t>
            </a:r>
          </a:p>
        </p:txBody>
      </p:sp>
      <p:cxnSp>
        <p:nvCxnSpPr>
          <p:cNvPr id="10" name="Straight Connector 9">
            <a:extLst>
              <a:ext uri="{FF2B5EF4-FFF2-40B4-BE49-F238E27FC236}">
                <a16:creationId xmlns:a16="http://schemas.microsoft.com/office/drawing/2014/main" id="{50813F02-3C05-099B-11DB-8BC06714BB43}"/>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8C8785C7-5440-3298-5388-9924F4A0F3DF}"/>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11" name="Picture 10" descr="A screenshot of a computer code&#10;&#10;AI-generated content may be incorrect.">
            <a:extLst>
              <a:ext uri="{FF2B5EF4-FFF2-40B4-BE49-F238E27FC236}">
                <a16:creationId xmlns:a16="http://schemas.microsoft.com/office/drawing/2014/main" id="{07A6AE16-B0F5-D4D0-8751-81ABB366D70B}"/>
              </a:ext>
            </a:extLst>
          </p:cNvPr>
          <p:cNvPicPr>
            <a:picLocks noChangeAspect="1"/>
          </p:cNvPicPr>
          <p:nvPr/>
        </p:nvPicPr>
        <p:blipFill>
          <a:blip r:embed="rId3"/>
          <a:stretch>
            <a:fillRect/>
          </a:stretch>
        </p:blipFill>
        <p:spPr>
          <a:xfrm>
            <a:off x="1619241" y="2182652"/>
            <a:ext cx="15049518" cy="7557391"/>
          </a:xfrm>
          <a:prstGeom prst="rect">
            <a:avLst/>
          </a:prstGeom>
        </p:spPr>
      </p:pic>
    </p:spTree>
    <p:extLst>
      <p:ext uri="{BB962C8B-B14F-4D97-AF65-F5344CB8AC3E}">
        <p14:creationId xmlns:p14="http://schemas.microsoft.com/office/powerpoint/2010/main" val="6435596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5C91-74EA-DA5B-DF40-1999166DD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E4CA63-0551-0D8C-6148-25316A557526}"/>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PROC SURVEYFREQ ODS Output Objects</a:t>
            </a:r>
          </a:p>
        </p:txBody>
      </p:sp>
      <p:cxnSp>
        <p:nvCxnSpPr>
          <p:cNvPr id="10" name="Straight Connector 9">
            <a:extLst>
              <a:ext uri="{FF2B5EF4-FFF2-40B4-BE49-F238E27FC236}">
                <a16:creationId xmlns:a16="http://schemas.microsoft.com/office/drawing/2014/main" id="{D729B86A-E643-2714-C87E-A588F7823C65}"/>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B7963B61-1033-E420-DE63-9E8B289AD04B}"/>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14" name="Picture 13" descr="A screenshot of a computer program&#10;&#10;AI-generated content may be incorrect.">
            <a:extLst>
              <a:ext uri="{FF2B5EF4-FFF2-40B4-BE49-F238E27FC236}">
                <a16:creationId xmlns:a16="http://schemas.microsoft.com/office/drawing/2014/main" id="{580E724F-061D-42AD-F621-64F2C0F768C5}"/>
              </a:ext>
            </a:extLst>
          </p:cNvPr>
          <p:cNvPicPr>
            <a:picLocks noChangeAspect="1"/>
          </p:cNvPicPr>
          <p:nvPr/>
        </p:nvPicPr>
        <p:blipFill>
          <a:blip r:embed="rId3"/>
          <a:stretch>
            <a:fillRect/>
          </a:stretch>
        </p:blipFill>
        <p:spPr>
          <a:xfrm>
            <a:off x="3739157" y="1900410"/>
            <a:ext cx="10177622" cy="7434951"/>
          </a:xfrm>
          <a:prstGeom prst="rect">
            <a:avLst/>
          </a:prstGeom>
        </p:spPr>
      </p:pic>
    </p:spTree>
    <p:extLst>
      <p:ext uri="{BB962C8B-B14F-4D97-AF65-F5344CB8AC3E}">
        <p14:creationId xmlns:p14="http://schemas.microsoft.com/office/powerpoint/2010/main" val="22941311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A04AD-D5EB-90DD-FA3B-6D90CC216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53401-F3C5-32A5-6527-E18CBF50A47F}"/>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PROC SURVEYFREQ ODS Output Objects</a:t>
            </a:r>
          </a:p>
        </p:txBody>
      </p:sp>
      <p:cxnSp>
        <p:nvCxnSpPr>
          <p:cNvPr id="10" name="Straight Connector 9">
            <a:extLst>
              <a:ext uri="{FF2B5EF4-FFF2-40B4-BE49-F238E27FC236}">
                <a16:creationId xmlns:a16="http://schemas.microsoft.com/office/drawing/2014/main" id="{5E1F269E-1C6D-80FF-B2FC-934AB2B3C6F0}"/>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26D8D060-DB1A-3752-2FD4-C4B6807B51E4}"/>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5" name="Picture 4">
            <a:extLst>
              <a:ext uri="{FF2B5EF4-FFF2-40B4-BE49-F238E27FC236}">
                <a16:creationId xmlns:a16="http://schemas.microsoft.com/office/drawing/2014/main" id="{50356631-A82B-B05B-747B-4E41D4F6BB58}"/>
              </a:ext>
            </a:extLst>
          </p:cNvPr>
          <p:cNvPicPr>
            <a:picLocks noChangeAspect="1"/>
          </p:cNvPicPr>
          <p:nvPr/>
        </p:nvPicPr>
        <p:blipFill>
          <a:blip r:embed="rId3"/>
          <a:stretch>
            <a:fillRect/>
          </a:stretch>
        </p:blipFill>
        <p:spPr>
          <a:xfrm>
            <a:off x="1166673" y="2258072"/>
            <a:ext cx="15954654" cy="6843110"/>
          </a:xfrm>
          <a:prstGeom prst="rect">
            <a:avLst/>
          </a:prstGeom>
        </p:spPr>
      </p:pic>
    </p:spTree>
    <p:extLst>
      <p:ext uri="{BB962C8B-B14F-4D97-AF65-F5344CB8AC3E}">
        <p14:creationId xmlns:p14="http://schemas.microsoft.com/office/powerpoint/2010/main" val="36766895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5C4DF-3D34-C86E-B1DE-F9DE709496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CDB7E3-DD1F-4D02-B33D-BF88EF53A35A}"/>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PROC SURVEYFREQ ODS Output Objects</a:t>
            </a:r>
          </a:p>
        </p:txBody>
      </p:sp>
      <p:cxnSp>
        <p:nvCxnSpPr>
          <p:cNvPr id="10" name="Straight Connector 9">
            <a:extLst>
              <a:ext uri="{FF2B5EF4-FFF2-40B4-BE49-F238E27FC236}">
                <a16:creationId xmlns:a16="http://schemas.microsoft.com/office/drawing/2014/main" id="{A5CCE06A-4F53-C984-061C-B8B34D4326D9}"/>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656C6F3D-3320-B066-08FD-60A5015C354D}"/>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6" name="Picture 5" descr="The image displays a SAS (Statistical Analysis System) script window with various SAS code lines, including macro definitions, data processing, and conditional statements.&#10;&#10;AI-generated content may be incorrect.">
            <a:extLst>
              <a:ext uri="{FF2B5EF4-FFF2-40B4-BE49-F238E27FC236}">
                <a16:creationId xmlns:a16="http://schemas.microsoft.com/office/drawing/2014/main" id="{C1D0626F-20F5-228D-688F-AB94B1E73345}"/>
              </a:ext>
            </a:extLst>
          </p:cNvPr>
          <p:cNvPicPr>
            <a:picLocks noChangeAspect="1"/>
          </p:cNvPicPr>
          <p:nvPr/>
        </p:nvPicPr>
        <p:blipFill>
          <a:blip r:embed="rId3"/>
          <a:srcRect l="19347" t="11723" r="27825" b="29404"/>
          <a:stretch>
            <a:fillRect/>
          </a:stretch>
        </p:blipFill>
        <p:spPr>
          <a:xfrm>
            <a:off x="3425992" y="1900410"/>
            <a:ext cx="11436016" cy="7487477"/>
          </a:xfrm>
          <a:prstGeom prst="rect">
            <a:avLst/>
          </a:prstGeom>
        </p:spPr>
      </p:pic>
    </p:spTree>
    <p:extLst>
      <p:ext uri="{BB962C8B-B14F-4D97-AF65-F5344CB8AC3E}">
        <p14:creationId xmlns:p14="http://schemas.microsoft.com/office/powerpoint/2010/main" val="23283952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EA229-F9B0-76D7-2180-C7EE1938C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288CAC-4A44-8EC4-86C0-31CD8F7C42E1}"/>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PROC SURVEYFREQ ODS Output Objects</a:t>
            </a:r>
          </a:p>
        </p:txBody>
      </p:sp>
      <p:cxnSp>
        <p:nvCxnSpPr>
          <p:cNvPr id="10" name="Straight Connector 9">
            <a:extLst>
              <a:ext uri="{FF2B5EF4-FFF2-40B4-BE49-F238E27FC236}">
                <a16:creationId xmlns:a16="http://schemas.microsoft.com/office/drawing/2014/main" id="{98C16972-E1DC-2FC6-4FC3-E51662D547C2}"/>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97F1F606-EB59-B01E-E05A-58A9A80AD453}"/>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5" name="Picture 4" descr="A screen shot of a computer code&#10;&#10;AI-generated content may be incorrect.">
            <a:extLst>
              <a:ext uri="{FF2B5EF4-FFF2-40B4-BE49-F238E27FC236}">
                <a16:creationId xmlns:a16="http://schemas.microsoft.com/office/drawing/2014/main" id="{EF7659D0-6D11-86F5-0EE2-B0EB3D0098CA}"/>
              </a:ext>
            </a:extLst>
          </p:cNvPr>
          <p:cNvPicPr>
            <a:picLocks noChangeAspect="1"/>
          </p:cNvPicPr>
          <p:nvPr/>
        </p:nvPicPr>
        <p:blipFill>
          <a:blip r:embed="rId3"/>
          <a:stretch>
            <a:fillRect/>
          </a:stretch>
        </p:blipFill>
        <p:spPr>
          <a:xfrm>
            <a:off x="1254718" y="2160424"/>
            <a:ext cx="15521966" cy="6652271"/>
          </a:xfrm>
          <a:prstGeom prst="rect">
            <a:avLst/>
          </a:prstGeom>
        </p:spPr>
      </p:pic>
    </p:spTree>
    <p:extLst>
      <p:ext uri="{BB962C8B-B14F-4D97-AF65-F5344CB8AC3E}">
        <p14:creationId xmlns:p14="http://schemas.microsoft.com/office/powerpoint/2010/main" val="21372087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DBDDC-A48B-F16B-2B0B-0F10DB207F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8951B5-1D9E-292B-2974-B59D558F588C}"/>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PROC SURVEYFREQ ODS Output Objects</a:t>
            </a:r>
          </a:p>
        </p:txBody>
      </p:sp>
      <p:cxnSp>
        <p:nvCxnSpPr>
          <p:cNvPr id="10" name="Straight Connector 9">
            <a:extLst>
              <a:ext uri="{FF2B5EF4-FFF2-40B4-BE49-F238E27FC236}">
                <a16:creationId xmlns:a16="http://schemas.microsoft.com/office/drawing/2014/main" id="{8249E3C5-9598-4A91-4A65-667E47D70C2A}"/>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E268899B-56AD-8CA6-C036-98E122EF805F}"/>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6" name="Picture 5" descr="A screenshot of a computer code&#10;&#10;AI-generated content may be incorrect.">
            <a:extLst>
              <a:ext uri="{FF2B5EF4-FFF2-40B4-BE49-F238E27FC236}">
                <a16:creationId xmlns:a16="http://schemas.microsoft.com/office/drawing/2014/main" id="{B5D28BB8-B6C9-068C-99CE-46E930A918D5}"/>
              </a:ext>
            </a:extLst>
          </p:cNvPr>
          <p:cNvPicPr>
            <a:picLocks noChangeAspect="1"/>
          </p:cNvPicPr>
          <p:nvPr/>
        </p:nvPicPr>
        <p:blipFill>
          <a:blip r:embed="rId3"/>
          <a:stretch>
            <a:fillRect/>
          </a:stretch>
        </p:blipFill>
        <p:spPr>
          <a:xfrm>
            <a:off x="3112265" y="2191180"/>
            <a:ext cx="12063470" cy="6592826"/>
          </a:xfrm>
          <a:prstGeom prst="rect">
            <a:avLst/>
          </a:prstGeom>
        </p:spPr>
      </p:pic>
    </p:spTree>
    <p:extLst>
      <p:ext uri="{BB962C8B-B14F-4D97-AF65-F5344CB8AC3E}">
        <p14:creationId xmlns:p14="http://schemas.microsoft.com/office/powerpoint/2010/main" val="29758133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670CB-88E4-0955-ED35-1310CA53B3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5B99B-DC93-7F46-3ED6-AE85EB212B11}"/>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PROC SURVEYFREQ ODS Output Objects</a:t>
            </a:r>
          </a:p>
        </p:txBody>
      </p:sp>
      <p:cxnSp>
        <p:nvCxnSpPr>
          <p:cNvPr id="10" name="Straight Connector 9">
            <a:extLst>
              <a:ext uri="{FF2B5EF4-FFF2-40B4-BE49-F238E27FC236}">
                <a16:creationId xmlns:a16="http://schemas.microsoft.com/office/drawing/2014/main" id="{3A3F848B-DC2D-D774-602C-64755096A487}"/>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E193CCEB-9A76-509B-E8FD-3F864322421A}"/>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8" name="Picture 7" descr="A screenshot of a computer&#10;&#10;AI-generated content may be incorrect.">
            <a:extLst>
              <a:ext uri="{FF2B5EF4-FFF2-40B4-BE49-F238E27FC236}">
                <a16:creationId xmlns:a16="http://schemas.microsoft.com/office/drawing/2014/main" id="{BA84C5E5-673A-38F8-6AF5-407C4221C1A7}"/>
              </a:ext>
            </a:extLst>
          </p:cNvPr>
          <p:cNvPicPr>
            <a:picLocks noChangeAspect="1"/>
          </p:cNvPicPr>
          <p:nvPr/>
        </p:nvPicPr>
        <p:blipFill>
          <a:blip r:embed="rId3"/>
          <a:stretch>
            <a:fillRect/>
          </a:stretch>
        </p:blipFill>
        <p:spPr>
          <a:xfrm>
            <a:off x="1470826" y="2289942"/>
            <a:ext cx="15346347" cy="5707116"/>
          </a:xfrm>
          <a:prstGeom prst="rect">
            <a:avLst/>
          </a:prstGeom>
        </p:spPr>
      </p:pic>
    </p:spTree>
    <p:extLst>
      <p:ext uri="{BB962C8B-B14F-4D97-AF65-F5344CB8AC3E}">
        <p14:creationId xmlns:p14="http://schemas.microsoft.com/office/powerpoint/2010/main" val="27687594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B24E3-9371-7DA7-B4CA-E47AF4BDA4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D706FF-F817-00A0-F228-4029AB9F77DD}"/>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PROC SURVEYFREQ ODS Output Objects</a:t>
            </a:r>
          </a:p>
        </p:txBody>
      </p:sp>
      <p:cxnSp>
        <p:nvCxnSpPr>
          <p:cNvPr id="10" name="Straight Connector 9">
            <a:extLst>
              <a:ext uri="{FF2B5EF4-FFF2-40B4-BE49-F238E27FC236}">
                <a16:creationId xmlns:a16="http://schemas.microsoft.com/office/drawing/2014/main" id="{C3D7A839-FBE4-F756-83CF-F63E6A74AA15}"/>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DA8C1BD3-4E0F-5C64-5F1F-B49C9AFF7179}"/>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pic>
        <p:nvPicPr>
          <p:cNvPr id="4" name="Picture 3" descr="A screenshot of a computer&#10;&#10;AI-generated content may be incorrect.">
            <a:extLst>
              <a:ext uri="{FF2B5EF4-FFF2-40B4-BE49-F238E27FC236}">
                <a16:creationId xmlns:a16="http://schemas.microsoft.com/office/drawing/2014/main" id="{C23682D2-77D5-34C5-87A3-13FB204F6355}"/>
              </a:ext>
            </a:extLst>
          </p:cNvPr>
          <p:cNvPicPr>
            <a:picLocks noChangeAspect="1"/>
          </p:cNvPicPr>
          <p:nvPr/>
        </p:nvPicPr>
        <p:blipFill>
          <a:blip r:embed="rId3"/>
          <a:stretch>
            <a:fillRect/>
          </a:stretch>
        </p:blipFill>
        <p:spPr>
          <a:xfrm>
            <a:off x="665438" y="3256661"/>
            <a:ext cx="16768409" cy="5384866"/>
          </a:xfrm>
          <a:prstGeom prst="rect">
            <a:avLst/>
          </a:prstGeom>
        </p:spPr>
      </p:pic>
      <p:sp>
        <p:nvSpPr>
          <p:cNvPr id="5" name="Arrow: Left 4">
            <a:extLst>
              <a:ext uri="{FF2B5EF4-FFF2-40B4-BE49-F238E27FC236}">
                <a16:creationId xmlns:a16="http://schemas.microsoft.com/office/drawing/2014/main" id="{13D792E3-8414-2F26-08BA-8D78CDF77EC9}"/>
              </a:ext>
            </a:extLst>
          </p:cNvPr>
          <p:cNvSpPr/>
          <p:nvPr/>
        </p:nvSpPr>
        <p:spPr>
          <a:xfrm rot="13269449">
            <a:off x="620956" y="2486590"/>
            <a:ext cx="2289954" cy="724590"/>
          </a:xfrm>
          <a:prstGeom prst="lef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lang="en-US" sz="2700" dirty="0">
              <a:solidFill>
                <a:prstClr val="white"/>
              </a:solidFill>
              <a:latin typeface="Calibri"/>
            </a:endParaRPr>
          </a:p>
        </p:txBody>
      </p:sp>
      <p:sp>
        <p:nvSpPr>
          <p:cNvPr id="7" name="Arrow: Left 6">
            <a:extLst>
              <a:ext uri="{FF2B5EF4-FFF2-40B4-BE49-F238E27FC236}">
                <a16:creationId xmlns:a16="http://schemas.microsoft.com/office/drawing/2014/main" id="{FEFEEEE7-A5C0-5808-98F2-BD7AEC4C4AD1}"/>
              </a:ext>
            </a:extLst>
          </p:cNvPr>
          <p:cNvSpPr/>
          <p:nvPr/>
        </p:nvSpPr>
        <p:spPr>
          <a:xfrm rot="13269449">
            <a:off x="8290569" y="3836926"/>
            <a:ext cx="2289954" cy="724590"/>
          </a:xfrm>
          <a:prstGeom prst="lef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lang="en-US" sz="2700" dirty="0">
              <a:solidFill>
                <a:prstClr val="white"/>
              </a:solidFill>
              <a:latin typeface="Calibri"/>
            </a:endParaRPr>
          </a:p>
        </p:txBody>
      </p:sp>
      <p:sp>
        <p:nvSpPr>
          <p:cNvPr id="9" name="Arrow: Left 8">
            <a:extLst>
              <a:ext uri="{FF2B5EF4-FFF2-40B4-BE49-F238E27FC236}">
                <a16:creationId xmlns:a16="http://schemas.microsoft.com/office/drawing/2014/main" id="{BDE3350B-72F3-FCE5-B1D0-4496C2FFB594}"/>
              </a:ext>
            </a:extLst>
          </p:cNvPr>
          <p:cNvSpPr/>
          <p:nvPr/>
        </p:nvSpPr>
        <p:spPr>
          <a:xfrm rot="13269449">
            <a:off x="13568833" y="3380707"/>
            <a:ext cx="2289954" cy="724590"/>
          </a:xfrm>
          <a:prstGeom prst="leftArrow">
            <a:avLst/>
          </a:prstGeom>
          <a:solidFill>
            <a:schemeClr val="accent5">
              <a:lumMod val="75000"/>
            </a:schemeClr>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lang="en-US" sz="2700" dirty="0">
              <a:solidFill>
                <a:prstClr val="white"/>
              </a:solidFill>
              <a:latin typeface="Calibri"/>
            </a:endParaRPr>
          </a:p>
        </p:txBody>
      </p:sp>
      <p:sp>
        <p:nvSpPr>
          <p:cNvPr id="12" name="Arrow: Left 11">
            <a:extLst>
              <a:ext uri="{FF2B5EF4-FFF2-40B4-BE49-F238E27FC236}">
                <a16:creationId xmlns:a16="http://schemas.microsoft.com/office/drawing/2014/main" id="{4BD9D230-83B1-5DA1-F665-CFD9546584C5}"/>
              </a:ext>
            </a:extLst>
          </p:cNvPr>
          <p:cNvSpPr/>
          <p:nvPr/>
        </p:nvSpPr>
        <p:spPr>
          <a:xfrm rot="13269449">
            <a:off x="4242141" y="2972209"/>
            <a:ext cx="2289954" cy="724590"/>
          </a:xfrm>
          <a:prstGeom prst="leftArrow">
            <a:avLst/>
          </a:prstGeom>
          <a:solidFill>
            <a:schemeClr val="accent5">
              <a:lumMod val="75000"/>
            </a:schemeClr>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lang="en-US" sz="2700" dirty="0">
              <a:solidFill>
                <a:prstClr val="white"/>
              </a:solidFill>
              <a:latin typeface="Calibri"/>
            </a:endParaRPr>
          </a:p>
        </p:txBody>
      </p:sp>
      <p:sp>
        <p:nvSpPr>
          <p:cNvPr id="13" name="TextBox 12">
            <a:extLst>
              <a:ext uri="{FF2B5EF4-FFF2-40B4-BE49-F238E27FC236}">
                <a16:creationId xmlns:a16="http://schemas.microsoft.com/office/drawing/2014/main" id="{BD479B03-EBC9-C72D-18F4-88C6914BB65D}"/>
              </a:ext>
            </a:extLst>
          </p:cNvPr>
          <p:cNvSpPr txBox="1"/>
          <p:nvPr/>
        </p:nvSpPr>
        <p:spPr>
          <a:xfrm rot="2444319">
            <a:off x="569706" y="2021553"/>
            <a:ext cx="2529393" cy="461665"/>
          </a:xfrm>
          <a:prstGeom prst="rect">
            <a:avLst/>
          </a:prstGeom>
          <a:noFill/>
        </p:spPr>
        <p:txBody>
          <a:bodyPr wrap="square" rtlCol="0">
            <a:spAutoFit/>
          </a:bodyPr>
          <a:lstStyle/>
          <a:p>
            <a:r>
              <a:rPr lang="en-US" sz="2400" dirty="0"/>
              <a:t>Embedded Titles</a:t>
            </a:r>
          </a:p>
        </p:txBody>
      </p:sp>
      <p:sp>
        <p:nvSpPr>
          <p:cNvPr id="15" name="TextBox 14">
            <a:extLst>
              <a:ext uri="{FF2B5EF4-FFF2-40B4-BE49-F238E27FC236}">
                <a16:creationId xmlns:a16="http://schemas.microsoft.com/office/drawing/2014/main" id="{AD7B09E6-A25E-0718-0A71-65E1AC7FA19D}"/>
              </a:ext>
            </a:extLst>
          </p:cNvPr>
          <p:cNvSpPr txBox="1"/>
          <p:nvPr/>
        </p:nvSpPr>
        <p:spPr>
          <a:xfrm rot="2444319">
            <a:off x="4114020" y="2485851"/>
            <a:ext cx="2529393" cy="461665"/>
          </a:xfrm>
          <a:prstGeom prst="rect">
            <a:avLst/>
          </a:prstGeom>
          <a:noFill/>
        </p:spPr>
        <p:txBody>
          <a:bodyPr wrap="square" rtlCol="0">
            <a:spAutoFit/>
          </a:bodyPr>
          <a:lstStyle/>
          <a:p>
            <a:r>
              <a:rPr lang="en-US" sz="2400" dirty="0"/>
              <a:t>Spannimg Headers</a:t>
            </a:r>
          </a:p>
        </p:txBody>
      </p:sp>
      <p:sp>
        <p:nvSpPr>
          <p:cNvPr id="16" name="TextBox 15">
            <a:extLst>
              <a:ext uri="{FF2B5EF4-FFF2-40B4-BE49-F238E27FC236}">
                <a16:creationId xmlns:a16="http://schemas.microsoft.com/office/drawing/2014/main" id="{73A9659C-8ED4-988E-BE84-234332F2AF58}"/>
              </a:ext>
            </a:extLst>
          </p:cNvPr>
          <p:cNvSpPr txBox="1"/>
          <p:nvPr/>
        </p:nvSpPr>
        <p:spPr>
          <a:xfrm rot="2444319">
            <a:off x="7750119" y="2839745"/>
            <a:ext cx="3021543" cy="1200329"/>
          </a:xfrm>
          <a:prstGeom prst="rect">
            <a:avLst/>
          </a:prstGeom>
          <a:noFill/>
        </p:spPr>
        <p:txBody>
          <a:bodyPr wrap="square" rtlCol="0">
            <a:spAutoFit/>
          </a:bodyPr>
          <a:lstStyle/>
          <a:p>
            <a:r>
              <a:rPr lang="en-US" sz="2400" dirty="0"/>
              <a:t>Non-Printing Variable</a:t>
            </a:r>
          </a:p>
          <a:p>
            <a:r>
              <a:rPr lang="en-US" sz="2400" dirty="0"/>
              <a:t> to color rows</a:t>
            </a:r>
          </a:p>
          <a:p>
            <a:endParaRPr lang="en-US" sz="2400" dirty="0"/>
          </a:p>
        </p:txBody>
      </p:sp>
      <p:sp>
        <p:nvSpPr>
          <p:cNvPr id="17" name="TextBox 16">
            <a:extLst>
              <a:ext uri="{FF2B5EF4-FFF2-40B4-BE49-F238E27FC236}">
                <a16:creationId xmlns:a16="http://schemas.microsoft.com/office/drawing/2014/main" id="{FA3D3CAA-15FB-C762-2F6F-F28B6247393C}"/>
              </a:ext>
            </a:extLst>
          </p:cNvPr>
          <p:cNvSpPr txBox="1"/>
          <p:nvPr/>
        </p:nvSpPr>
        <p:spPr>
          <a:xfrm rot="2444319">
            <a:off x="13920697" y="2572739"/>
            <a:ext cx="2791005" cy="1200329"/>
          </a:xfrm>
          <a:prstGeom prst="rect">
            <a:avLst/>
          </a:prstGeom>
          <a:noFill/>
        </p:spPr>
        <p:txBody>
          <a:bodyPr wrap="square" rtlCol="0">
            <a:spAutoFit/>
          </a:bodyPr>
          <a:lstStyle/>
          <a:p>
            <a:r>
              <a:rPr lang="en-US" sz="2400" dirty="0"/>
              <a:t>Define statement in PROC REPORT to Color Columns</a:t>
            </a:r>
          </a:p>
        </p:txBody>
      </p:sp>
    </p:spTree>
    <p:extLst>
      <p:ext uri="{BB962C8B-B14F-4D97-AF65-F5344CB8AC3E}">
        <p14:creationId xmlns:p14="http://schemas.microsoft.com/office/powerpoint/2010/main" val="301243125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a:extLst>
            <a:ext uri="{FF2B5EF4-FFF2-40B4-BE49-F238E27FC236}">
              <a16:creationId xmlns:a16="http://schemas.microsoft.com/office/drawing/2014/main" id="{9F91209B-F49E-C646-5955-0EE86572D5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500307-4D1A-B951-5107-B61906607BB2}"/>
              </a:ext>
            </a:extLst>
          </p:cNvPr>
          <p:cNvSpPr>
            <a:spLocks noGrp="1"/>
          </p:cNvSpPr>
          <p:nvPr>
            <p:ph type="title"/>
          </p:nvPr>
        </p:nvSpPr>
        <p:spPr>
          <a:xfrm>
            <a:off x="2971800" y="411957"/>
            <a:ext cx="12344400" cy="1488453"/>
          </a:xfrm>
        </p:spPr>
        <p:txBody>
          <a:bodyPr>
            <a:normAutofit/>
          </a:bodyPr>
          <a:lstStyle/>
          <a:p>
            <a:r>
              <a:rPr lang="en-US" sz="4800" dirty="0">
                <a:latin typeface="Special Elite" panose="02000506000000020004" pitchFamily="2" charset="0"/>
              </a:rPr>
              <a:t>Conclusion</a:t>
            </a:r>
          </a:p>
        </p:txBody>
      </p:sp>
      <p:cxnSp>
        <p:nvCxnSpPr>
          <p:cNvPr id="10" name="Straight Connector 9">
            <a:extLst>
              <a:ext uri="{FF2B5EF4-FFF2-40B4-BE49-F238E27FC236}">
                <a16:creationId xmlns:a16="http://schemas.microsoft.com/office/drawing/2014/main" id="{AE5A6547-AE94-9910-6F86-E55661CEA5EC}"/>
              </a:ext>
            </a:extLst>
          </p:cNvPr>
          <p:cNvCxnSpPr/>
          <p:nvPr/>
        </p:nvCxnSpPr>
        <p:spPr>
          <a:xfrm>
            <a:off x="3112265" y="1768208"/>
            <a:ext cx="12063470"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E4EFC227-AA2C-DE88-1A88-9FE2DA11AFCC}"/>
              </a:ext>
            </a:extLst>
          </p:cNvPr>
          <p:cNvSpPr txBox="1"/>
          <p:nvPr/>
        </p:nvSpPr>
        <p:spPr>
          <a:xfrm>
            <a:off x="13425617" y="9590002"/>
            <a:ext cx="2576384" cy="300082"/>
          </a:xfrm>
          <a:prstGeom prst="rect">
            <a:avLst/>
          </a:prstGeom>
          <a:noFill/>
        </p:spPr>
        <p:txBody>
          <a:bodyPr wrap="square" rtlCol="0">
            <a:spAutoFit/>
          </a:bodyPr>
          <a:lstStyle/>
          <a:p>
            <a:pPr defTabSz="685800"/>
            <a:r>
              <a:rPr lang="en-US" sz="1350" dirty="0">
                <a:solidFill>
                  <a:prstClr val="black"/>
                </a:solidFill>
                <a:latin typeface="Calibri"/>
              </a:rPr>
              <a:t>The </a:t>
            </a:r>
            <a:r>
              <a:rPr lang="en-US" sz="1350" i="1" dirty="0">
                <a:solidFill>
                  <a:prstClr val="black"/>
                </a:solidFill>
                <a:latin typeface="Calibri"/>
              </a:rPr>
              <a:t>Great</a:t>
            </a:r>
            <a:r>
              <a:rPr lang="en-US" sz="1350" dirty="0">
                <a:solidFill>
                  <a:prstClr val="black"/>
                </a:solidFill>
                <a:latin typeface="Calibri"/>
              </a:rPr>
              <a:t> Library of Alexandria</a:t>
            </a:r>
          </a:p>
        </p:txBody>
      </p:sp>
      <p:sp>
        <p:nvSpPr>
          <p:cNvPr id="4" name="TextBox 3">
            <a:extLst>
              <a:ext uri="{FF2B5EF4-FFF2-40B4-BE49-F238E27FC236}">
                <a16:creationId xmlns:a16="http://schemas.microsoft.com/office/drawing/2014/main" id="{7AF81672-3A6B-4C00-1F16-D67B0DADDFB6}"/>
              </a:ext>
            </a:extLst>
          </p:cNvPr>
          <p:cNvSpPr txBox="1"/>
          <p:nvPr/>
        </p:nvSpPr>
        <p:spPr>
          <a:xfrm>
            <a:off x="3112263" y="2132588"/>
            <a:ext cx="12063471" cy="6740307"/>
          </a:xfrm>
          <a:prstGeom prst="rect">
            <a:avLst/>
          </a:prstGeom>
          <a:noFill/>
        </p:spPr>
        <p:txBody>
          <a:bodyPr wrap="square" rtlCol="0">
            <a:spAutoFit/>
          </a:bodyPr>
          <a:lstStyle/>
          <a:p>
            <a:pPr defTabSz="685800"/>
            <a:r>
              <a:rPr lang="en-US" sz="4800" dirty="0">
                <a:solidFill>
                  <a:prstClr val="black"/>
                </a:solidFill>
                <a:latin typeface="Calibri"/>
                <a:cs typeface="Courier New" panose="02070309020205020404" pitchFamily="49" charset="0"/>
              </a:rPr>
              <a:t>I hope you will agree that SAS ODS Output Objects offer many opportunities to enhance and customize your SAS reporting, along with saving valuable time. The basic concepts surrounding the use of ODS Output Objects remain the same whether you are doing a complex weighted multivariate analysis or a simple PROC FREQ.  With ODS Output Objects, the sky is the limit! </a:t>
            </a:r>
            <a:endParaRPr lang="en-US" sz="4800" dirty="0">
              <a:solidFill>
                <a:prstClr val="black"/>
              </a:solidFill>
              <a:latin typeface="Calibri"/>
            </a:endParaRPr>
          </a:p>
        </p:txBody>
      </p:sp>
    </p:spTree>
    <p:extLst>
      <p:ext uri="{BB962C8B-B14F-4D97-AF65-F5344CB8AC3E}">
        <p14:creationId xmlns:p14="http://schemas.microsoft.com/office/powerpoint/2010/main" val="23073352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57000"/>
            <a:lum/>
          </a:blip>
          <a:srcRect/>
          <a:stretch>
            <a:fillRect t="-14000" b="-14000"/>
          </a:stretch>
        </a:blipFill>
        <a:effectLst/>
      </p:bgPr>
    </p:bg>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3A76A5E8-9BE2-CCBB-3830-EA2B12D3B52C}"/>
              </a:ext>
            </a:extLst>
          </p:cNvPr>
          <p:cNvSpPr>
            <a:spLocks noGrp="1"/>
          </p:cNvSpPr>
          <p:nvPr>
            <p:ph type="title"/>
          </p:nvPr>
        </p:nvSpPr>
        <p:spPr>
          <a:xfrm>
            <a:off x="1199423" y="2000289"/>
            <a:ext cx="13063133" cy="4616648"/>
          </a:xfrm>
        </p:spPr>
        <p:txBody>
          <a:bodyPr/>
          <a:lstStyle/>
          <a:p>
            <a:r>
              <a:rPr lang="en-US" dirty="0">
                <a:solidFill>
                  <a:schemeClr val="tx1"/>
                </a:solidFill>
              </a:rPr>
              <a:t>Contact me at:</a:t>
            </a:r>
            <a:br>
              <a:rPr lang="en-US" dirty="0">
                <a:solidFill>
                  <a:schemeClr val="tx1"/>
                </a:solidFill>
              </a:rPr>
            </a:br>
            <a:r>
              <a:rPr lang="en-US" dirty="0">
                <a:solidFill>
                  <a:schemeClr val="tx1"/>
                </a:solidFill>
                <a:hlinkClick r:id="rId4">
                  <a:extLst>
                    <a:ext uri="{A12FA001-AC4F-418D-AE19-62706E023703}">
                      <ahyp:hlinkClr xmlns:ahyp="http://schemas.microsoft.com/office/drawing/2018/hyperlinkcolor" val="tx"/>
                    </a:ext>
                  </a:extLst>
                </a:hlinkClick>
              </a:rPr>
              <a:t>saslouisehadden@gmail.com</a:t>
            </a:r>
            <a:br>
              <a:rPr lang="en-US" dirty="0">
                <a:solidFill>
                  <a:schemeClr val="tx1"/>
                </a:solidFill>
              </a:rPr>
            </a:br>
            <a:r>
              <a:rPr lang="en-US" dirty="0">
                <a:solidFill>
                  <a:schemeClr val="tx1"/>
                </a:solidFill>
              </a:rPr>
              <a:t>Paper, Training Programs, and Presentation available</a:t>
            </a:r>
          </a:p>
        </p:txBody>
      </p:sp>
      <p:sp>
        <p:nvSpPr>
          <p:cNvPr id="5" name="Text Placeholder 6">
            <a:extLst>
              <a:ext uri="{FF2B5EF4-FFF2-40B4-BE49-F238E27FC236}">
                <a16:creationId xmlns:a16="http://schemas.microsoft.com/office/drawing/2014/main" id="{A6D3DA4B-FFEA-972A-D316-E4036E649456}"/>
              </a:ext>
            </a:extLst>
          </p:cNvPr>
          <p:cNvSpPr>
            <a:spLocks noGrp="1"/>
          </p:cNvSpPr>
          <p:nvPr>
            <p:ph type="body" sz="quarter" idx="11"/>
          </p:nvPr>
        </p:nvSpPr>
        <p:spPr>
          <a:xfrm>
            <a:off x="1199423" y="7442090"/>
            <a:ext cx="15180264" cy="1057522"/>
          </a:xfrm>
        </p:spPr>
        <p:txBody>
          <a:bodyPr/>
          <a:lstStyle/>
          <a:p>
            <a:r>
              <a:rPr lang="en-US" sz="6000" b="1" dirty="0">
                <a:solidFill>
                  <a:schemeClr val="tx1"/>
                </a:solidFill>
                <a:latin typeface="Calibri" panose="020F0502020204030204" pitchFamily="34" charset="0"/>
                <a:cs typeface="Calibri" panose="020F0502020204030204" pitchFamily="34" charset="0"/>
              </a:rPr>
              <a:t>https://github.com/TheGirlWiththeSASTattoo</a:t>
            </a:r>
            <a:endParaRPr lang="en-US" sz="6000" dirty="0">
              <a:solidFill>
                <a:schemeClr val="tx1"/>
              </a:solidFill>
            </a:endParaRPr>
          </a:p>
        </p:txBody>
      </p:sp>
    </p:spTree>
    <p:extLst>
      <p:ext uri="{BB962C8B-B14F-4D97-AF65-F5344CB8AC3E}">
        <p14:creationId xmlns:p14="http://schemas.microsoft.com/office/powerpoint/2010/main" val="321629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1_2020-TEMPLATE-EXTERNAL" val="pdtUH84H"/>
  <p:tag name="ARTICULATE_DESIGN_ID_SAS-EXTERNAL-16X9-2023" val="CJxW6PTk"/>
  <p:tag name="ARTICULATE_DESIGN_ID_1_NDA" val="5KPCLKMf"/>
  <p:tag name="ARTICULATE_DESIGN_ID_1_SAS-EXTERNAL-16X9-2023" val="OvZPFYIY"/>
  <p:tag name="ARTICULATE_DESIGN_ID_SAS - EXTERNAL - 16X9 - 2023" val="iju6vBOG"/>
  <p:tag name="ARTICULATE_DESIGN_ID_SAS - EXTERNAL" val="IZ9bNYet"/>
  <p:tag name="ARTICULATE_DESIGN_ID_SAS - EXTERNAL - NDA" val="RR4fBfJW"/>
  <p:tag name="ARTICULATE_SLIDE_THUMBNAIL_REFRESH" val="1"/>
  <p:tag name="ARTICULATE_DESIGN_ID_CUSTOM DESIGN" val="WASRYxhz"/>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AS - EXTERNAL">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smtClean="0">
            <a:solidFill>
              <a:schemeClr val="tx1"/>
            </a:solidFill>
          </a:defRPr>
        </a:defPPr>
      </a:lstStyle>
    </a:txDef>
  </a:objectDefaults>
  <a:extraClrSchemeLst/>
  <a:extLst>
    <a:ext uri="{05A4C25C-085E-4340-85A3-A5531E510DB2}">
      <thm15:themeFamily xmlns:thm15="http://schemas.microsoft.com/office/thememl/2012/main" name="2025_Innovate_InternalUse_PowerPoint.potx" id="{8CCBECEE-D770-487F-A0BF-642EB7DEFC0D}" vid="{9DE6A0F2-A504-4A0D-9C9E-D201064AD5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52B48C136D414EB12EC6609A2B4A69" ma:contentTypeVersion="6" ma:contentTypeDescription="Create a new document." ma:contentTypeScope="" ma:versionID="f2b27b677c6d8d236b5d91187b1cdfab">
  <xsd:schema xmlns:xsd="http://www.w3.org/2001/XMLSchema" xmlns:xs="http://www.w3.org/2001/XMLSchema" xmlns:p="http://schemas.microsoft.com/office/2006/metadata/properties" xmlns:ns2="d21cdafc-5a3a-425e-9674-4fb06b514c0e" xmlns:ns3="6e647c50-2143-4825-9865-d236e7692e65" targetNamespace="http://schemas.microsoft.com/office/2006/metadata/properties" ma:root="true" ma:fieldsID="f2664aa32d126cb28ccb51a731b1082d" ns2:_="" ns3:_="">
    <xsd:import namespace="d21cdafc-5a3a-425e-9674-4fb06b514c0e"/>
    <xsd:import namespace="6e647c50-2143-4825-9865-d236e7692e6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1cdafc-5a3a-425e-9674-4fb06b514c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e647c50-2143-4825-9865-d236e7692e6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1C782C2-0474-4F15-93E6-A9AF7844CE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1cdafc-5a3a-425e-9674-4fb06b514c0e"/>
    <ds:schemaRef ds:uri="6e647c50-2143-4825-9865-d236e7692e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E925E4-5239-4639-A029-07B3CFD6A3F1}">
  <ds:schemaRefs>
    <ds:schemaRef ds:uri="http://schemas.microsoft.com/sharepoint/v3/contenttype/forms"/>
  </ds:schemaRefs>
</ds:datastoreItem>
</file>

<file path=customXml/itemProps3.xml><?xml version="1.0" encoding="utf-8"?>
<ds:datastoreItem xmlns:ds="http://schemas.openxmlformats.org/officeDocument/2006/customXml" ds:itemID="{E2663518-7548-4643-8219-608BFF0DFA0C}">
  <ds:schemaRefs>
    <ds:schemaRef ds:uri="http://schemas.microsoft.com/office/2006/documentManagement/types"/>
    <ds:schemaRef ds:uri="http://schemas.microsoft.com/office/2006/metadata/properties"/>
    <ds:schemaRef ds:uri="d21cdafc-5a3a-425e-9674-4fb06b514c0e"/>
    <ds:schemaRef ds:uri="http://schemas.microsoft.com/office/infopath/2007/PartnerControls"/>
    <ds:schemaRef ds:uri="http://purl.org/dc/dcmitype/"/>
    <ds:schemaRef ds:uri="http://purl.org/dc/elements/1.1/"/>
    <ds:schemaRef ds:uri="6e647c50-2143-4825-9865-d236e7692e65"/>
    <ds:schemaRef ds:uri="http://purl.org/dc/term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2025_Innovate_InternalUse_PowerPoint</Template>
  <TotalTime>2908</TotalTime>
  <Words>5010</Words>
  <Application>Microsoft Office PowerPoint</Application>
  <PresentationFormat>Custom</PresentationFormat>
  <Paragraphs>415</Paragraphs>
  <Slides>63</Slides>
  <Notes>63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63</vt:i4>
      </vt:variant>
    </vt:vector>
  </HeadingPairs>
  <TitlesOfParts>
    <vt:vector size="72" baseType="lpstr">
      <vt:lpstr>Arial</vt:lpstr>
      <vt:lpstr>Special Elite</vt:lpstr>
      <vt:lpstr>Anova Light</vt:lpstr>
      <vt:lpstr>Calibri</vt:lpstr>
      <vt:lpstr>Aptos</vt:lpstr>
      <vt:lpstr>Courier New</vt:lpstr>
      <vt:lpstr>Anova Bold</vt:lpstr>
      <vt:lpstr>SAS - EXTERNAL</vt:lpstr>
      <vt:lpstr>Office Theme</vt:lpstr>
      <vt:lpstr>The (ODS) Output of Your Desires:</vt:lpstr>
      <vt:lpstr>Author Biography</vt:lpstr>
      <vt:lpstr>Introduction</vt:lpstr>
      <vt:lpstr>Session Agenda</vt:lpstr>
      <vt:lpstr>PowerPoint Presentation</vt:lpstr>
      <vt:lpstr>Creating a Test SAS Data Set</vt:lpstr>
      <vt:lpstr>Creating a Test SAS Data Set</vt:lpstr>
      <vt:lpstr>Creating a Test SAS Data Set</vt:lpstr>
      <vt:lpstr>Creating a Test SAS Data Set</vt:lpstr>
      <vt:lpstr>Creating a Test SAS Data Set</vt:lpstr>
      <vt:lpstr>Creating a Test SAS Data Set</vt:lpstr>
      <vt:lpstr>PowerPoint Presentation</vt:lpstr>
      <vt:lpstr>How to train your ODS Output Objects</vt:lpstr>
      <vt:lpstr>How to train your ODS Output Objects</vt:lpstr>
      <vt:lpstr>How to train your ODS Output Objects</vt:lpstr>
      <vt:lpstr>How to train your ODS Output Objects</vt:lpstr>
      <vt:lpstr>How to train your ODS Output Objects</vt:lpstr>
      <vt:lpstr>How to train your ODS Output Objects</vt:lpstr>
      <vt:lpstr>How to train your ODS Output Objects</vt:lpstr>
      <vt:lpstr>How to train your ODS Output Objects</vt:lpstr>
      <vt:lpstr>How to train your ODS Output Objects</vt:lpstr>
      <vt:lpstr>How to train your ODS Output Objects</vt:lpstr>
      <vt:lpstr>How to train your ODS Output Objects</vt:lpstr>
      <vt:lpstr>How to train your ODS Output Objects</vt:lpstr>
      <vt:lpstr>How to train your ODS Output Objects</vt:lpstr>
      <vt:lpstr>How to train your ODS Output Objects</vt:lpstr>
      <vt:lpstr>How to train your ODS Output Objects</vt:lpstr>
      <vt:lpstr>How to train your ODS Output Objects</vt:lpstr>
      <vt:lpstr>How to train your ODS Output Objects</vt:lpstr>
      <vt:lpstr>PowerPoint Presentation</vt:lpstr>
      <vt:lpstr>ODS SELECT, SHOW</vt:lpstr>
      <vt:lpstr>ODS EXCLUDE, SHOW</vt:lpstr>
      <vt:lpstr>PowerPoint Presentation</vt:lpstr>
      <vt:lpstr>Harvesting ODS Output Objects</vt:lpstr>
      <vt:lpstr>Harvesting ODS Output Objects</vt:lpstr>
      <vt:lpstr>Harvesting ODS Output Objects</vt:lpstr>
      <vt:lpstr>Harvesting ODS Output Objects</vt:lpstr>
      <vt:lpstr>Harvesting ODS Output Objects</vt:lpstr>
      <vt:lpstr>PowerPoint Presentation</vt:lpstr>
      <vt:lpstr>PROC UNIVARIATE ODS Output Objects</vt:lpstr>
      <vt:lpstr>PROC UNIVARIATE ODS Output Objects</vt:lpstr>
      <vt:lpstr>PROC UNIVARIATE ODS Output Objects</vt:lpstr>
      <vt:lpstr>ODS Output Use Case:  PROC SURVEYFREQ</vt:lpstr>
      <vt:lpstr>PROC SURVEYFREQ ODS Output Objects</vt:lpstr>
      <vt:lpstr>PROC SURVEYFREQ ODS Output Objects</vt:lpstr>
      <vt:lpstr>PROC SURVEYFREQ ODS Output Objects</vt:lpstr>
      <vt:lpstr>PROC SURVEYFREQ ODS Output Objects</vt:lpstr>
      <vt:lpstr>PROC SURVEYFREQ ODS Output Objects</vt:lpstr>
      <vt:lpstr>PROC SURVEYFREQ ODS Output Objects</vt:lpstr>
      <vt:lpstr>PROC SURVEYFREQ ODS Output Objects</vt:lpstr>
      <vt:lpstr>PROC SURVEYFREQ ODS Output Objects</vt:lpstr>
      <vt:lpstr>PROC SURVEYFREQ ODS Output Objects</vt:lpstr>
      <vt:lpstr>PROC SURVEYFREQ ODS Output Objects</vt:lpstr>
      <vt:lpstr>PROC SURVEYFREQ ODS Output Objects</vt:lpstr>
      <vt:lpstr>PROC SURVEYFREQ ODS Output Objects</vt:lpstr>
      <vt:lpstr>PROC SURVEYFREQ ODS Output Objects</vt:lpstr>
      <vt:lpstr>PROC SURVEYFREQ ODS Output Objects</vt:lpstr>
      <vt:lpstr>PROC SURVEYFREQ ODS Output Objects</vt:lpstr>
      <vt:lpstr>PROC SURVEYFREQ ODS Output Objects</vt:lpstr>
      <vt:lpstr>PROC SURVEYFREQ ODS Output Objects</vt:lpstr>
      <vt:lpstr>PROC SURVEYFREQ ODS Output Objects</vt:lpstr>
      <vt:lpstr>Conclusion</vt:lpstr>
      <vt:lpstr>Contact me at: saslouisehadden@gmail.com Paper, Training Programs, and Presentation available</vt:lpstr>
    </vt:vector>
  </TitlesOfParts>
  <Manager>SAS</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(ODS) Output of Your Desires: a Tool-kit for Creating Designer Reports and Data Sets</dc:title>
  <dc:creator>Louise S Hadden</dc:creator>
  <cp:keywords>SAS, ODS, ODS Output, ODS Trace, Reporting, Reproducibility</cp:keywords>
  <cp:lastModifiedBy>Louise Hadden</cp:lastModifiedBy>
  <cp:revision>5</cp:revision>
  <dcterms:created xsi:type="dcterms:W3CDTF">2024-09-12T18:37:43Z</dcterms:created>
  <dcterms:modified xsi:type="dcterms:W3CDTF">2026-08-29T17:31:27Z</dcterms:modified>
  <cp:category>SAs Innovate 2026</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451006F2-8E20-4D4E-B05C-4B5D02827FD6</vt:lpwstr>
  </property>
  <property fmtid="{D5CDD505-2E9C-101B-9397-08002B2CF9AE}" pid="3" name="ArticulatePath">
    <vt:lpwstr>2020-Template-External</vt:lpwstr>
  </property>
  <property fmtid="{D5CDD505-2E9C-101B-9397-08002B2CF9AE}" pid="4" name="ContentTypeId">
    <vt:lpwstr>0x0101008252B48C136D414EB12EC6609A2B4A69</vt:lpwstr>
  </property>
</Properties>
</file>